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43891200" cy="32918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4F78"/>
    <a:srgbClr val="54A3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848"/>
    <p:restoredTop sz="96327"/>
  </p:normalViewPr>
  <p:slideViewPr>
    <p:cSldViewPr snapToGrid="0" snapToObjects="1">
      <p:cViewPr>
        <p:scale>
          <a:sx n="25" d="100"/>
          <a:sy n="25" d="100"/>
        </p:scale>
        <p:origin x="216" y="-14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1840" y="5387342"/>
            <a:ext cx="37307520" cy="11460480"/>
          </a:xfrm>
        </p:spPr>
        <p:txBody>
          <a:bodyPr anchor="b"/>
          <a:lstStyle>
            <a:lvl1pPr algn="ctr"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0" y="17289782"/>
            <a:ext cx="32918400" cy="7947658"/>
          </a:xfrm>
        </p:spPr>
        <p:txBody>
          <a:bodyPr/>
          <a:lstStyle>
            <a:lvl1pPr marL="0" indent="0" algn="ctr">
              <a:buNone/>
              <a:defRPr sz="11520"/>
            </a:lvl1pPr>
            <a:lvl2pPr marL="2194560" indent="0" algn="ctr">
              <a:buNone/>
              <a:defRPr sz="9600"/>
            </a:lvl2pPr>
            <a:lvl3pPr marL="4389120" indent="0" algn="ctr">
              <a:buNone/>
              <a:defRPr sz="8640"/>
            </a:lvl3pPr>
            <a:lvl4pPr marL="6583680" indent="0" algn="ctr">
              <a:buNone/>
              <a:defRPr sz="7680"/>
            </a:lvl4pPr>
            <a:lvl5pPr marL="8778240" indent="0" algn="ctr">
              <a:buNone/>
              <a:defRPr sz="7680"/>
            </a:lvl5pPr>
            <a:lvl6pPr marL="10972800" indent="0" algn="ctr">
              <a:buNone/>
              <a:defRPr sz="7680"/>
            </a:lvl6pPr>
            <a:lvl7pPr marL="13167360" indent="0" algn="ctr">
              <a:buNone/>
              <a:defRPr sz="7680"/>
            </a:lvl7pPr>
            <a:lvl8pPr marL="15361920" indent="0" algn="ctr">
              <a:buNone/>
              <a:defRPr sz="7680"/>
            </a:lvl8pPr>
            <a:lvl9pPr marL="17556480" indent="0" algn="ctr">
              <a:buNone/>
              <a:defRPr sz="76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8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4662" y="8206749"/>
            <a:ext cx="37856160" cy="13693138"/>
          </a:xfrm>
        </p:spPr>
        <p:txBody>
          <a:bodyPr anchor="b"/>
          <a:lstStyle>
            <a:lvl1pPr>
              <a:defRPr sz="28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94662" y="22029429"/>
            <a:ext cx="37856160" cy="7200898"/>
          </a:xfrm>
        </p:spPr>
        <p:txBody>
          <a:bodyPr/>
          <a:lstStyle>
            <a:lvl1pPr marL="0" indent="0">
              <a:buNone/>
              <a:defRPr sz="11520">
                <a:solidFill>
                  <a:schemeClr val="tx1"/>
                </a:solidFill>
              </a:defRPr>
            </a:lvl1pPr>
            <a:lvl2pPr marL="2194560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2pPr>
            <a:lvl3pPr marL="4389120" indent="0">
              <a:buNone/>
              <a:defRPr sz="8640">
                <a:solidFill>
                  <a:schemeClr val="tx1">
                    <a:tint val="75000"/>
                  </a:schemeClr>
                </a:solidFill>
              </a:defRPr>
            </a:lvl3pPr>
            <a:lvl4pPr marL="65836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4pPr>
            <a:lvl5pPr marL="877824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5pPr>
            <a:lvl6pPr marL="1097280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6pPr>
            <a:lvl7pPr marL="1316736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7pPr>
            <a:lvl8pPr marL="1536192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8pPr>
            <a:lvl9pPr marL="17556480" indent="0">
              <a:buNone/>
              <a:defRPr sz="7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92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175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219920" y="8763000"/>
            <a:ext cx="18653760" cy="208864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9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1752607"/>
            <a:ext cx="37856160" cy="6362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3242" y="8069582"/>
            <a:ext cx="18568032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23242" y="12024360"/>
            <a:ext cx="18568032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19922" y="8069582"/>
            <a:ext cx="18659477" cy="3954778"/>
          </a:xfrm>
        </p:spPr>
        <p:txBody>
          <a:bodyPr anchor="b"/>
          <a:lstStyle>
            <a:lvl1pPr marL="0" indent="0">
              <a:buNone/>
              <a:defRPr sz="11520" b="1"/>
            </a:lvl1pPr>
            <a:lvl2pPr marL="2194560" indent="0">
              <a:buNone/>
              <a:defRPr sz="9600" b="1"/>
            </a:lvl2pPr>
            <a:lvl3pPr marL="4389120" indent="0">
              <a:buNone/>
              <a:defRPr sz="8640" b="1"/>
            </a:lvl3pPr>
            <a:lvl4pPr marL="6583680" indent="0">
              <a:buNone/>
              <a:defRPr sz="7680" b="1"/>
            </a:lvl4pPr>
            <a:lvl5pPr marL="8778240" indent="0">
              <a:buNone/>
              <a:defRPr sz="7680" b="1"/>
            </a:lvl5pPr>
            <a:lvl6pPr marL="10972800" indent="0">
              <a:buNone/>
              <a:defRPr sz="7680" b="1"/>
            </a:lvl6pPr>
            <a:lvl7pPr marL="13167360" indent="0">
              <a:buNone/>
              <a:defRPr sz="7680" b="1"/>
            </a:lvl7pPr>
            <a:lvl8pPr marL="15361920" indent="0">
              <a:buNone/>
              <a:defRPr sz="7680" b="1"/>
            </a:lvl8pPr>
            <a:lvl9pPr marL="17556480" indent="0">
              <a:buNone/>
              <a:defRPr sz="76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19922" y="12024360"/>
            <a:ext cx="18659477" cy="176860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682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116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496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59477" y="4739647"/>
            <a:ext cx="22219920" cy="23393400"/>
          </a:xfrm>
        </p:spPr>
        <p:txBody>
          <a:bodyPr/>
          <a:lstStyle>
            <a:lvl1pPr>
              <a:defRPr sz="15360"/>
            </a:lvl1pPr>
            <a:lvl2pPr>
              <a:defRPr sz="13440"/>
            </a:lvl2pPr>
            <a:lvl3pPr>
              <a:defRPr sz="1152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399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3237" y="2194560"/>
            <a:ext cx="14156054" cy="7680960"/>
          </a:xfrm>
        </p:spPr>
        <p:txBody>
          <a:bodyPr anchor="b"/>
          <a:lstStyle>
            <a:lvl1pPr>
              <a:defRPr sz="153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8659477" y="4739647"/>
            <a:ext cx="22219920" cy="23393400"/>
          </a:xfrm>
        </p:spPr>
        <p:txBody>
          <a:bodyPr anchor="t"/>
          <a:lstStyle>
            <a:lvl1pPr marL="0" indent="0">
              <a:buNone/>
              <a:defRPr sz="15360"/>
            </a:lvl1pPr>
            <a:lvl2pPr marL="2194560" indent="0">
              <a:buNone/>
              <a:defRPr sz="13440"/>
            </a:lvl2pPr>
            <a:lvl3pPr marL="4389120" indent="0">
              <a:buNone/>
              <a:defRPr sz="11520"/>
            </a:lvl3pPr>
            <a:lvl4pPr marL="6583680" indent="0">
              <a:buNone/>
              <a:defRPr sz="9600"/>
            </a:lvl4pPr>
            <a:lvl5pPr marL="8778240" indent="0">
              <a:buNone/>
              <a:defRPr sz="9600"/>
            </a:lvl5pPr>
            <a:lvl6pPr marL="10972800" indent="0">
              <a:buNone/>
              <a:defRPr sz="9600"/>
            </a:lvl6pPr>
            <a:lvl7pPr marL="13167360" indent="0">
              <a:buNone/>
              <a:defRPr sz="9600"/>
            </a:lvl7pPr>
            <a:lvl8pPr marL="15361920" indent="0">
              <a:buNone/>
              <a:defRPr sz="9600"/>
            </a:lvl8pPr>
            <a:lvl9pPr marL="17556480" indent="0">
              <a:buNone/>
              <a:defRPr sz="9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23237" y="9875520"/>
            <a:ext cx="14156054" cy="18295622"/>
          </a:xfrm>
        </p:spPr>
        <p:txBody>
          <a:bodyPr/>
          <a:lstStyle>
            <a:lvl1pPr marL="0" indent="0">
              <a:buNone/>
              <a:defRPr sz="7680"/>
            </a:lvl1pPr>
            <a:lvl2pPr marL="2194560" indent="0">
              <a:buNone/>
              <a:defRPr sz="6720"/>
            </a:lvl2pPr>
            <a:lvl3pPr marL="4389120" indent="0">
              <a:buNone/>
              <a:defRPr sz="5760"/>
            </a:lvl3pPr>
            <a:lvl4pPr marL="6583680" indent="0">
              <a:buNone/>
              <a:defRPr sz="4800"/>
            </a:lvl4pPr>
            <a:lvl5pPr marL="8778240" indent="0">
              <a:buNone/>
              <a:defRPr sz="4800"/>
            </a:lvl5pPr>
            <a:lvl6pPr marL="10972800" indent="0">
              <a:buNone/>
              <a:defRPr sz="4800"/>
            </a:lvl6pPr>
            <a:lvl7pPr marL="13167360" indent="0">
              <a:buNone/>
              <a:defRPr sz="4800"/>
            </a:lvl7pPr>
            <a:lvl8pPr marL="15361920" indent="0">
              <a:buNone/>
              <a:defRPr sz="4800"/>
            </a:lvl8pPr>
            <a:lvl9pPr marL="17556480" indent="0">
              <a:buNone/>
              <a:defRPr sz="4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246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64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409642" y="1752600"/>
            <a:ext cx="9464040" cy="2789682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17522" y="1752600"/>
            <a:ext cx="27843480" cy="2789682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513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4C3D8-F549-7F4C-9248-E02689EEC6A2}" type="datetimeFigureOut">
              <a:rPr lang="en-US" smtClean="0"/>
              <a:t>4/19/2024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7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B40D55-A40B-EC46-829B-EE330DC6B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779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389120" rtl="0" eaLnBrk="1" latinLnBrk="0" hangingPunct="1">
        <a:lnSpc>
          <a:spcPct val="90000"/>
        </a:lnSpc>
        <a:spcBef>
          <a:spcPct val="0"/>
        </a:spcBef>
        <a:buNone/>
        <a:defRPr sz="211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97280" indent="-1097280" algn="l" defTabSz="4389120" rtl="0" eaLnBrk="1" latinLnBrk="0" hangingPunct="1">
        <a:lnSpc>
          <a:spcPct val="90000"/>
        </a:lnSpc>
        <a:spcBef>
          <a:spcPts val="480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1pPr>
      <a:lvl2pPr marL="32918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1152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96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987552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64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645920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760" indent="-1097280" algn="l" defTabSz="4389120" rtl="0" eaLnBrk="1" latinLnBrk="0" hangingPunct="1">
        <a:lnSpc>
          <a:spcPct val="90000"/>
        </a:lnSpc>
        <a:spcBef>
          <a:spcPts val="2400"/>
        </a:spcBef>
        <a:buFont typeface="Arial" panose="020B0604020202020204" pitchFamily="34" charset="0"/>
        <a:buChar char="•"/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2pPr>
      <a:lvl3pPr marL="43891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3pPr>
      <a:lvl4pPr marL="65836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4pPr>
      <a:lvl5pPr marL="877824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36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92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480" algn="l" defTabSz="4389120" rtl="0" eaLnBrk="1" latinLnBrk="0" hangingPunct="1">
        <a:defRPr sz="8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kitosea.pacificmultisports.com/events/101/results/leg/1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D155C5-2034-3813-CB8F-D1033850D3A9}"/>
              </a:ext>
            </a:extLst>
          </p:cNvPr>
          <p:cNvSpPr/>
          <p:nvPr/>
        </p:nvSpPr>
        <p:spPr>
          <a:xfrm>
            <a:off x="1005840" y="7148240"/>
            <a:ext cx="41831028" cy="236162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70BEA6F-B3BC-EC44-A1DB-AE494C2F561C}"/>
              </a:ext>
            </a:extLst>
          </p:cNvPr>
          <p:cNvGrpSpPr/>
          <p:nvPr/>
        </p:nvGrpSpPr>
        <p:grpSpPr>
          <a:xfrm>
            <a:off x="0" y="0"/>
            <a:ext cx="52177950" cy="6533048"/>
            <a:chOff x="0" y="0"/>
            <a:chExt cx="52177950" cy="6533048"/>
          </a:xfrm>
        </p:grpSpPr>
        <p:sp>
          <p:nvSpPr>
            <p:cNvPr id="4" name="Rectangle 27">
              <a:extLst>
                <a:ext uri="{FF2B5EF4-FFF2-40B4-BE49-F238E27FC236}">
                  <a16:creationId xmlns:a16="http://schemas.microsoft.com/office/drawing/2014/main" id="{AE7E2FBE-3859-5A44-B537-A04C2D7036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43891200" cy="6533048"/>
            </a:xfrm>
            <a:prstGeom prst="rect">
              <a:avLst/>
            </a:prstGeom>
            <a:gradFill>
              <a:gsLst>
                <a:gs pos="5000">
                  <a:srgbClr val="235078"/>
                </a:gs>
                <a:gs pos="100000">
                  <a:srgbClr val="1482A5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defPPr>
                <a:defRPr kern="1200"/>
              </a:defPPr>
            </a:lstStyle>
            <a:p>
              <a:endParaRPr lang="en-US" b="1" dirty="0"/>
            </a:p>
          </p:txBody>
        </p:sp>
        <p:sp>
          <p:nvSpPr>
            <p:cNvPr id="5" name="Title 11">
              <a:extLst>
                <a:ext uri="{FF2B5EF4-FFF2-40B4-BE49-F238E27FC236}">
                  <a16:creationId xmlns:a16="http://schemas.microsoft.com/office/drawing/2014/main" id="{4034E984-A65D-6B4A-9D1E-1793E6EA5580}"/>
                </a:ext>
              </a:extLst>
            </p:cNvPr>
            <p:cNvSpPr txBox="1"/>
            <p:nvPr/>
          </p:nvSpPr>
          <p:spPr>
            <a:xfrm>
              <a:off x="1005840" y="1010250"/>
              <a:ext cx="51172110" cy="2250017"/>
            </a:xfrm>
            <a:prstGeom prst="rect">
              <a:avLst/>
            </a:prstGeom>
          </p:spPr>
          <p:txBody>
            <a:bodyPr lIns="128016" tIns="64008" rIns="128016" bIns="64008"/>
            <a:lstStyle>
              <a:defPPr>
                <a:defRPr kern="1200"/>
              </a:defPPr>
              <a:lvl1pPr algn="ctr" defTabSz="4389028" rtl="0" eaLnBrk="1" latinLnBrk="0" hangingPunct="1">
                <a:spcBef>
                  <a:spcPct val="0"/>
                </a:spcBef>
                <a:buNone/>
                <a:defRPr sz="13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l"/>
              <a:r>
                <a:rPr lang="en-US" sz="9600" b="1" dirty="0">
                  <a:solidFill>
                    <a:schemeClr val="bg1"/>
                  </a:solidFill>
                  <a:latin typeface="Titillium Web" pitchFamily="2" charset="77"/>
                </a:rPr>
                <a:t>Web-Scraping: Generating Investment Pitches &amp; Collecting Sports Data</a:t>
              </a:r>
            </a:p>
          </p:txBody>
        </p:sp>
        <p:sp>
          <p:nvSpPr>
            <p:cNvPr id="6" name="Text Placeholder 16">
              <a:extLst>
                <a:ext uri="{FF2B5EF4-FFF2-40B4-BE49-F238E27FC236}">
                  <a16:creationId xmlns:a16="http://schemas.microsoft.com/office/drawing/2014/main" id="{B78076A6-476B-6E4A-AE5E-1D35DC4AACF9}"/>
                </a:ext>
              </a:extLst>
            </p:cNvPr>
            <p:cNvSpPr txBox="1"/>
            <p:nvPr/>
          </p:nvSpPr>
          <p:spPr>
            <a:xfrm>
              <a:off x="1005840" y="3188068"/>
              <a:ext cx="41148000" cy="3268587"/>
            </a:xfrm>
            <a:prstGeom prst="rect">
              <a:avLst/>
            </a:prstGeom>
          </p:spPr>
          <p:txBody>
            <a:bodyPr lIns="128016" tIns="64008" rIns="128016" bIns="64008" anchor="t">
              <a:spAutoFit/>
            </a:bodyPr>
            <a:lstStyle>
              <a:defPPr>
                <a:defRPr kern="1200"/>
              </a:defPPr>
              <a:lvl1pPr marL="0" indent="0" algn="l" defTabSz="4389028" rtl="0" eaLnBrk="1" latinLnBrk="0" hangingPunct="1">
                <a:spcBef>
                  <a:spcPct val="20000"/>
                </a:spcBef>
                <a:buFont typeface="Arial" pitchFamily="34" charset="0"/>
                <a:buNone/>
                <a:defRPr sz="13400" kern="1200" baseline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66086" indent="-1371572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13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86286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1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680800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–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875314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»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069828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264342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6458857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8653371" indent="-1097257" algn="l" defTabSz="4389028" rtl="0" eaLnBrk="1" latinLnBrk="0" hangingPunct="1">
                <a:spcBef>
                  <a:spcPct val="20000"/>
                </a:spcBef>
                <a:buFont typeface="Arial" pitchFamily="34" charset="0"/>
                <a:buChar char="•"/>
                <a:defRPr sz="97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6000" dirty="0">
                  <a:solidFill>
                    <a:schemeClr val="bg1"/>
                  </a:solidFill>
                  <a:latin typeface="Titillium Web"/>
                </a:rPr>
                <a:t>Sam Peacock ‘24 (Statistics &amp; Economics)  </a:t>
              </a:r>
              <a:r>
                <a:rPr lang="en-US" sz="6000" dirty="0">
                  <a:solidFill>
                    <a:schemeClr val="bg1"/>
                  </a:solidFill>
                  <a:latin typeface="Titillium Web" panose="00000500000000000000" pitchFamily="2" charset="0"/>
                </a:rPr>
                <a:t>–</a:t>
              </a:r>
              <a:r>
                <a:rPr lang="en-US" sz="6000" dirty="0">
                  <a:solidFill>
                    <a:schemeClr val="bg1"/>
                  </a:solidFill>
                  <a:latin typeface="Titillium Web"/>
                </a:rPr>
                <a:t>  Advisor: Dr. Ivan Ramler</a:t>
              </a:r>
              <a:endParaRPr lang="en-US" sz="6000" dirty="0">
                <a:solidFill>
                  <a:schemeClr val="bg1"/>
                </a:solidFill>
                <a:latin typeface="Titillium Web" panose="00000500000000000000" pitchFamily="2" charset="0"/>
              </a:endParaRPr>
            </a:p>
            <a:p>
              <a:r>
                <a:rPr lang="en-US" sz="6000" dirty="0">
                  <a:solidFill>
                    <a:schemeClr val="bg1"/>
                  </a:solidFill>
                  <a:latin typeface="Titillium Web" panose="00000500000000000000" pitchFamily="2" charset="0"/>
                </a:rPr>
                <a:t>St. Lawrence University  –  Department of Mathematics, Computer Science, and Statistics</a:t>
              </a:r>
            </a:p>
            <a:p>
              <a:endParaRPr lang="en-US" sz="6000" dirty="0">
                <a:solidFill>
                  <a:schemeClr val="bg1"/>
                </a:solidFill>
                <a:latin typeface="Titillium Web" panose="00000500000000000000" pitchFamily="2" charset="0"/>
              </a:endParaRPr>
            </a:p>
          </p:txBody>
        </p:sp>
      </p:grpSp>
      <p:sp>
        <p:nvSpPr>
          <p:cNvPr id="10" name="Rectangle 29">
            <a:extLst>
              <a:ext uri="{FF2B5EF4-FFF2-40B4-BE49-F238E27FC236}">
                <a16:creationId xmlns:a16="http://schemas.microsoft.com/office/drawing/2014/main" id="{4A6BF095-902E-FD45-94EC-7309F9A07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8492" y="31447268"/>
            <a:ext cx="43939693" cy="1471130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lIns="137160" tIns="68580" rIns="137160" bIns="68580" anchor="ctr"/>
          <a:lstStyle>
            <a:defPPr>
              <a:defRPr kern="1200"/>
            </a:defPPr>
          </a:lstStyle>
          <a:p>
            <a:pPr defTabSz="4703763"/>
            <a:endParaRPr lang="en-US">
              <a:solidFill>
                <a:schemeClr val="bg1"/>
              </a:solidFill>
              <a:sym typeface="Symbol" pitchFamily="18" charset="2"/>
            </a:endParaRPr>
          </a:p>
        </p:txBody>
      </p:sp>
      <p:pic>
        <p:nvPicPr>
          <p:cNvPr id="64" name="Picture 63" descr="A black and yellow logo&#10;&#10;Description automatically generated">
            <a:extLst>
              <a:ext uri="{FF2B5EF4-FFF2-40B4-BE49-F238E27FC236}">
                <a16:creationId xmlns:a16="http://schemas.microsoft.com/office/drawing/2014/main" id="{A8194699-13B3-2C45-3DA0-11C7F48D7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56772" y="3228887"/>
            <a:ext cx="8431098" cy="2250017"/>
          </a:xfrm>
          <a:prstGeom prst="rect">
            <a:avLst/>
          </a:prstGeom>
        </p:spPr>
      </p:pic>
      <p:sp>
        <p:nvSpPr>
          <p:cNvPr id="95" name="Rectangle 5">
            <a:extLst>
              <a:ext uri="{FF2B5EF4-FFF2-40B4-BE49-F238E27FC236}">
                <a16:creationId xmlns:a16="http://schemas.microsoft.com/office/drawing/2014/main" id="{36FB3575-3C2F-2A38-3FED-D950F45A7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8237" y="7144977"/>
            <a:ext cx="13338631" cy="1444687"/>
          </a:xfrm>
          <a:prstGeom prst="rect">
            <a:avLst/>
          </a:prstGeom>
          <a:solidFill>
            <a:srgbClr val="224F78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4800" dirty="0">
                <a:solidFill>
                  <a:schemeClr val="bg1"/>
                </a:solidFill>
                <a:latin typeface="Amaranth"/>
              </a:rPr>
              <a:t>Collecting Sports Data</a:t>
            </a:r>
          </a:p>
        </p:txBody>
      </p:sp>
      <p:sp>
        <p:nvSpPr>
          <p:cNvPr id="96" name="Rectangle 5">
            <a:extLst>
              <a:ext uri="{FF2B5EF4-FFF2-40B4-BE49-F238E27FC236}">
                <a16:creationId xmlns:a16="http://schemas.microsoft.com/office/drawing/2014/main" id="{CB9B7C7A-230A-748F-BABC-8031E15C5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98238" y="22833608"/>
            <a:ext cx="13338630" cy="1444687"/>
          </a:xfrm>
          <a:prstGeom prst="rect">
            <a:avLst/>
          </a:prstGeom>
          <a:solidFill>
            <a:srgbClr val="224F78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4800" dirty="0">
                <a:solidFill>
                  <a:schemeClr val="bg1"/>
                </a:solidFill>
                <a:latin typeface="Amaranth"/>
              </a:rPr>
              <a:t>Manually Web-Scraping Financials</a:t>
            </a:r>
          </a:p>
        </p:txBody>
      </p:sp>
      <p:sp>
        <p:nvSpPr>
          <p:cNvPr id="97" name="Rectangle 5">
            <a:extLst>
              <a:ext uri="{FF2B5EF4-FFF2-40B4-BE49-F238E27FC236}">
                <a16:creationId xmlns:a16="http://schemas.microsoft.com/office/drawing/2014/main" id="{749E672E-84EF-0DF5-9040-0A3DF324F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5967" y="7144977"/>
            <a:ext cx="13373439" cy="1444687"/>
          </a:xfrm>
          <a:prstGeom prst="rect">
            <a:avLst/>
          </a:prstGeom>
          <a:solidFill>
            <a:srgbClr val="224F78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4800" dirty="0">
                <a:solidFill>
                  <a:schemeClr val="bg1"/>
                </a:solidFill>
                <a:latin typeface="Amaranth"/>
              </a:rPr>
              <a:t>Report Generator</a:t>
            </a:r>
          </a:p>
        </p:txBody>
      </p:sp>
      <p:sp>
        <p:nvSpPr>
          <p:cNvPr id="102" name="Rectangle 5">
            <a:extLst>
              <a:ext uri="{FF2B5EF4-FFF2-40B4-BE49-F238E27FC236}">
                <a16:creationId xmlns:a16="http://schemas.microsoft.com/office/drawing/2014/main" id="{F5339247-B1FD-80E2-B434-5880EE6C8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" y="14371131"/>
            <a:ext cx="13341296" cy="1444687"/>
          </a:xfrm>
          <a:prstGeom prst="rect">
            <a:avLst/>
          </a:prstGeom>
          <a:solidFill>
            <a:srgbClr val="224F78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4800" dirty="0">
                <a:solidFill>
                  <a:schemeClr val="bg1"/>
                </a:solidFill>
                <a:latin typeface="Amaranth"/>
              </a:rPr>
              <a:t>Generating Investment Pitches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EC1BED5-E97C-FB2A-FCB5-2E225285F8DB}"/>
              </a:ext>
            </a:extLst>
          </p:cNvPr>
          <p:cNvSpPr txBox="1"/>
          <p:nvPr/>
        </p:nvSpPr>
        <p:spPr>
          <a:xfrm>
            <a:off x="29836690" y="24760517"/>
            <a:ext cx="12588238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Incorporate manual web-scraping techniques to harvest financial data for more comprehensive reports.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2800" dirty="0">
              <a:latin typeface="Titillium Web" pitchFamily="2" charset="77"/>
            </a:endParaRP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Stock price history is essential for technical and statistical analyses; however, extracting data from the three financial statements would provide further due diligence to make a more informed investment decision with financial health analyses and various valuation methods.  </a:t>
            </a:r>
          </a:p>
        </p:txBody>
      </p:sp>
      <p:sp>
        <p:nvSpPr>
          <p:cNvPr id="111" name="Rectangle 5">
            <a:extLst>
              <a:ext uri="{FF2B5EF4-FFF2-40B4-BE49-F238E27FC236}">
                <a16:creationId xmlns:a16="http://schemas.microsoft.com/office/drawing/2014/main" id="{97EC06D0-25C2-AE50-39DF-691960E09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840" y="7144977"/>
            <a:ext cx="13341296" cy="1444687"/>
          </a:xfrm>
          <a:prstGeom prst="rect">
            <a:avLst/>
          </a:prstGeom>
          <a:solidFill>
            <a:srgbClr val="224F78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4800" dirty="0">
                <a:solidFill>
                  <a:schemeClr val="bg1"/>
                </a:solidFill>
                <a:latin typeface="Amaranth"/>
              </a:rPr>
              <a:t>Goals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09252BAD-525A-18DE-40C1-D430D00957D2}"/>
              </a:ext>
            </a:extLst>
          </p:cNvPr>
          <p:cNvSpPr txBox="1"/>
          <p:nvPr/>
        </p:nvSpPr>
        <p:spPr>
          <a:xfrm>
            <a:off x="1132151" y="16040923"/>
            <a:ext cx="12979454" cy="1425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tillium Web" pitchFamily="2" charset="77"/>
              </a:rPr>
              <a:t>What is Crown Royalties Investment Club (CRIC)?</a:t>
            </a:r>
            <a:endParaRPr lang="en-US" sz="4000" dirty="0">
              <a:latin typeface="Titillium Web" pitchFamily="2" charset="77"/>
            </a:endParaRPr>
          </a:p>
          <a:p>
            <a:pPr algn="just"/>
            <a:r>
              <a:rPr lang="en-US" sz="4000" dirty="0">
                <a:latin typeface="Titillium Web" pitchFamily="2" charset="77"/>
              </a:rPr>
              <a:t>The members of CRIC manage a $150,000+ portfolio. The club aims to educate students on the foundations of investing in weekly deliberations ran by executive board members and faculty advisors.</a:t>
            </a:r>
          </a:p>
          <a:p>
            <a:endParaRPr lang="en-US" sz="4000" dirty="0">
              <a:latin typeface="Titillium Web" pitchFamily="2" charset="77"/>
            </a:endParaRPr>
          </a:p>
          <a:p>
            <a:pPr algn="ctr"/>
            <a:r>
              <a:rPr lang="en-US" sz="4000" b="1" dirty="0">
                <a:latin typeface="Titillium Web" pitchFamily="2" charset="77"/>
              </a:rPr>
              <a:t>How do we use pitches?</a:t>
            </a:r>
            <a:endParaRPr lang="en-US" sz="4000" dirty="0">
              <a:latin typeface="Titillium Web" pitchFamily="2" charset="77"/>
            </a:endParaRPr>
          </a:p>
          <a:p>
            <a:pPr algn="just"/>
            <a:r>
              <a:rPr lang="en-US" sz="4000" dirty="0">
                <a:latin typeface="Titillium Web" pitchFamily="2" charset="77"/>
              </a:rPr>
              <a:t>Students present investment pitches with various analyses and propose to buy or sell a position for the portfolio. </a:t>
            </a:r>
          </a:p>
          <a:p>
            <a:pPr algn="just"/>
            <a:endParaRPr lang="en-US" sz="4000" dirty="0">
              <a:latin typeface="Titillium Web" pitchFamily="2" charset="77"/>
            </a:endParaRPr>
          </a:p>
          <a:p>
            <a:pPr algn="ctr"/>
            <a:r>
              <a:rPr lang="en-US" sz="4000" b="1" dirty="0">
                <a:latin typeface="Titillium Web" pitchFamily="2" charset="77"/>
              </a:rPr>
              <a:t>Generating Investment Pitches</a:t>
            </a:r>
            <a:endParaRPr lang="en-US" sz="4000" dirty="0">
              <a:latin typeface="Titillium Web" pitchFamily="2" charset="77"/>
            </a:endParaRPr>
          </a:p>
          <a:p>
            <a:pPr algn="just"/>
            <a:r>
              <a:rPr lang="en-US" sz="4000" dirty="0">
                <a:latin typeface="Titillium Web" pitchFamily="2" charset="77"/>
              </a:rPr>
              <a:t>Quantmod develops and deploys statistically based trading models with the getSymbols function that internally scrapes historical stock price data from a specified online source and date range:</a:t>
            </a:r>
          </a:p>
          <a:p>
            <a:endParaRPr lang="en-US" sz="4000" dirty="0">
              <a:latin typeface="Titillium Web" pitchFamily="2" charset="77"/>
            </a:endParaRPr>
          </a:p>
          <a:p>
            <a:endParaRPr lang="en-US" sz="4000" dirty="0">
              <a:latin typeface="Titillium Web" pitchFamily="2" charset="77"/>
            </a:endParaRPr>
          </a:p>
          <a:p>
            <a:endParaRPr lang="en-US" sz="4000" dirty="0">
              <a:latin typeface="Titillium Web" pitchFamily="2" charset="77"/>
            </a:endParaRPr>
          </a:p>
          <a:p>
            <a:endParaRPr lang="en-US" sz="4000" dirty="0">
              <a:latin typeface="Titillium Web" pitchFamily="2" charset="77"/>
            </a:endParaRPr>
          </a:p>
          <a:p>
            <a:pPr algn="just"/>
            <a:r>
              <a:rPr lang="en-US" sz="4000" dirty="0">
                <a:latin typeface="Titillium Web" pitchFamily="2" charset="77"/>
              </a:rPr>
              <a:t>Apple’s stock price data ($AAPL) is now available for various statistical modeling visualizations that are transferred into a web app that generates downloadable investment reports.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EBEE1-4D71-B6C5-5124-7605BE11A9F9}"/>
              </a:ext>
            </a:extLst>
          </p:cNvPr>
          <p:cNvSpPr txBox="1"/>
          <p:nvPr/>
        </p:nvSpPr>
        <p:spPr>
          <a:xfrm>
            <a:off x="1054332" y="8196703"/>
            <a:ext cx="12895268" cy="65248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arenR"/>
            </a:pPr>
            <a:endParaRPr lang="en-US" sz="4000" dirty="0">
              <a:latin typeface="Titillium Web" pitchFamily="2" charset="77"/>
            </a:endParaRPr>
          </a:p>
          <a:p>
            <a:pPr marL="742950" indent="-742950" algn="just">
              <a:buAutoNum type="arabicParenR"/>
            </a:pPr>
            <a:r>
              <a:rPr lang="en-US" sz="4000" dirty="0">
                <a:latin typeface="Titillium Web" pitchFamily="2" charset="77"/>
              </a:rPr>
              <a:t>Use quantmod and Shiny packages to create an interactive, user-friendly web app that scrapes financial data from the web and generates simple investment pitches based on templates from SLU’s Crown Royalties Investment Club.</a:t>
            </a:r>
          </a:p>
          <a:p>
            <a:pPr marL="742950" indent="-742950">
              <a:buAutoNum type="arabicParenR"/>
            </a:pPr>
            <a:endParaRPr lang="en-US" sz="4000" dirty="0">
              <a:latin typeface="Titillium Web" pitchFamily="2" charset="77"/>
            </a:endParaRPr>
          </a:p>
          <a:p>
            <a:pPr marL="742950" indent="-742950" algn="just">
              <a:buAutoNum type="arabicParenR"/>
            </a:pPr>
            <a:r>
              <a:rPr lang="en-US" sz="4000" dirty="0">
                <a:latin typeface="Titillium Web" pitchFamily="2" charset="77"/>
              </a:rPr>
              <a:t>Use rvest to automate the collection of 10 years’ worth of results from each leg of the Ski to Sea race for SCORE.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AD02A-113E-7D95-2B52-7E649C07A013}"/>
              </a:ext>
            </a:extLst>
          </p:cNvPr>
          <p:cNvSpPr txBox="1"/>
          <p:nvPr/>
        </p:nvSpPr>
        <p:spPr>
          <a:xfrm>
            <a:off x="15584632" y="21348364"/>
            <a:ext cx="12864506" cy="99411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tillium Web" pitchFamily="2" charset="77"/>
              </a:rPr>
              <a:t>Linking Web App and Report</a:t>
            </a:r>
          </a:p>
          <a:p>
            <a:pPr marL="742950" indent="-742950" algn="just">
              <a:buFont typeface="+mj-lt"/>
              <a:buAutoNum type="arabicParenR"/>
            </a:pPr>
            <a:r>
              <a:rPr lang="en-US" sz="4000" dirty="0">
                <a:latin typeface="Titillium Web" pitchFamily="2" charset="77"/>
              </a:rPr>
              <a:t>Create the Shiny App (app.R)</a:t>
            </a:r>
          </a:p>
          <a:p>
            <a:pPr marL="1200150" lvl="1" indent="-74295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Define the UI and server elements in a single file</a:t>
            </a:r>
          </a:p>
          <a:p>
            <a:pPr lvl="1" algn="just"/>
            <a:endParaRPr lang="en-US" sz="2800" dirty="0">
              <a:latin typeface="Titillium Web" pitchFamily="2" charset="77"/>
            </a:endParaRPr>
          </a:p>
          <a:p>
            <a:pPr marL="742950" indent="-742950" algn="just">
              <a:buFont typeface="+mj-lt"/>
              <a:buAutoNum type="arabicParenR"/>
            </a:pPr>
            <a:r>
              <a:rPr lang="en-US" sz="4000" dirty="0">
                <a:latin typeface="Titillium Web" pitchFamily="2" charset="77"/>
              </a:rPr>
              <a:t>Create the R Markdown File (report.Rmd)</a:t>
            </a:r>
          </a:p>
          <a:p>
            <a:pPr marL="1200150" lvl="1" indent="-74295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Use R code chunks to include dynamic data</a:t>
            </a:r>
          </a:p>
          <a:p>
            <a:pPr lvl="1" algn="just"/>
            <a:endParaRPr lang="en-US" sz="2800" dirty="0">
              <a:latin typeface="Titillium Web" pitchFamily="2" charset="77"/>
            </a:endParaRPr>
          </a:p>
          <a:p>
            <a:pPr marL="742950" indent="-742950" algn="just">
              <a:buFont typeface="+mj-lt"/>
              <a:buAutoNum type="arabicParenR"/>
            </a:pPr>
            <a:r>
              <a:rPr lang="en-US" sz="4000" dirty="0">
                <a:latin typeface="Titillium Web" pitchFamily="2" charset="77"/>
              </a:rPr>
              <a:t>Link Shiny App to R Markdown File</a:t>
            </a:r>
          </a:p>
          <a:p>
            <a:pPr marL="1028700" lvl="1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Use the rmarkdown::render function to render the report.Rmd with the inputted dynamic data from the app.R</a:t>
            </a:r>
          </a:p>
          <a:p>
            <a:pPr lvl="1" algn="just"/>
            <a:endParaRPr lang="en-US" sz="2800" dirty="0">
              <a:latin typeface="Titillium Web" pitchFamily="2" charset="77"/>
            </a:endParaRPr>
          </a:p>
          <a:p>
            <a:pPr marL="742950" indent="-742950" algn="just">
              <a:buFont typeface="+mj-lt"/>
              <a:buAutoNum type="arabicParenR"/>
            </a:pPr>
            <a:r>
              <a:rPr lang="en-US" sz="4000" dirty="0">
                <a:latin typeface="Titillium Web" pitchFamily="2" charset="77"/>
              </a:rPr>
              <a:t>Add a “Generate Report” Button</a:t>
            </a:r>
          </a:p>
          <a:p>
            <a:pPr marL="1200150" lvl="1" indent="-74295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Use the eventReactive function in Shiny to render the report.Rmd into a downloadable word document</a:t>
            </a:r>
          </a:p>
          <a:p>
            <a:pPr lvl="1"/>
            <a:endParaRPr lang="en-US" sz="3600" dirty="0">
              <a:latin typeface="Titillium Web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FAA3FB-4C10-9635-4FD0-6F03F878608B}"/>
              </a:ext>
            </a:extLst>
          </p:cNvPr>
          <p:cNvSpPr txBox="1"/>
          <p:nvPr/>
        </p:nvSpPr>
        <p:spPr>
          <a:xfrm>
            <a:off x="29882869" y="9521333"/>
            <a:ext cx="12588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C75C1A-2D54-0000-8A5F-0CFB95DC39D3}"/>
              </a:ext>
            </a:extLst>
          </p:cNvPr>
          <p:cNvSpPr txBox="1"/>
          <p:nvPr/>
        </p:nvSpPr>
        <p:spPr>
          <a:xfrm>
            <a:off x="29836690" y="8925451"/>
            <a:ext cx="12922360" cy="12157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tillium Web" pitchFamily="2" charset="77"/>
              </a:rPr>
              <a:t>What is Ski to Sea?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Annual multi-sport relay race consisting of 7 legs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Events represent years and legs represent each sport 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000" dirty="0">
                <a:latin typeface="Titillium Web" pitchFamily="2" charset="77"/>
              </a:rPr>
              <a:t>Pulling and combining 80 webpages of data for SCORE</a:t>
            </a:r>
          </a:p>
          <a:p>
            <a:pPr algn="just"/>
            <a:endParaRPr lang="en-US" sz="4000" dirty="0">
              <a:latin typeface="Titillium Web" pitchFamily="2" charset="77"/>
            </a:endParaRPr>
          </a:p>
          <a:p>
            <a:pPr algn="ctr"/>
            <a:r>
              <a:rPr lang="en-US" sz="4000" b="1" dirty="0">
                <a:latin typeface="Titillium Web" pitchFamily="2" charset="77"/>
              </a:rPr>
              <a:t>Manually Scraping Data</a:t>
            </a:r>
          </a:p>
          <a:p>
            <a:pPr marL="742950" indent="-742950">
              <a:buFont typeface="+mj-lt"/>
              <a:buAutoNum type="arabicParenR"/>
            </a:pPr>
            <a:r>
              <a:rPr lang="en-US" sz="4000" dirty="0">
                <a:latin typeface="Titillium Web" pitchFamily="2" charset="77"/>
              </a:rPr>
              <a:t>Get a list of URLs for each leg of each race: </a:t>
            </a:r>
          </a:p>
          <a:p>
            <a:r>
              <a:rPr lang="en-US" sz="2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base_url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  <a:hlinkClick r:id="rId3"/>
              </a:rPr>
              <a:t>“https://skitosea.pacificmultisports.com/events/101/results/leg/1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”</a:t>
            </a:r>
          </a:p>
          <a:p>
            <a:endParaRPr lang="en-US" sz="3200" dirty="0">
              <a:latin typeface="Titillium Web" pitchFamily="2" charset="77"/>
            </a:endParaRPr>
          </a:p>
          <a:p>
            <a:r>
              <a:rPr lang="en-US" sz="4000" dirty="0">
                <a:latin typeface="Titillium Web" pitchFamily="2" charset="77"/>
              </a:rPr>
              <a:t>2)   Loop to attach year: event &lt;- 101, 102, … , 111</a:t>
            </a:r>
          </a:p>
          <a:p>
            <a:pPr marL="742950" indent="-742950">
              <a:buFont typeface="+mj-lt"/>
              <a:buAutoNum type="arabicParenR"/>
            </a:pPr>
            <a:endParaRPr lang="en-US" sz="4000" dirty="0">
              <a:latin typeface="Titillium Web" pitchFamily="2" charset="77"/>
            </a:endParaRPr>
          </a:p>
          <a:p>
            <a:r>
              <a:rPr lang="en-US" sz="4000" dirty="0">
                <a:latin typeface="Titillium Web" pitchFamily="2" charset="77"/>
              </a:rPr>
              <a:t>3)   Loop to get each sport: leg &lt;- 1, 2, … , 80</a:t>
            </a:r>
          </a:p>
          <a:p>
            <a:pPr marL="742950" indent="-742950">
              <a:buFont typeface="+mj-lt"/>
              <a:buAutoNum type="arabicParenR"/>
            </a:pPr>
            <a:endParaRPr lang="en-US" sz="4000" dirty="0">
              <a:latin typeface="Titillium Web" pitchFamily="2" charset="77"/>
            </a:endParaRPr>
          </a:p>
          <a:p>
            <a:r>
              <a:rPr lang="en-US" sz="4000" dirty="0">
                <a:latin typeface="Titillium Web" pitchFamily="2" charset="77"/>
              </a:rPr>
              <a:t>4)   Loop to attach and get every race URL: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&lt;- paste0(</a:t>
            </a:r>
            <a:r>
              <a:rPr lang="en-US" sz="2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base_url</a:t>
            </a:r>
            <a:r>
              <a:rPr lang="en-US" sz="28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event, "/results/leg/", leg)</a:t>
            </a:r>
          </a:p>
          <a:p>
            <a:pPr lvl="1"/>
            <a:endParaRPr lang="en-US" sz="4000" dirty="0">
              <a:latin typeface="Titillium Web" pitchFamily="2" charset="77"/>
            </a:endParaRPr>
          </a:p>
          <a:p>
            <a:pPr lvl="1"/>
            <a:endParaRPr lang="en-US" sz="4000" dirty="0">
              <a:latin typeface="Titillium Web" pitchFamily="2" charset="77"/>
            </a:endParaRPr>
          </a:p>
          <a:p>
            <a:pPr lvl="1"/>
            <a:endParaRPr lang="en-US" sz="4000" dirty="0">
              <a:latin typeface="Titillium Web" pitchFamily="2" charset="77"/>
            </a:endParaRPr>
          </a:p>
          <a:p>
            <a:endParaRPr lang="en-US" sz="4000" dirty="0">
              <a:latin typeface="Titillium Web" pitchFamily="2" charset="77"/>
            </a:endParaRPr>
          </a:p>
          <a:p>
            <a:endParaRPr lang="en-US" sz="1800" dirty="0">
              <a:latin typeface="Titillium Web" pitchFamily="2" charset="77"/>
            </a:endParaRPr>
          </a:p>
          <a:p>
            <a:endParaRPr lang="en-US" sz="1800" dirty="0">
              <a:latin typeface="Titillium Web" pitchFamily="2" charset="77"/>
            </a:endParaRPr>
          </a:p>
        </p:txBody>
      </p:sp>
      <p:pic>
        <p:nvPicPr>
          <p:cNvPr id="12" name="Picture 11" descr="A number of numbers on a white background&#10;&#10;Description automatically generated">
            <a:extLst>
              <a:ext uri="{FF2B5EF4-FFF2-40B4-BE49-F238E27FC236}">
                <a16:creationId xmlns:a16="http://schemas.microsoft.com/office/drawing/2014/main" id="{147445F6-3958-C53E-FC8A-B86B8E4CB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988" y="25521316"/>
            <a:ext cx="12945315" cy="17665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AA6194A-5889-FBA7-3FBC-C5E4520B55A2}"/>
              </a:ext>
            </a:extLst>
          </p:cNvPr>
          <p:cNvSpPr/>
          <p:nvPr/>
        </p:nvSpPr>
        <p:spPr>
          <a:xfrm>
            <a:off x="14347137" y="7147901"/>
            <a:ext cx="888831" cy="23934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4597FC-5D60-126B-F657-F086090F79FF}"/>
              </a:ext>
            </a:extLst>
          </p:cNvPr>
          <p:cNvSpPr/>
          <p:nvPr/>
        </p:nvSpPr>
        <p:spPr>
          <a:xfrm>
            <a:off x="28609407" y="7144977"/>
            <a:ext cx="888831" cy="239340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screenshot of a graph&#10;&#10;Description automatically generated">
            <a:extLst>
              <a:ext uri="{FF2B5EF4-FFF2-40B4-BE49-F238E27FC236}">
                <a16:creationId xmlns:a16="http://schemas.microsoft.com/office/drawing/2014/main" id="{55F5D48C-3F52-431C-6278-6AA982FD3E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98178" y="11931899"/>
            <a:ext cx="12128201" cy="895295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CCCE1A89-6DE0-A958-C317-E85AE7F5CFC1}"/>
              </a:ext>
            </a:extLst>
          </p:cNvPr>
          <p:cNvSpPr txBox="1"/>
          <p:nvPr/>
        </p:nvSpPr>
        <p:spPr>
          <a:xfrm>
            <a:off x="16324572" y="8972409"/>
            <a:ext cx="111191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tillium Web" pitchFamily="2" charset="77"/>
              </a:rPr>
              <a:t>Quantmod Charts</a:t>
            </a:r>
            <a:endParaRPr lang="en-US" sz="40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518EF8-4E34-D90A-A85B-0D30C882E814}"/>
              </a:ext>
            </a:extLst>
          </p:cNvPr>
          <p:cNvSpPr txBox="1"/>
          <p:nvPr/>
        </p:nvSpPr>
        <p:spPr>
          <a:xfrm>
            <a:off x="15281794" y="9746452"/>
            <a:ext cx="1274772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/>
            <a:r>
              <a:rPr lang="en-US" sz="4000" dirty="0">
                <a:latin typeface="Titillium Web" pitchFamily="2" charset="77"/>
              </a:rPr>
              <a:t>This example chart from the report displays Apple’s stock price history with Bollinger bands, SMAs, and MACD from a specified date range: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4336DE-448F-B92F-634A-0E782C6726CC}"/>
              </a:ext>
            </a:extLst>
          </p:cNvPr>
          <p:cNvSpPr txBox="1"/>
          <p:nvPr/>
        </p:nvSpPr>
        <p:spPr>
          <a:xfrm>
            <a:off x="30164472" y="18641007"/>
            <a:ext cx="537639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4000" b="1" dirty="0">
                <a:latin typeface="Titillium Web" pitchFamily="2" charset="77"/>
              </a:rPr>
              <a:t>Combine data:</a:t>
            </a:r>
          </a:p>
          <a:p>
            <a:pPr marL="1028700" lvl="1" indent="-571500">
              <a:buFontTx/>
              <a:buChar char="-"/>
            </a:pPr>
            <a:r>
              <a:rPr lang="en-US" sz="4000" dirty="0">
                <a:latin typeface="Titillium Web" pitchFamily="2" charset="77"/>
              </a:rPr>
              <a:t>Scrape for all data</a:t>
            </a:r>
          </a:p>
          <a:p>
            <a:pPr marL="1028700" lvl="1" indent="-571500">
              <a:buFontTx/>
              <a:buChar char="-"/>
            </a:pPr>
            <a:r>
              <a:rPr lang="en-US" sz="4000" dirty="0">
                <a:latin typeface="Titillium Web" pitchFamily="2" charset="77"/>
              </a:rPr>
              <a:t>Clean and format data</a:t>
            </a:r>
          </a:p>
          <a:p>
            <a:pPr marL="1028700" lvl="1" indent="-571500">
              <a:buFontTx/>
              <a:buChar char="-"/>
            </a:pPr>
            <a:r>
              <a:rPr lang="en-US" sz="4000" dirty="0">
                <a:latin typeface="Titillium Web" pitchFamily="2" charset="77"/>
              </a:rPr>
              <a:t>Save into one file</a:t>
            </a:r>
          </a:p>
          <a:p>
            <a:endParaRPr lang="en-US" dirty="0"/>
          </a:p>
        </p:txBody>
      </p:sp>
      <p:pic>
        <p:nvPicPr>
          <p:cNvPr id="27" name="Picture 26" descr="A graph of different colored bars&#10;&#10;Description automatically generated">
            <a:extLst>
              <a:ext uri="{FF2B5EF4-FFF2-40B4-BE49-F238E27FC236}">
                <a16:creationId xmlns:a16="http://schemas.microsoft.com/office/drawing/2014/main" id="{C15ABA4A-54EA-D4B7-0A76-CFD17A7495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57597" y="18178189"/>
            <a:ext cx="6073242" cy="4372734"/>
          </a:xfrm>
          <a:prstGeom prst="rect">
            <a:avLst/>
          </a:prstGeom>
        </p:spPr>
      </p:pic>
      <p:pic>
        <p:nvPicPr>
          <p:cNvPr id="14" name="Picture 13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77D2A351-B8C8-743F-9D21-057355FD9E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90790" y="3228590"/>
            <a:ext cx="2395290" cy="2250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16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11586</TotalTime>
  <Words>527</Words>
  <Application>Microsoft Office PowerPoint</Application>
  <PresentationFormat>Custom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Amaranth</vt:lpstr>
      <vt:lpstr>Arial</vt:lpstr>
      <vt:lpstr>Calibri</vt:lpstr>
      <vt:lpstr>Calibri Light</vt:lpstr>
      <vt:lpstr>Courier New</vt:lpstr>
      <vt:lpstr>Symbol</vt:lpstr>
      <vt:lpstr>Titillium Web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Andrew Dykstra</dc:creator>
  <cp:keywords/>
  <dc:description/>
  <cp:lastModifiedBy>Ivan Ramler</cp:lastModifiedBy>
  <cp:revision>61</cp:revision>
  <dcterms:created xsi:type="dcterms:W3CDTF">2022-04-09T23:29:23Z</dcterms:created>
  <dcterms:modified xsi:type="dcterms:W3CDTF">2024-04-19T16:55:12Z</dcterms:modified>
  <cp:category/>
</cp:coreProperties>
</file>