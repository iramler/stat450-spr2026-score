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2808525" cy="30279975"/>
  <p:notesSz cx="6858000" cy="9144000"/>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1348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A01F"/>
    <a:srgbClr val="6BAD21"/>
    <a:srgbClr val="77B242"/>
    <a:srgbClr val="4C9537"/>
    <a:srgbClr val="FFCC00"/>
    <a:srgbClr val="C0794E"/>
    <a:srgbClr val="FFFF99"/>
    <a:srgbClr val="FFCC66"/>
    <a:srgbClr val="FFFFFF"/>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9022" autoAdjust="0"/>
  </p:normalViewPr>
  <p:slideViewPr>
    <p:cSldViewPr>
      <p:cViewPr>
        <p:scale>
          <a:sx n="28" d="100"/>
          <a:sy n="28" d="100"/>
        </p:scale>
        <p:origin x="1992" y="264"/>
      </p:cViewPr>
      <p:guideLst>
        <p:guide orient="horz" pos="9537"/>
        <p:guide pos="13483"/>
      </p:guideLst>
    </p:cSldViewPr>
  </p:slideViewPr>
  <p:notesTextViewPr>
    <p:cViewPr>
      <p:scale>
        <a:sx n="1" d="1"/>
        <a:sy n="1" d="1"/>
      </p:scale>
      <p:origin x="0" y="0"/>
    </p:cViewPr>
  </p:notesTextViewPr>
  <p:sorterViewPr>
    <p:cViewPr>
      <p:scale>
        <a:sx n="200" d="100"/>
        <a:sy n="200" d="100"/>
      </p:scale>
      <p:origin x="0" y="3224"/>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C5C40-2CF4-9E43-AD3B-E28128E66910}" type="datetimeFigureOut">
              <a:rPr lang="en-US" smtClean="0"/>
              <a:t>4/15/24</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95B12-7B50-2641-8F1E-2C63C8062427}" type="slidenum">
              <a:rPr lang="en-US" smtClean="0"/>
              <a:t>‹#›</a:t>
            </a:fld>
            <a:endParaRPr lang="en-US"/>
          </a:p>
        </p:txBody>
      </p:sp>
    </p:spTree>
    <p:extLst>
      <p:ext uri="{BB962C8B-B14F-4D97-AF65-F5344CB8AC3E}">
        <p14:creationId xmlns:p14="http://schemas.microsoft.com/office/powerpoint/2010/main" val="3623910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640" y="9406420"/>
            <a:ext cx="36387246" cy="6490569"/>
          </a:xfrm>
        </p:spPr>
        <p:txBody>
          <a:bodyPr/>
          <a:lstStyle/>
          <a:p>
            <a:r>
              <a:rPr lang="en-US"/>
              <a:t>Click to edit Master title style</a:t>
            </a:r>
            <a:endParaRPr lang="en-CA"/>
          </a:p>
        </p:txBody>
      </p:sp>
      <p:sp>
        <p:nvSpPr>
          <p:cNvPr id="3" name="Subtitle 2"/>
          <p:cNvSpPr>
            <a:spLocks noGrp="1"/>
          </p:cNvSpPr>
          <p:nvPr>
            <p:ph type="subTitle" idx="1"/>
          </p:nvPr>
        </p:nvSpPr>
        <p:spPr>
          <a:xfrm>
            <a:off x="6421279" y="17158652"/>
            <a:ext cx="29965968" cy="7738216"/>
          </a:xfrm>
        </p:spPr>
        <p:txBody>
          <a:bodyPr/>
          <a:lstStyle>
            <a:lvl1pPr marL="0" indent="0" algn="ctr">
              <a:buNone/>
              <a:defRPr>
                <a:solidFill>
                  <a:schemeClr val="tx1">
                    <a:tint val="75000"/>
                  </a:schemeClr>
                </a:solidFill>
              </a:defRPr>
            </a:lvl1pPr>
            <a:lvl2pPr marL="2088215" indent="0" algn="ctr">
              <a:buNone/>
              <a:defRPr>
                <a:solidFill>
                  <a:schemeClr val="tx1">
                    <a:tint val="75000"/>
                  </a:schemeClr>
                </a:solidFill>
              </a:defRPr>
            </a:lvl2pPr>
            <a:lvl3pPr marL="4176431" indent="0" algn="ctr">
              <a:buNone/>
              <a:defRPr>
                <a:solidFill>
                  <a:schemeClr val="tx1">
                    <a:tint val="75000"/>
                  </a:schemeClr>
                </a:solidFill>
              </a:defRPr>
            </a:lvl3pPr>
            <a:lvl4pPr marL="6264646" indent="0" algn="ctr">
              <a:buNone/>
              <a:defRPr>
                <a:solidFill>
                  <a:schemeClr val="tx1">
                    <a:tint val="75000"/>
                  </a:schemeClr>
                </a:solidFill>
              </a:defRPr>
            </a:lvl4pPr>
            <a:lvl5pPr marL="8352861" indent="0" algn="ctr">
              <a:buNone/>
              <a:defRPr>
                <a:solidFill>
                  <a:schemeClr val="tx1">
                    <a:tint val="75000"/>
                  </a:schemeClr>
                </a:solidFill>
              </a:defRPr>
            </a:lvl5pPr>
            <a:lvl6pPr marL="10441076" indent="0" algn="ctr">
              <a:buNone/>
              <a:defRPr>
                <a:solidFill>
                  <a:schemeClr val="tx1">
                    <a:tint val="75000"/>
                  </a:schemeClr>
                </a:solidFill>
              </a:defRPr>
            </a:lvl6pPr>
            <a:lvl7pPr marL="12529292" indent="0" algn="ctr">
              <a:buNone/>
              <a:defRPr>
                <a:solidFill>
                  <a:schemeClr val="tx1">
                    <a:tint val="75000"/>
                  </a:schemeClr>
                </a:solidFill>
              </a:defRPr>
            </a:lvl7pPr>
            <a:lvl8pPr marL="14617507" indent="0" algn="ctr">
              <a:buNone/>
              <a:defRPr>
                <a:solidFill>
                  <a:schemeClr val="tx1">
                    <a:tint val="75000"/>
                  </a:schemeClr>
                </a:solidFill>
              </a:defRPr>
            </a:lvl8pPr>
            <a:lvl9pPr marL="16705722"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2024-04-10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1831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2024-04-10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656092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81579" y="19457690"/>
            <a:ext cx="36387246" cy="6013939"/>
          </a:xfrm>
        </p:spPr>
        <p:txBody>
          <a:bodyPr anchor="t"/>
          <a:lstStyle>
            <a:lvl1pPr algn="l">
              <a:defRPr sz="18300" b="1" cap="all"/>
            </a:lvl1pPr>
          </a:lstStyle>
          <a:p>
            <a:r>
              <a:rPr lang="en-US"/>
              <a:t>Click to edit Master title style</a:t>
            </a:r>
            <a:endParaRPr lang="en-CA"/>
          </a:p>
        </p:txBody>
      </p:sp>
      <p:sp>
        <p:nvSpPr>
          <p:cNvPr id="3" name="Text Placeholder 2"/>
          <p:cNvSpPr>
            <a:spLocks noGrp="1"/>
          </p:cNvSpPr>
          <p:nvPr>
            <p:ph type="body" idx="1"/>
          </p:nvPr>
        </p:nvSpPr>
        <p:spPr>
          <a:xfrm>
            <a:off x="3381579" y="12833948"/>
            <a:ext cx="36387246" cy="6623742"/>
          </a:xfrm>
        </p:spPr>
        <p:txBody>
          <a:bodyPr anchor="b"/>
          <a:lstStyle>
            <a:lvl1pPr marL="0" indent="0">
              <a:buNone/>
              <a:defRPr sz="9100">
                <a:solidFill>
                  <a:schemeClr val="tx1">
                    <a:tint val="75000"/>
                  </a:schemeClr>
                </a:solidFill>
              </a:defRPr>
            </a:lvl1pPr>
            <a:lvl2pPr marL="2088215" indent="0">
              <a:buNone/>
              <a:defRPr sz="8200">
                <a:solidFill>
                  <a:schemeClr val="tx1">
                    <a:tint val="75000"/>
                  </a:schemeClr>
                </a:solidFill>
              </a:defRPr>
            </a:lvl2pPr>
            <a:lvl3pPr marL="4176431" indent="0">
              <a:buNone/>
              <a:defRPr sz="7300">
                <a:solidFill>
                  <a:schemeClr val="tx1">
                    <a:tint val="75000"/>
                  </a:schemeClr>
                </a:solidFill>
              </a:defRPr>
            </a:lvl3pPr>
            <a:lvl4pPr marL="6264646" indent="0">
              <a:buNone/>
              <a:defRPr sz="6400">
                <a:solidFill>
                  <a:schemeClr val="tx1">
                    <a:tint val="75000"/>
                  </a:schemeClr>
                </a:solidFill>
              </a:defRPr>
            </a:lvl4pPr>
            <a:lvl5pPr marL="8352861" indent="0">
              <a:buNone/>
              <a:defRPr sz="6400">
                <a:solidFill>
                  <a:schemeClr val="tx1">
                    <a:tint val="75000"/>
                  </a:schemeClr>
                </a:solidFill>
              </a:defRPr>
            </a:lvl5pPr>
            <a:lvl6pPr marL="10441076" indent="0">
              <a:buNone/>
              <a:defRPr sz="6400">
                <a:solidFill>
                  <a:schemeClr val="tx1">
                    <a:tint val="75000"/>
                  </a:schemeClr>
                </a:solidFill>
              </a:defRPr>
            </a:lvl6pPr>
            <a:lvl7pPr marL="12529292" indent="0">
              <a:buNone/>
              <a:defRPr sz="6400">
                <a:solidFill>
                  <a:schemeClr val="tx1">
                    <a:tint val="75000"/>
                  </a:schemeClr>
                </a:solidFill>
              </a:defRPr>
            </a:lvl7pPr>
            <a:lvl8pPr marL="14617507" indent="0">
              <a:buNone/>
              <a:defRPr sz="6400">
                <a:solidFill>
                  <a:schemeClr val="tx1">
                    <a:tint val="75000"/>
                  </a:schemeClr>
                </a:solidFill>
              </a:defRPr>
            </a:lvl8pPr>
            <a:lvl9pPr marL="16705722"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09B4A-2E11-444A-8FCE-E78873839832}" type="datetimeFigureOut">
              <a:rPr lang="en-CA" smtClean="0"/>
              <a:t>2024-04-10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7716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10018386" y="31198189"/>
            <a:ext cx="89831017"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100562876" y="31198189"/>
            <a:ext cx="89831012" cy="88232483"/>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B7509B4A-2E11-444A-8FCE-E78873839832}" type="datetimeFigureOut">
              <a:rPr lang="en-CA" smtClean="0"/>
              <a:t>2024-04-10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2493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0426" y="1212603"/>
            <a:ext cx="38527673" cy="5046663"/>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2140426" y="6777950"/>
            <a:ext cx="1891453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4" name="Content Placeholder 3"/>
          <p:cNvSpPr>
            <a:spLocks noGrp="1"/>
          </p:cNvSpPr>
          <p:nvPr>
            <p:ph sz="half" idx="2"/>
          </p:nvPr>
        </p:nvSpPr>
        <p:spPr>
          <a:xfrm>
            <a:off x="2140426" y="9602677"/>
            <a:ext cx="1891453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21746138" y="6777950"/>
            <a:ext cx="18921963" cy="282472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a:t>Click to edit Master text styles</a:t>
            </a:r>
          </a:p>
        </p:txBody>
      </p:sp>
      <p:sp>
        <p:nvSpPr>
          <p:cNvPr id="6" name="Content Placeholder 5"/>
          <p:cNvSpPr>
            <a:spLocks noGrp="1"/>
          </p:cNvSpPr>
          <p:nvPr>
            <p:ph sz="quarter" idx="4"/>
          </p:nvPr>
        </p:nvSpPr>
        <p:spPr>
          <a:xfrm>
            <a:off x="21746138" y="9602677"/>
            <a:ext cx="18921963" cy="17446034"/>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B7509B4A-2E11-444A-8FCE-E78873839832}" type="datetimeFigureOut">
              <a:rPr lang="en-CA" smtClean="0"/>
              <a:t>2024-04-10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840106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B7509B4A-2E11-444A-8FCE-E78873839832}" type="datetimeFigureOut">
              <a:rPr lang="en-CA" smtClean="0"/>
              <a:t>2024-04-10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16563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09B4A-2E11-444A-8FCE-E78873839832}" type="datetimeFigureOut">
              <a:rPr lang="en-CA" smtClean="0"/>
              <a:t>2024-04-10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04407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0428" y="1205591"/>
            <a:ext cx="14083710" cy="5130774"/>
          </a:xfrm>
        </p:spPr>
        <p:txBody>
          <a:bodyPr anchor="b"/>
          <a:lstStyle>
            <a:lvl1pPr algn="l">
              <a:defRPr sz="9100" b="1"/>
            </a:lvl1pPr>
          </a:lstStyle>
          <a:p>
            <a:r>
              <a:rPr lang="en-US"/>
              <a:t>Click to edit Master title style</a:t>
            </a:r>
            <a:endParaRPr lang="en-CA"/>
          </a:p>
        </p:txBody>
      </p:sp>
      <p:sp>
        <p:nvSpPr>
          <p:cNvPr id="3" name="Content Placeholder 2"/>
          <p:cNvSpPr>
            <a:spLocks noGrp="1"/>
          </p:cNvSpPr>
          <p:nvPr>
            <p:ph idx="1"/>
          </p:nvPr>
        </p:nvSpPr>
        <p:spPr>
          <a:xfrm>
            <a:off x="16736944" y="1205594"/>
            <a:ext cx="23931155" cy="25843120"/>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2140428" y="6336367"/>
            <a:ext cx="14083710" cy="20712346"/>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2024-04-10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435669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771" y="21195982"/>
            <a:ext cx="25685115" cy="2502306"/>
          </a:xfrm>
        </p:spPr>
        <p:txBody>
          <a:bodyPr anchor="b"/>
          <a:lstStyle>
            <a:lvl1pPr algn="l">
              <a:defRPr sz="9100" b="1"/>
            </a:lvl1pPr>
          </a:lstStyle>
          <a:p>
            <a:r>
              <a:rPr lang="en-US"/>
              <a:t>Click to edit Master title style</a:t>
            </a:r>
            <a:endParaRPr lang="en-CA"/>
          </a:p>
        </p:txBody>
      </p:sp>
      <p:sp>
        <p:nvSpPr>
          <p:cNvPr id="3" name="Picture Placeholder 2"/>
          <p:cNvSpPr>
            <a:spLocks noGrp="1"/>
          </p:cNvSpPr>
          <p:nvPr>
            <p:ph type="pic" idx="1"/>
          </p:nvPr>
        </p:nvSpPr>
        <p:spPr>
          <a:xfrm>
            <a:off x="8390771" y="2705572"/>
            <a:ext cx="25685115" cy="18167985"/>
          </a:xfrm>
        </p:spPr>
        <p:txBody>
          <a:bodyPr/>
          <a:lstStyle>
            <a:lvl1pPr marL="0" indent="0">
              <a:buNone/>
              <a:defRPr sz="14600"/>
            </a:lvl1pPr>
            <a:lvl2pPr marL="2088215" indent="0">
              <a:buNone/>
              <a:defRPr sz="12800"/>
            </a:lvl2pPr>
            <a:lvl3pPr marL="4176431" indent="0">
              <a:buNone/>
              <a:defRPr sz="11000"/>
            </a:lvl3pPr>
            <a:lvl4pPr marL="6264646" indent="0">
              <a:buNone/>
              <a:defRPr sz="9100"/>
            </a:lvl4pPr>
            <a:lvl5pPr marL="8352861" indent="0">
              <a:buNone/>
              <a:defRPr sz="9100"/>
            </a:lvl5pPr>
            <a:lvl6pPr marL="10441076" indent="0">
              <a:buNone/>
              <a:defRPr sz="9100"/>
            </a:lvl6pPr>
            <a:lvl7pPr marL="12529292" indent="0">
              <a:buNone/>
              <a:defRPr sz="9100"/>
            </a:lvl7pPr>
            <a:lvl8pPr marL="14617507" indent="0">
              <a:buNone/>
              <a:defRPr sz="9100"/>
            </a:lvl8pPr>
            <a:lvl9pPr marL="16705722" indent="0">
              <a:buNone/>
              <a:defRPr sz="9100"/>
            </a:lvl9pPr>
          </a:lstStyle>
          <a:p>
            <a:endParaRPr lang="en-CA"/>
          </a:p>
        </p:txBody>
      </p:sp>
      <p:sp>
        <p:nvSpPr>
          <p:cNvPr id="4" name="Text Placeholder 3"/>
          <p:cNvSpPr>
            <a:spLocks noGrp="1"/>
          </p:cNvSpPr>
          <p:nvPr>
            <p:ph type="body" sz="half" idx="2"/>
          </p:nvPr>
        </p:nvSpPr>
        <p:spPr>
          <a:xfrm>
            <a:off x="8390771" y="23698288"/>
            <a:ext cx="25685115" cy="3553689"/>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7509B4A-2E11-444A-8FCE-E78873839832}" type="datetimeFigureOut">
              <a:rPr lang="en-CA" smtClean="0"/>
              <a:t>2024-04-10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17174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2024-04-10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2827512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303730" y="5355072"/>
            <a:ext cx="45090158" cy="114075602"/>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10018386" y="5355072"/>
            <a:ext cx="134571871" cy="1140756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7509B4A-2E11-444A-8FCE-E78873839832}" type="datetimeFigureOut">
              <a:rPr lang="en-CA" smtClean="0"/>
              <a:t>2024-04-10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FDB51B-AA44-4F9F-A0AA-8226646F0E0A}" type="slidenum">
              <a:rPr lang="en-CA" smtClean="0"/>
              <a:t>‹#›</a:t>
            </a:fld>
            <a:endParaRPr lang="en-CA"/>
          </a:p>
        </p:txBody>
      </p:sp>
    </p:spTree>
    <p:extLst>
      <p:ext uri="{BB962C8B-B14F-4D97-AF65-F5344CB8AC3E}">
        <p14:creationId xmlns:p14="http://schemas.microsoft.com/office/powerpoint/2010/main" val="3574522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40426" y="1212603"/>
            <a:ext cx="38527673" cy="5046663"/>
          </a:xfrm>
          <a:prstGeom prst="rect">
            <a:avLst/>
          </a:prstGeom>
        </p:spPr>
        <p:txBody>
          <a:bodyPr vert="horz" lIns="417643" tIns="208822" rIns="417643" bIns="208822"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2140426" y="7065330"/>
            <a:ext cx="38527673" cy="19983384"/>
          </a:xfrm>
          <a:prstGeom prst="rect">
            <a:avLst/>
          </a:prstGeom>
        </p:spPr>
        <p:txBody>
          <a:bodyPr vert="horz" lIns="417643" tIns="208822" rIns="417643" bIns="20882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2140426" y="28065053"/>
            <a:ext cx="9988656" cy="1612128"/>
          </a:xfrm>
          <a:prstGeom prst="rect">
            <a:avLst/>
          </a:prstGeom>
        </p:spPr>
        <p:txBody>
          <a:bodyPr vert="horz" lIns="417643" tIns="208822" rIns="417643" bIns="208822" rtlCol="0" anchor="ctr"/>
          <a:lstStyle>
            <a:lvl1pPr algn="l">
              <a:defRPr sz="5500">
                <a:solidFill>
                  <a:schemeClr val="tx1">
                    <a:tint val="75000"/>
                  </a:schemeClr>
                </a:solidFill>
              </a:defRPr>
            </a:lvl1pPr>
          </a:lstStyle>
          <a:p>
            <a:fld id="{B7509B4A-2E11-444A-8FCE-E78873839832}" type="datetimeFigureOut">
              <a:rPr lang="en-CA" smtClean="0"/>
              <a:t>2024-04-10</a:t>
            </a:fld>
            <a:endParaRPr lang="en-CA"/>
          </a:p>
        </p:txBody>
      </p:sp>
      <p:sp>
        <p:nvSpPr>
          <p:cNvPr id="5" name="Footer Placeholder 4"/>
          <p:cNvSpPr>
            <a:spLocks noGrp="1"/>
          </p:cNvSpPr>
          <p:nvPr>
            <p:ph type="ftr" sz="quarter" idx="3"/>
          </p:nvPr>
        </p:nvSpPr>
        <p:spPr>
          <a:xfrm>
            <a:off x="14626246" y="28065053"/>
            <a:ext cx="13556033" cy="1612128"/>
          </a:xfrm>
          <a:prstGeom prst="rect">
            <a:avLst/>
          </a:prstGeom>
        </p:spPr>
        <p:txBody>
          <a:bodyPr vert="horz" lIns="417643" tIns="208822" rIns="417643" bIns="208822" rtlCol="0" anchor="ctr"/>
          <a:lstStyle>
            <a:lvl1pPr algn="ctr">
              <a:defRPr sz="55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30679443" y="28065053"/>
            <a:ext cx="9988656" cy="1612128"/>
          </a:xfrm>
          <a:prstGeom prst="rect">
            <a:avLst/>
          </a:prstGeom>
        </p:spPr>
        <p:txBody>
          <a:bodyPr vert="horz" lIns="417643" tIns="208822" rIns="417643" bIns="208822" rtlCol="0" anchor="ctr"/>
          <a:lstStyle>
            <a:lvl1pPr algn="r">
              <a:defRPr sz="5500">
                <a:solidFill>
                  <a:schemeClr val="tx1">
                    <a:tint val="75000"/>
                  </a:schemeClr>
                </a:solidFill>
              </a:defRPr>
            </a:lvl1pPr>
          </a:lstStyle>
          <a:p>
            <a:fld id="{74FDB51B-AA44-4F9F-A0AA-8226646F0E0A}" type="slidenum">
              <a:rPr lang="en-CA" smtClean="0"/>
              <a:t>‹#›</a:t>
            </a:fld>
            <a:endParaRPr lang="en-CA"/>
          </a:p>
        </p:txBody>
      </p:sp>
    </p:spTree>
    <p:extLst>
      <p:ext uri="{BB962C8B-B14F-4D97-AF65-F5344CB8AC3E}">
        <p14:creationId xmlns:p14="http://schemas.microsoft.com/office/powerpoint/2010/main" val="114506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431" rtl="0" eaLnBrk="1" latinLnBrk="0" hangingPunct="1">
        <a:spcBef>
          <a:spcPct val="0"/>
        </a:spcBef>
        <a:buNone/>
        <a:defRPr sz="20100" kern="1200">
          <a:solidFill>
            <a:schemeClr val="tx1"/>
          </a:solidFill>
          <a:latin typeface="+mj-lt"/>
          <a:ea typeface="+mj-ea"/>
          <a:cs typeface="+mj-cs"/>
        </a:defRPr>
      </a:lvl1pPr>
    </p:titleStyle>
    <p:bodyStyle>
      <a:lvl1pPr marL="1566161" indent="-1566161" algn="l" defTabSz="4176431"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350" indent="-1305135" algn="l" defTabSz="4176431"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0538" indent="-1044108" algn="l" defTabSz="4176431"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753"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696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p:cNvSpPr/>
          <p:nvPr/>
        </p:nvSpPr>
        <p:spPr>
          <a:xfrm>
            <a:off x="14494609" y="19249216"/>
            <a:ext cx="13767838" cy="288375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000" dirty="0">
                <a:latin typeface="Arial" panose="020B0604020202020204" pitchFamily="34" charset="0"/>
                <a:cs typeface="Arial" panose="020B0604020202020204" pitchFamily="34" charset="0"/>
              </a:rPr>
              <a:t>Used to estimate the Hazard Ratio between two groups</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a:t>
            </a:r>
          </a:p>
          <a:p>
            <a:pPr marL="742950" lvl="1" indent="-285750" fontAlgn="base">
              <a:buFont typeface="Arial" panose="020B0604020202020204" pitchFamily="34" charset="0"/>
              <a:buChar char="•"/>
            </a:pPr>
            <a:r>
              <a:rPr lang="en-US" sz="3000" b="1" dirty="0">
                <a:solidFill>
                  <a:srgbClr val="000000"/>
                </a:solidFill>
                <a:latin typeface="Arial" panose="020B0604020202020204" pitchFamily="34" charset="0"/>
                <a:ea typeface="Lato" panose="020F0502020204030203" pitchFamily="34" charset="0"/>
                <a:cs typeface="Arial" panose="020B0604020202020204" pitchFamily="34" charset="0"/>
              </a:rPr>
              <a:t>Hazard </a:t>
            </a:r>
            <a:r>
              <a:rPr lang="en-US" sz="3000" b="1" dirty="0">
                <a:latin typeface="Arial" panose="020B0604020202020204" pitchFamily="34" charset="0"/>
                <a:cs typeface="Arial" panose="020B0604020202020204" pitchFamily="34" charset="0"/>
              </a:rPr>
              <a:t>Ratio</a:t>
            </a:r>
            <a:r>
              <a:rPr lang="en-US" sz="3000" dirty="0">
                <a:latin typeface="Arial" panose="020B0604020202020204" pitchFamily="34" charset="0"/>
                <a:cs typeface="Arial" panose="020B0604020202020204" pitchFamily="34" charset="0"/>
              </a:rPr>
              <a:t>: Risk of event in Group 1 / Risk of event in group 2</a:t>
            </a:r>
          </a:p>
          <a:p>
            <a:pPr marL="742950" lvl="1" indent="-285750" algn="l" rtl="0" fontAlgn="base">
              <a:spcBef>
                <a:spcPts val="0"/>
              </a:spcBef>
              <a:spcAft>
                <a:spcPts val="0"/>
              </a:spcAft>
              <a:buFont typeface="Arial" panose="020B0604020202020204" pitchFamily="34" charset="0"/>
              <a:buChar char="•"/>
            </a:pPr>
            <a:r>
              <a:rPr lang="en-US" sz="3000" b="1" dirty="0">
                <a:latin typeface="Arial" panose="020B0604020202020204" pitchFamily="34" charset="0"/>
                <a:cs typeface="Arial" panose="020B0604020202020204" pitchFamily="34" charset="0"/>
              </a:rPr>
              <a:t>Risk of event </a:t>
            </a:r>
            <a:r>
              <a:rPr lang="en-US" sz="3000" dirty="0">
                <a:latin typeface="Arial" panose="020B0604020202020204" pitchFamily="34" charset="0"/>
                <a:cs typeface="Arial" panose="020B0604020202020204" pitchFamily="34" charset="0"/>
              </a:rPr>
              <a:t>= Probability of the event occurring for an individual in that group at any given point in time</a:t>
            </a:r>
          </a:p>
          <a:p>
            <a:pPr marL="457200" indent="-457200">
              <a:buFont typeface="Arial" panose="020B0604020202020204" pitchFamily="34" charset="0"/>
              <a:buChar char="•"/>
            </a:pPr>
            <a:r>
              <a:rPr lang="en-US" sz="3000" dirty="0">
                <a:latin typeface="Arial" panose="020B0604020202020204" pitchFamily="34" charset="0"/>
                <a:cs typeface="Arial" panose="020B0604020202020204" pitchFamily="34" charset="0"/>
              </a:rPr>
              <a:t>Can be used for multivariate analysis (multiple predictors) </a:t>
            </a:r>
          </a:p>
          <a:p>
            <a:pPr marL="457200" indent="-457200">
              <a:buFont typeface="Arial" panose="020B0604020202020204" pitchFamily="34" charset="0"/>
              <a:buChar char="•"/>
            </a:pPr>
            <a:r>
              <a:rPr lang="en-US" sz="3000" dirty="0">
                <a:latin typeface="Arial" panose="020B0604020202020204" pitchFamily="34" charset="0"/>
                <a:cs typeface="Arial" panose="020B0604020202020204" pitchFamily="34" charset="0"/>
              </a:rPr>
              <a:t>Assumes proportional hazards over time</a:t>
            </a:r>
          </a:p>
        </p:txBody>
      </p:sp>
      <p:sp>
        <p:nvSpPr>
          <p:cNvPr id="24" name="Rectangle 23"/>
          <p:cNvSpPr/>
          <p:nvPr/>
        </p:nvSpPr>
        <p:spPr>
          <a:xfrm>
            <a:off x="14494609" y="6517471"/>
            <a:ext cx="13767838" cy="1512207"/>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rPr>
              <a:t>Curve that depicts relationship between time and probability of survival</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rPr>
              <a:t>Used </a:t>
            </a:r>
            <a:r>
              <a:rPr lang="en-US" sz="3000" dirty="0">
                <a:solidFill>
                  <a:srgbClr val="000000"/>
                </a:solidFill>
                <a:latin typeface="Arial" panose="020B0604020202020204" pitchFamily="34" charset="0"/>
              </a:rPr>
              <a:t>only </a:t>
            </a:r>
            <a:r>
              <a:rPr lang="en-US" sz="3000" b="0" i="0" u="none" strike="noStrike" dirty="0">
                <a:solidFill>
                  <a:srgbClr val="000000"/>
                </a:solidFill>
                <a:effectLst/>
                <a:latin typeface="Arial" panose="020B0604020202020204" pitchFamily="34" charset="0"/>
              </a:rPr>
              <a:t>for univariate analysis (one variable at a time)</a:t>
            </a: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rPr>
              <a:t>Best for visualizing the difference in survival probability between two groups</a:t>
            </a:r>
            <a:endParaRPr lang="en-US" sz="3000" b="0" i="0" u="none" strike="noStrike" dirty="0">
              <a:solidFill>
                <a:srgbClr val="000000"/>
              </a:solidFill>
              <a:effectLst/>
              <a:latin typeface="Arial" panose="020B0604020202020204" pitchFamily="34" charset="0"/>
            </a:endParaRPr>
          </a:p>
        </p:txBody>
      </p:sp>
      <p:sp>
        <p:nvSpPr>
          <p:cNvPr id="22" name="Rectangle 21"/>
          <p:cNvSpPr/>
          <p:nvPr/>
        </p:nvSpPr>
        <p:spPr>
          <a:xfrm>
            <a:off x="378594" y="6639330"/>
            <a:ext cx="13656134" cy="5558702"/>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endParaRPr lang="en-US" sz="28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ea typeface="Lato" panose="020F0502020204030203" pitchFamily="34" charset="0"/>
                <a:cs typeface="Arial" panose="020B0604020202020204" pitchFamily="34" charset="0"/>
              </a:rPr>
              <a:t>S</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tatistical analysis used for analyzing the relationship between time and an event of interest occurring for individuals (</a:t>
            </a:r>
            <a:r>
              <a:rPr lang="en-US" sz="3000" i="1" dirty="0">
                <a:solidFill>
                  <a:srgbClr val="000000"/>
                </a:solidFill>
                <a:latin typeface="Arial" panose="020B0604020202020204" pitchFamily="34" charset="0"/>
                <a:ea typeface="Lato" panose="020F0502020204030203" pitchFamily="34" charset="0"/>
                <a:cs typeface="Arial" panose="020B0604020202020204" pitchFamily="34" charset="0"/>
              </a:rPr>
              <a:t>t</a:t>
            </a:r>
            <a:r>
              <a:rPr lang="en-US" sz="3000" b="0" i="1"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ime-to-event</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data) </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Medical events of interest include death, recovering from treatment, contracting a disease, etc. </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Variables needed include </a:t>
            </a:r>
            <a:r>
              <a:rPr lang="en-US" sz="3000" b="0" i="1"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id</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of the individual, </a:t>
            </a:r>
            <a:r>
              <a:rPr lang="en-US" sz="3000" b="0" i="1"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time</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and </a:t>
            </a:r>
            <a:r>
              <a:rPr lang="en-US" sz="3000" b="0" i="1"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status</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(0 if the event has not occurred at that time for that individual; 1 if it has)  </a:t>
            </a:r>
          </a:p>
          <a:p>
            <a:pPr algn="l" rtl="0" fontAlgn="base">
              <a:spcBef>
                <a:spcPts val="0"/>
              </a:spcBef>
              <a:spcAft>
                <a:spcPts val="0"/>
              </a:spcAft>
            </a:pPr>
            <a:endParaRPr lang="en-US" sz="12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Objectives </a:t>
            </a:r>
            <a:endParaRPr lang="en-US" sz="28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Demonstrate Survival Analysis using Kaplan Meier Curves, Cox Proportional Hazards Analysis, and Log-Rank Tests</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Use real case-study data to demonstrate medical applications</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Use R packages to run analyses and create graphs</a:t>
            </a:r>
          </a:p>
          <a:p>
            <a:pPr algn="ctr"/>
            <a:endParaRPr lang="en-US" sz="2800" dirty="0">
              <a:noFill/>
            </a:endParaRPr>
          </a:p>
        </p:txBody>
      </p:sp>
      <p:sp>
        <p:nvSpPr>
          <p:cNvPr id="4" name="Text Box 5"/>
          <p:cNvSpPr txBox="1">
            <a:spLocks noChangeArrowheads="1"/>
          </p:cNvSpPr>
          <p:nvPr/>
        </p:nvSpPr>
        <p:spPr bwMode="auto">
          <a:xfrm>
            <a:off x="0" y="16896"/>
            <a:ext cx="42808525" cy="5232202"/>
          </a:xfrm>
          <a:prstGeom prst="rect">
            <a:avLst/>
          </a:prstGeom>
          <a:solidFill>
            <a:srgbClr val="63A01F">
              <a:alpha val="74902"/>
            </a:srgbClr>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9600" b="1" dirty="0">
                <a:latin typeface="Arial" panose="020B0604020202020204" pitchFamily="34" charset="0"/>
                <a:cs typeface="Arial" panose="020B0604020202020204" pitchFamily="34" charset="0"/>
              </a:rPr>
              <a:t>Introduction to Survival Analysis: </a:t>
            </a:r>
          </a:p>
          <a:p>
            <a:pPr algn="ctr"/>
            <a:r>
              <a:rPr lang="en-US" sz="9600" b="1" dirty="0">
                <a:latin typeface="Arial" panose="020B0604020202020204" pitchFamily="34" charset="0"/>
                <a:cs typeface="Arial" panose="020B0604020202020204" pitchFamily="34" charset="0"/>
              </a:rPr>
              <a:t>Modeling Medical Time-to-Event Data Using R Software Packages</a:t>
            </a:r>
          </a:p>
          <a:p>
            <a:pPr algn="ctr"/>
            <a:r>
              <a:rPr lang="en-US" sz="5400" b="1" dirty="0">
                <a:latin typeface="Arial" panose="020B0604020202020204" pitchFamily="34" charset="0"/>
                <a:cs typeface="Arial" panose="020B0604020202020204" pitchFamily="34" charset="0"/>
              </a:rPr>
              <a:t>Kristen </a:t>
            </a:r>
            <a:r>
              <a:rPr lang="en-US" sz="5400" b="1" dirty="0" err="1">
                <a:latin typeface="Arial" panose="020B0604020202020204" pitchFamily="34" charset="0"/>
                <a:cs typeface="Arial" panose="020B0604020202020204" pitchFamily="34" charset="0"/>
              </a:rPr>
              <a:t>Varin</a:t>
            </a:r>
            <a:r>
              <a:rPr lang="en-US" sz="5400" b="1" dirty="0">
                <a:latin typeface="Arial" panose="020B0604020202020204" pitchFamily="34" charset="0"/>
                <a:cs typeface="Arial" panose="020B0604020202020204" pitchFamily="34" charset="0"/>
              </a:rPr>
              <a:t> ‘24</a:t>
            </a:r>
            <a:endParaRPr lang="en-US" sz="5400" b="1" baseline="30000" dirty="0">
              <a:latin typeface="Arial" panose="020B0604020202020204" pitchFamily="34" charset="0"/>
              <a:cs typeface="Arial" panose="020B0604020202020204" pitchFamily="34" charset="0"/>
            </a:endParaRPr>
          </a:p>
          <a:p>
            <a:pPr algn="ctr"/>
            <a:r>
              <a:rPr lang="en-US" sz="4400" b="1" dirty="0">
                <a:latin typeface="Arial" panose="020B0604020202020204" pitchFamily="34" charset="0"/>
                <a:cs typeface="Arial" panose="020B0604020202020204" pitchFamily="34" charset="0"/>
              </a:rPr>
              <a:t>Department of Mathematics, Computer Science, and Statistics at St. Lawrence University</a:t>
            </a:r>
          </a:p>
          <a:p>
            <a:pPr algn="ctr"/>
            <a:r>
              <a:rPr lang="en-US" sz="4400" b="1" dirty="0">
                <a:latin typeface="Arial" panose="020B0604020202020204" pitchFamily="34" charset="0"/>
                <a:cs typeface="Arial" panose="020B0604020202020204" pitchFamily="34" charset="0"/>
              </a:rPr>
              <a:t>Advised by Dr. Ivan </a:t>
            </a:r>
            <a:r>
              <a:rPr lang="en-US" sz="4400" b="1" dirty="0" err="1">
                <a:latin typeface="Arial" panose="020B0604020202020204" pitchFamily="34" charset="0"/>
                <a:cs typeface="Arial" panose="020B0604020202020204" pitchFamily="34" charset="0"/>
              </a:rPr>
              <a:t>Ramler</a:t>
            </a:r>
            <a:endParaRPr lang="en-US" sz="4400" b="1" dirty="0">
              <a:latin typeface="Arial" panose="020B0604020202020204" pitchFamily="34" charset="0"/>
              <a:cs typeface="Arial" panose="020B0604020202020204" pitchFamily="34" charset="0"/>
            </a:endParaRPr>
          </a:p>
        </p:txBody>
      </p:sp>
      <p:sp>
        <p:nvSpPr>
          <p:cNvPr id="20" name="Text Box 10"/>
          <p:cNvSpPr txBox="1">
            <a:spLocks noChangeArrowheads="1"/>
          </p:cNvSpPr>
          <p:nvPr/>
        </p:nvSpPr>
        <p:spPr bwMode="auto">
          <a:xfrm>
            <a:off x="28795501" y="27737389"/>
            <a:ext cx="13749338" cy="21403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sz="4400" b="1" dirty="0">
                <a:latin typeface="Arial" panose="020B0604020202020204" pitchFamily="34" charset="0"/>
                <a:cs typeface="Arial" panose="020B0604020202020204" pitchFamily="34" charset="0"/>
              </a:rPr>
              <a:t>Data Source Cited</a:t>
            </a:r>
            <a:endParaRPr lang="en-US" sz="4400" b="0" i="0" u="none" strike="noStrike" dirty="0">
              <a:solidFill>
                <a:srgbClr val="000000"/>
              </a:solidFill>
              <a:effectLst/>
              <a:latin typeface="Arial" panose="020B0604020202020204" pitchFamily="34" charset="0"/>
              <a:cs typeface="Arial" panose="020B0604020202020204" pitchFamily="34" charset="0"/>
            </a:endParaRPr>
          </a:p>
          <a:p>
            <a:pPr marL="457200" indent="-457200" eaLnBrk="1" hangingPunct="1">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Ahmad, Tanvir, et al. “Survival Analysis of Heart Failure Patients: A Case Study.” </a:t>
            </a:r>
            <a:r>
              <a:rPr lang="en-US" sz="3000" b="0" i="1" u="none" strike="noStrike" dirty="0">
                <a:solidFill>
                  <a:srgbClr val="000000"/>
                </a:solidFill>
                <a:effectLst/>
                <a:latin typeface="Arial" panose="020B0604020202020204" pitchFamily="34" charset="0"/>
                <a:cs typeface="Arial" panose="020B0604020202020204" pitchFamily="34" charset="0"/>
              </a:rPr>
              <a:t>PLOS ONE</a:t>
            </a:r>
            <a:r>
              <a:rPr lang="en-US" sz="3000" b="0" i="0" u="none" strike="noStrike" dirty="0">
                <a:solidFill>
                  <a:srgbClr val="000000"/>
                </a:solidFill>
                <a:effectLst/>
                <a:latin typeface="Arial" panose="020B0604020202020204" pitchFamily="34" charset="0"/>
                <a:cs typeface="Arial" panose="020B0604020202020204" pitchFamily="34" charset="0"/>
              </a:rPr>
              <a:t>, Public Library of Science, 20 July 2017, </a:t>
            </a:r>
            <a:r>
              <a:rPr lang="en-US" sz="3000" b="0" i="0" u="none" strike="noStrike" dirty="0" err="1">
                <a:solidFill>
                  <a:srgbClr val="000000"/>
                </a:solidFill>
                <a:effectLst/>
                <a:latin typeface="Arial" panose="020B0604020202020204" pitchFamily="34" charset="0"/>
                <a:cs typeface="Arial" panose="020B0604020202020204" pitchFamily="34" charset="0"/>
              </a:rPr>
              <a:t>journals.plos.org</a:t>
            </a:r>
            <a:r>
              <a:rPr lang="en-US" sz="3000" b="0" i="0" u="none" strike="noStrike" dirty="0">
                <a:solidFill>
                  <a:srgbClr val="000000"/>
                </a:solidFill>
                <a:effectLst/>
                <a:latin typeface="Arial" panose="020B0604020202020204" pitchFamily="34" charset="0"/>
                <a:cs typeface="Arial" panose="020B0604020202020204" pitchFamily="34" charset="0"/>
              </a:rPr>
              <a:t>/</a:t>
            </a:r>
            <a:r>
              <a:rPr lang="en-US" sz="3000" b="0" i="0" u="none" strike="noStrike" dirty="0" err="1">
                <a:solidFill>
                  <a:srgbClr val="000000"/>
                </a:solidFill>
                <a:effectLst/>
                <a:latin typeface="Arial" panose="020B0604020202020204" pitchFamily="34" charset="0"/>
                <a:cs typeface="Arial" panose="020B0604020202020204" pitchFamily="34" charset="0"/>
              </a:rPr>
              <a:t>plosone</a:t>
            </a:r>
            <a:r>
              <a:rPr lang="en-US" sz="3000" b="0" i="0" u="none" strike="noStrike" dirty="0">
                <a:solidFill>
                  <a:srgbClr val="000000"/>
                </a:solidFill>
                <a:effectLst/>
                <a:latin typeface="Arial" panose="020B0604020202020204" pitchFamily="34" charset="0"/>
                <a:cs typeface="Arial" panose="020B0604020202020204" pitchFamily="34" charset="0"/>
              </a:rPr>
              <a:t>/</a:t>
            </a:r>
            <a:r>
              <a:rPr lang="en-US" sz="3000" b="0" i="0" u="none" strike="noStrike" dirty="0" err="1">
                <a:solidFill>
                  <a:srgbClr val="000000"/>
                </a:solidFill>
                <a:effectLst/>
                <a:latin typeface="Arial" panose="020B0604020202020204" pitchFamily="34" charset="0"/>
                <a:cs typeface="Arial" panose="020B0604020202020204" pitchFamily="34" charset="0"/>
              </a:rPr>
              <a:t>article?id</a:t>
            </a:r>
            <a:r>
              <a:rPr lang="en-US" sz="3000" b="0" i="0" u="none" strike="noStrike" dirty="0">
                <a:solidFill>
                  <a:srgbClr val="000000"/>
                </a:solidFill>
                <a:effectLst/>
                <a:latin typeface="Arial" panose="020B0604020202020204" pitchFamily="34" charset="0"/>
                <a:cs typeface="Arial" panose="020B0604020202020204" pitchFamily="34" charset="0"/>
              </a:rPr>
              <a:t>=10.1371%2Fjournal.pone.0181001. </a:t>
            </a:r>
            <a:endParaRPr lang="en-US" sz="3000" dirty="0">
              <a:solidFill>
                <a:srgbClr val="000000"/>
              </a:solidFill>
              <a:latin typeface="Arial" panose="020B0604020202020204" pitchFamily="34" charset="0"/>
              <a:cs typeface="Arial" panose="020B0604020202020204" pitchFamily="34" charset="0"/>
            </a:endParaRPr>
          </a:p>
        </p:txBody>
      </p:sp>
      <p:sp>
        <p:nvSpPr>
          <p:cNvPr id="14" name="Text Box 10"/>
          <p:cNvSpPr txBox="1">
            <a:spLocks noChangeArrowheads="1"/>
          </p:cNvSpPr>
          <p:nvPr/>
        </p:nvSpPr>
        <p:spPr bwMode="auto">
          <a:xfrm>
            <a:off x="14578511" y="17413721"/>
            <a:ext cx="13717830" cy="401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2. Kaplan Meier Curves for Two Groups of Heart Failure Patients</a:t>
            </a:r>
            <a:endParaRPr lang="en-CA" sz="2100" b="1" dirty="0">
              <a:latin typeface="Arial" panose="020B0604020202020204" pitchFamily="34" charset="0"/>
              <a:cs typeface="Arial" panose="020B0604020202020204" pitchFamily="34" charset="0"/>
            </a:endParaRPr>
          </a:p>
        </p:txBody>
      </p:sp>
      <p:sp>
        <p:nvSpPr>
          <p:cNvPr id="7" name="TextBox 6"/>
          <p:cNvSpPr txBox="1"/>
          <p:nvPr/>
        </p:nvSpPr>
        <p:spPr>
          <a:xfrm>
            <a:off x="7772400" y="5283200"/>
            <a:ext cx="184666" cy="1354217"/>
          </a:xfrm>
          <a:prstGeom prst="rect">
            <a:avLst/>
          </a:prstGeom>
          <a:noFill/>
        </p:spPr>
        <p:txBody>
          <a:bodyPr wrap="none" rtlCol="0">
            <a:spAutoFit/>
          </a:bodyPr>
          <a:lstStyle/>
          <a:p>
            <a:endParaRPr lang="en-US" dirty="0"/>
          </a:p>
        </p:txBody>
      </p:sp>
      <p:sp>
        <p:nvSpPr>
          <p:cNvPr id="40" name="Text Box 10"/>
          <p:cNvSpPr txBox="1">
            <a:spLocks noChangeArrowheads="1"/>
          </p:cNvSpPr>
          <p:nvPr/>
        </p:nvSpPr>
        <p:spPr bwMode="auto">
          <a:xfrm>
            <a:off x="144801" y="22020922"/>
            <a:ext cx="13689208" cy="7245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1. Depiction of Time-To-Event Data with Censored Observations </a:t>
            </a:r>
            <a:r>
              <a:rPr lang="en-US" sz="2100" dirty="0">
                <a:latin typeface="Arial" panose="020B0604020202020204" pitchFamily="34" charset="0"/>
                <a:cs typeface="Arial" panose="020B0604020202020204" pitchFamily="34" charset="0"/>
              </a:rPr>
              <a:t>(as adapted from https://</a:t>
            </a:r>
            <a:r>
              <a:rPr lang="en-US" sz="2100" dirty="0" err="1">
                <a:latin typeface="Arial" panose="020B0604020202020204" pitchFamily="34" charset="0"/>
                <a:cs typeface="Arial" panose="020B0604020202020204" pitchFamily="34" charset="0"/>
              </a:rPr>
              <a:t>medium.com</a:t>
            </a:r>
            <a:r>
              <a:rPr lang="en-US" sz="2100" dirty="0">
                <a:latin typeface="Arial" panose="020B0604020202020204" pitchFamily="34" charset="0"/>
                <a:cs typeface="Arial" panose="020B0604020202020204" pitchFamily="34" charset="0"/>
              </a:rPr>
              <a:t>/@</a:t>
            </a:r>
            <a:r>
              <a:rPr lang="en-US" sz="2100" dirty="0" err="1">
                <a:latin typeface="Arial" panose="020B0604020202020204" pitchFamily="34" charset="0"/>
                <a:cs typeface="Arial" panose="020B0604020202020204" pitchFamily="34" charset="0"/>
              </a:rPr>
              <a:t>Statistician_Leboo</a:t>
            </a:r>
            <a:r>
              <a:rPr lang="en-US" sz="2100" dirty="0">
                <a:latin typeface="Arial" panose="020B0604020202020204" pitchFamily="34" charset="0"/>
                <a:cs typeface="Arial" panose="020B0604020202020204" pitchFamily="34" charset="0"/>
              </a:rPr>
              <a:t>/introduction-to-survival-analysis-992cd4520d4f)</a:t>
            </a:r>
            <a:endParaRPr lang="en-CA" sz="2100" dirty="0">
              <a:latin typeface="Arial" panose="020B0604020202020204" pitchFamily="34" charset="0"/>
              <a:cs typeface="Arial" panose="020B0604020202020204" pitchFamily="34" charset="0"/>
            </a:endParaRPr>
          </a:p>
        </p:txBody>
      </p:sp>
      <p:pic>
        <p:nvPicPr>
          <p:cNvPr id="1028" name="Picture 4">
            <a:extLst>
              <a:ext uri="{FF2B5EF4-FFF2-40B4-BE49-F238E27FC236}">
                <a16:creationId xmlns:a16="http://schemas.microsoft.com/office/drawing/2014/main" id="{2E701EB2-7746-6C28-4AC1-E8CED57F23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48" t="5326" r="3292" b="21460"/>
          <a:stretch/>
        </p:blipFill>
        <p:spPr bwMode="auto">
          <a:xfrm>
            <a:off x="234362" y="16139993"/>
            <a:ext cx="10604540" cy="556563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E6157EB8-11EB-373B-133A-5D349E866D27}"/>
              </a:ext>
            </a:extLst>
          </p:cNvPr>
          <p:cNvSpPr txBox="1"/>
          <p:nvPr/>
        </p:nvSpPr>
        <p:spPr>
          <a:xfrm>
            <a:off x="369997" y="5498643"/>
            <a:ext cx="13767838" cy="923330"/>
          </a:xfrm>
          <a:prstGeom prst="rect">
            <a:avLst/>
          </a:prstGeom>
          <a:solidFill>
            <a:schemeClr val="accent3">
              <a:lumMod val="40000"/>
              <a:lumOff val="60000"/>
            </a:schemeClr>
          </a:solidFill>
        </p:spPr>
        <p:txBody>
          <a:bodyPr wrap="square" rtlCol="0">
            <a:spAutoFit/>
          </a:bodyPr>
          <a:lstStyle/>
          <a:p>
            <a:pPr algn="ctr" eaLnBrk="1" hangingPunct="1"/>
            <a:r>
              <a:rPr lang="en-US" sz="5400" b="1" dirty="0">
                <a:latin typeface="Arial" panose="020B0604020202020204" pitchFamily="34" charset="0"/>
                <a:cs typeface="Arial" panose="020B0604020202020204" pitchFamily="34" charset="0"/>
              </a:rPr>
              <a:t>1. Survival Analysis</a:t>
            </a:r>
          </a:p>
        </p:txBody>
      </p:sp>
      <p:sp>
        <p:nvSpPr>
          <p:cNvPr id="52" name="TextBox 51">
            <a:extLst>
              <a:ext uri="{FF2B5EF4-FFF2-40B4-BE49-F238E27FC236}">
                <a16:creationId xmlns:a16="http://schemas.microsoft.com/office/drawing/2014/main" id="{C7AE265B-0527-AB1C-8FC4-EDE596BB452B}"/>
              </a:ext>
            </a:extLst>
          </p:cNvPr>
          <p:cNvSpPr txBox="1"/>
          <p:nvPr/>
        </p:nvSpPr>
        <p:spPr>
          <a:xfrm>
            <a:off x="14520343" y="5506876"/>
            <a:ext cx="13767838" cy="923330"/>
          </a:xfrm>
          <a:prstGeom prst="rect">
            <a:avLst/>
          </a:prstGeom>
          <a:solidFill>
            <a:schemeClr val="accent3">
              <a:lumMod val="40000"/>
              <a:lumOff val="60000"/>
            </a:schemeClr>
          </a:solidFill>
        </p:spPr>
        <p:txBody>
          <a:bodyPr wrap="square" rtlCol="0">
            <a:spAutoFit/>
          </a:bodyPr>
          <a:lstStyle/>
          <a:p>
            <a:pPr algn="ctr" eaLnBrk="1" hangingPunct="1"/>
            <a:r>
              <a:rPr lang="en-US" sz="5400" b="1" dirty="0">
                <a:latin typeface="Arial" panose="020B0604020202020204" pitchFamily="34" charset="0"/>
                <a:cs typeface="Arial" panose="020B0604020202020204" pitchFamily="34" charset="0"/>
              </a:rPr>
              <a:t>2. Kaplan Meier Curve</a:t>
            </a:r>
          </a:p>
        </p:txBody>
      </p:sp>
      <p:sp>
        <p:nvSpPr>
          <p:cNvPr id="53" name="TextBox 52">
            <a:extLst>
              <a:ext uri="{FF2B5EF4-FFF2-40B4-BE49-F238E27FC236}">
                <a16:creationId xmlns:a16="http://schemas.microsoft.com/office/drawing/2014/main" id="{AA320527-904F-2BB5-627A-323165682290}"/>
              </a:ext>
            </a:extLst>
          </p:cNvPr>
          <p:cNvSpPr txBox="1"/>
          <p:nvPr/>
        </p:nvSpPr>
        <p:spPr>
          <a:xfrm>
            <a:off x="28670690" y="5478471"/>
            <a:ext cx="13767838" cy="923330"/>
          </a:xfrm>
          <a:prstGeom prst="rect">
            <a:avLst/>
          </a:prstGeom>
          <a:solidFill>
            <a:schemeClr val="accent3">
              <a:lumMod val="40000"/>
              <a:lumOff val="60000"/>
            </a:schemeClr>
          </a:solidFill>
        </p:spPr>
        <p:txBody>
          <a:bodyPr wrap="square" rtlCol="0">
            <a:spAutoFit/>
          </a:bodyPr>
          <a:lstStyle/>
          <a:p>
            <a:pPr algn="ctr" eaLnBrk="1" hangingPunct="1"/>
            <a:r>
              <a:rPr lang="en-US" sz="5400" b="1" dirty="0">
                <a:latin typeface="Arial" panose="020B0604020202020204" pitchFamily="34" charset="0"/>
                <a:cs typeface="Arial" panose="020B0604020202020204" pitchFamily="34" charset="0"/>
              </a:rPr>
              <a:t>4. Log-Rank Test</a:t>
            </a:r>
          </a:p>
        </p:txBody>
      </p:sp>
      <p:sp>
        <p:nvSpPr>
          <p:cNvPr id="54" name="Rectangle 53">
            <a:extLst>
              <a:ext uri="{FF2B5EF4-FFF2-40B4-BE49-F238E27FC236}">
                <a16:creationId xmlns:a16="http://schemas.microsoft.com/office/drawing/2014/main" id="{5B3E814C-9EB2-E93B-B59E-EAF0CE371590}"/>
              </a:ext>
            </a:extLst>
          </p:cNvPr>
          <p:cNvSpPr/>
          <p:nvPr/>
        </p:nvSpPr>
        <p:spPr>
          <a:xfrm>
            <a:off x="28734776" y="17533595"/>
            <a:ext cx="13717830" cy="343124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rPr>
              <a:t>R Packages Used</a:t>
            </a:r>
            <a:endParaRPr lang="en-US" sz="2800" b="0" i="0" u="none" strike="noStrike" dirty="0">
              <a:solidFill>
                <a:srgbClr val="000000"/>
              </a:solidFill>
              <a:effectLst/>
              <a:latin typeface="Arial" panose="020B0604020202020204"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`survival()`</a:t>
            </a:r>
            <a:r>
              <a:rPr lang="en-US" sz="3000" dirty="0">
                <a:solidFill>
                  <a:srgbClr val="000000"/>
                </a:solidFill>
                <a:latin typeface="Arial" panose="020B0604020202020204" pitchFamily="34" charset="0"/>
                <a:cs typeface="Arial" panose="020B0604020202020204" pitchFamily="34" charset="0"/>
              </a:rPr>
              <a:t>: For creating survival objects and fitting models</a:t>
            </a:r>
            <a:endParaRPr lang="en-US" sz="3000" b="0" i="0" u="none" strike="noStrike" dirty="0">
              <a:solidFill>
                <a:srgbClr val="000000"/>
              </a:solidFill>
              <a:effectLst/>
              <a:latin typeface="Arial" panose="020B0604020202020204" pitchFamily="34" charset="0"/>
            </a:endParaRPr>
          </a:p>
          <a:p>
            <a:pPr marL="742950" lvl="1" indent="-285750" algn="l" rtl="0" fontAlgn="base">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a:t>
            </a:r>
            <a:r>
              <a:rPr lang="en-US" sz="3000" dirty="0" err="1">
                <a:solidFill>
                  <a:srgbClr val="000000"/>
                </a:solidFill>
                <a:latin typeface="Arial" panose="020B0604020202020204" pitchFamily="34" charset="0"/>
                <a:cs typeface="Arial" panose="020B0604020202020204" pitchFamily="34" charset="0"/>
              </a:rPr>
              <a:t>Surv</a:t>
            </a:r>
            <a:r>
              <a:rPr lang="en-US" sz="3000" dirty="0">
                <a:solidFill>
                  <a:srgbClr val="000000"/>
                </a:solidFill>
                <a:latin typeface="Arial" panose="020B0604020202020204" pitchFamily="34" charset="0"/>
                <a:cs typeface="Arial" panose="020B0604020202020204" pitchFamily="34" charset="0"/>
              </a:rPr>
              <a:t>`, </a:t>
            </a:r>
            <a:r>
              <a:rPr lang="en-US" sz="3000" dirty="0" err="1">
                <a:solidFill>
                  <a:srgbClr val="000000"/>
                </a:solidFill>
                <a:latin typeface="Arial" panose="020B0604020202020204" pitchFamily="34" charset="0"/>
                <a:cs typeface="Arial" panose="020B0604020202020204" pitchFamily="34" charset="0"/>
              </a:rPr>
              <a:t>Survfit</a:t>
            </a:r>
            <a:r>
              <a:rPr lang="en-US" sz="3000" dirty="0">
                <a:solidFill>
                  <a:srgbClr val="000000"/>
                </a:solidFill>
                <a:latin typeface="Arial" panose="020B0604020202020204" pitchFamily="34" charset="0"/>
                <a:cs typeface="Arial" panose="020B0604020202020204" pitchFamily="34" charset="0"/>
              </a:rPr>
              <a:t>`, `</a:t>
            </a:r>
            <a:r>
              <a:rPr lang="en-US" sz="3000" dirty="0" err="1">
                <a:solidFill>
                  <a:srgbClr val="000000"/>
                </a:solidFill>
                <a:latin typeface="Arial" panose="020B0604020202020204" pitchFamily="34" charset="0"/>
                <a:cs typeface="Arial" panose="020B0604020202020204" pitchFamily="34" charset="0"/>
              </a:rPr>
              <a:t>Suvdiff</a:t>
            </a:r>
            <a:r>
              <a:rPr lang="en-US" sz="3000" dirty="0">
                <a:solidFill>
                  <a:srgbClr val="000000"/>
                </a:solidFill>
                <a:latin typeface="Arial" panose="020B0604020202020204" pitchFamily="34" charset="0"/>
                <a:cs typeface="Arial" panose="020B0604020202020204" pitchFamily="34" charset="0"/>
              </a:rPr>
              <a:t>`</a:t>
            </a:r>
            <a:endParaRPr lang="en-US" sz="3000" b="0" i="0" u="none" strike="noStrike" dirty="0">
              <a:solidFill>
                <a:srgbClr val="000000"/>
              </a:solidFill>
              <a:effectLst/>
              <a:latin typeface="Arial" panose="020B0604020202020204" pitchFamily="34" charset="0"/>
              <a:cs typeface="Arial" panose="020B0604020202020204" pitchFamily="34" charset="0"/>
            </a:endParaRPr>
          </a:p>
          <a:p>
            <a:pPr marL="457200" indent="-457200" fontAlgn="base">
              <a:buFont typeface="Arial" panose="020B0604020202020204" pitchFamily="34" charset="0"/>
              <a:buChar char="•"/>
            </a:pPr>
            <a:r>
              <a:rPr lang="en-US" sz="3000" i="0" u="none" strike="noStrike" dirty="0">
                <a:solidFill>
                  <a:srgbClr val="000000"/>
                </a:solidFill>
                <a:effectLst/>
                <a:latin typeface="Arial" panose="020B0604020202020204" pitchFamily="34" charset="0"/>
                <a:cs typeface="Arial" panose="020B0604020202020204" pitchFamily="34" charset="0"/>
              </a:rPr>
              <a:t>`</a:t>
            </a:r>
            <a:r>
              <a:rPr lang="en-US" sz="3000" dirty="0" err="1">
                <a:solidFill>
                  <a:srgbClr val="000000"/>
                </a:solidFill>
                <a:latin typeface="Arial" panose="020B0604020202020204" pitchFamily="34" charset="0"/>
                <a:cs typeface="Arial" panose="020B0604020202020204" pitchFamily="34" charset="0"/>
              </a:rPr>
              <a:t>g</a:t>
            </a:r>
            <a:r>
              <a:rPr lang="en-US" sz="3000" i="0" u="none" strike="noStrike" dirty="0" err="1">
                <a:solidFill>
                  <a:srgbClr val="000000"/>
                </a:solidFill>
                <a:effectLst/>
                <a:latin typeface="Arial" panose="020B0604020202020204" pitchFamily="34" charset="0"/>
                <a:cs typeface="Arial" panose="020B0604020202020204" pitchFamily="34" charset="0"/>
              </a:rPr>
              <a:t>gsurvfit</a:t>
            </a:r>
            <a:r>
              <a:rPr lang="en-US" sz="3000" i="0" u="none" strike="noStrike" dirty="0">
                <a:solidFill>
                  <a:srgbClr val="000000"/>
                </a:solidFill>
                <a:effectLst/>
                <a:latin typeface="Arial" panose="020B0604020202020204" pitchFamily="34" charset="0"/>
                <a:cs typeface="Arial" panose="020B0604020202020204" pitchFamily="34" charset="0"/>
              </a:rPr>
              <a:t>()`</a:t>
            </a:r>
            <a:r>
              <a:rPr lang="en-US" sz="3000" dirty="0">
                <a:solidFill>
                  <a:srgbClr val="000000"/>
                </a:solidFill>
                <a:latin typeface="Arial" panose="020B0604020202020204" pitchFamily="34" charset="0"/>
                <a:cs typeface="Arial" panose="020B0604020202020204" pitchFamily="34" charset="0"/>
              </a:rPr>
              <a:t>: For plotting survival curves using survival objects</a:t>
            </a:r>
          </a:p>
          <a:p>
            <a:pPr marL="457200" indent="-457200" algn="l" rtl="0" fontAlgn="base">
              <a:spcBef>
                <a:spcPts val="0"/>
              </a:spcBef>
              <a:spcAft>
                <a:spcPts val="0"/>
              </a:spcAft>
              <a:buFont typeface="Arial" panose="020B0604020202020204" pitchFamily="34" charset="0"/>
              <a:buChar char="•"/>
            </a:pPr>
            <a:r>
              <a:rPr lang="en-US" sz="3000" i="0" u="none" strike="noStrike" dirty="0">
                <a:solidFill>
                  <a:srgbClr val="000000"/>
                </a:solidFill>
                <a:effectLst/>
                <a:latin typeface="Arial" panose="020B0604020202020204" pitchFamily="34" charset="0"/>
                <a:cs typeface="Arial" panose="020B0604020202020204" pitchFamily="34" charset="0"/>
              </a:rPr>
              <a:t>`</a:t>
            </a:r>
            <a:r>
              <a:rPr lang="en-US" sz="3000" i="0" u="none" strike="noStrike" dirty="0" err="1">
                <a:solidFill>
                  <a:srgbClr val="000000"/>
                </a:solidFill>
                <a:effectLst/>
                <a:latin typeface="Arial" panose="020B0604020202020204" pitchFamily="34" charset="0"/>
                <a:cs typeface="Arial" panose="020B0604020202020204" pitchFamily="34" charset="0"/>
              </a:rPr>
              <a:t>survminer</a:t>
            </a:r>
            <a:r>
              <a:rPr lang="en-US" sz="3000" i="0" u="none" strike="noStrike" dirty="0">
                <a:solidFill>
                  <a:srgbClr val="000000"/>
                </a:solidFill>
                <a:effectLst/>
                <a:latin typeface="Arial" panose="020B0604020202020204" pitchFamily="34" charset="0"/>
                <a:cs typeface="Arial" panose="020B0604020202020204" pitchFamily="34" charset="0"/>
              </a:rPr>
              <a:t>()`: For plotting survival curves</a:t>
            </a:r>
            <a:endParaRPr lang="en-US" sz="3000" b="0" i="0" u="none" strike="noStrike" dirty="0">
              <a:solidFill>
                <a:srgbClr val="000000"/>
              </a:solidFill>
              <a:effectLst/>
              <a:latin typeface="Arial" panose="020B0604020202020204" pitchFamily="34" charset="0"/>
            </a:endParaRPr>
          </a:p>
          <a:p>
            <a:pPr marL="742950" lvl="1" indent="-285750" algn="l" rtl="0" fontAlgn="base">
              <a:spcBef>
                <a:spcPts val="0"/>
              </a:spcBef>
              <a:spcAft>
                <a:spcPts val="0"/>
              </a:spcAft>
              <a:buFont typeface="Arial" panose="020B0604020202020204" pitchFamily="34" charset="0"/>
              <a:buChar char="•"/>
            </a:pPr>
            <a:r>
              <a:rPr lang="en-US" sz="3000" i="0" u="none" strike="noStrike" dirty="0">
                <a:solidFill>
                  <a:srgbClr val="000000"/>
                </a:solidFill>
                <a:effectLst/>
                <a:latin typeface="Arial" panose="020B0604020202020204" pitchFamily="34" charset="0"/>
                <a:cs typeface="Arial" panose="020B0604020202020204" pitchFamily="34" charset="0"/>
              </a:rPr>
              <a:t>`</a:t>
            </a:r>
            <a:r>
              <a:rPr lang="en-US" sz="3000" i="0" u="none" strike="noStrike" dirty="0" err="1">
                <a:solidFill>
                  <a:srgbClr val="000000"/>
                </a:solidFill>
                <a:effectLst/>
                <a:latin typeface="Arial" panose="020B0604020202020204" pitchFamily="34" charset="0"/>
                <a:cs typeface="Arial" panose="020B0604020202020204" pitchFamily="34" charset="0"/>
              </a:rPr>
              <a:t>ggsurvplot</a:t>
            </a:r>
            <a:r>
              <a:rPr lang="en-US" sz="3000" i="0" u="none" strike="noStrike" dirty="0">
                <a:solidFill>
                  <a:srgbClr val="000000"/>
                </a:solidFill>
                <a:effectLst/>
                <a:latin typeface="Arial" panose="020B0604020202020204" pitchFamily="34" charset="0"/>
                <a:cs typeface="Arial" panose="020B0604020202020204" pitchFamily="34" charset="0"/>
              </a:rPr>
              <a:t>`</a:t>
            </a:r>
          </a:p>
        </p:txBody>
      </p:sp>
      <p:sp>
        <p:nvSpPr>
          <p:cNvPr id="55" name="Rectangle 54">
            <a:extLst>
              <a:ext uri="{FF2B5EF4-FFF2-40B4-BE49-F238E27FC236}">
                <a16:creationId xmlns:a16="http://schemas.microsoft.com/office/drawing/2014/main" id="{D92D8446-CA35-0C30-7EF1-95E552555C7F}"/>
              </a:ext>
            </a:extLst>
          </p:cNvPr>
          <p:cNvSpPr/>
          <p:nvPr/>
        </p:nvSpPr>
        <p:spPr>
          <a:xfrm>
            <a:off x="28631769" y="6531534"/>
            <a:ext cx="13767838" cy="2900526"/>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Statistical test to compare survival curves between two groups</a:t>
            </a: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Tests the null hypothesis that there is no difference between the survival estimates of two groups at any point in time</a:t>
            </a:r>
          </a:p>
          <a:p>
            <a:pPr marL="457200" indent="-457200" algn="l" rtl="0">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cs typeface="Arial" panose="020B0604020202020204" pitchFamily="34" charset="0"/>
              </a:rPr>
              <a:t>Compares the observed number of events to an estimated number of events for each group at each time</a:t>
            </a:r>
          </a:p>
          <a:p>
            <a:pPr marL="457200" indent="-457200" algn="l" rtl="0">
              <a:spcBef>
                <a:spcPts val="0"/>
              </a:spcBef>
              <a:spcAft>
                <a:spcPts val="0"/>
              </a:spcAft>
              <a:buFont typeface="Arial" panose="020B0604020202020204" pitchFamily="34" charset="0"/>
              <a:buChar char="•"/>
            </a:pPr>
            <a:r>
              <a:rPr lang="en-US" sz="3000" dirty="0">
                <a:solidFill>
                  <a:srgbClr val="000000"/>
                </a:solidFill>
                <a:latin typeface="Arial" panose="020B0604020202020204" pitchFamily="34" charset="0"/>
                <a:cs typeface="Arial" panose="020B0604020202020204" pitchFamily="34" charset="0"/>
              </a:rPr>
              <a:t>U</a:t>
            </a:r>
            <a:r>
              <a:rPr lang="en-US" sz="3000" b="0" i="0" u="none" strike="noStrike" dirty="0">
                <a:solidFill>
                  <a:srgbClr val="000000"/>
                </a:solidFill>
                <a:effectLst/>
                <a:latin typeface="Arial" panose="020B0604020202020204" pitchFamily="34" charset="0"/>
                <a:cs typeface="Arial" panose="020B0604020202020204" pitchFamily="34" charset="0"/>
              </a:rPr>
              <a:t>ses a Chi-Square Test Statistic</a:t>
            </a:r>
          </a:p>
        </p:txBody>
      </p:sp>
      <p:sp>
        <p:nvSpPr>
          <p:cNvPr id="56" name="TextBox 55">
            <a:extLst>
              <a:ext uri="{FF2B5EF4-FFF2-40B4-BE49-F238E27FC236}">
                <a16:creationId xmlns:a16="http://schemas.microsoft.com/office/drawing/2014/main" id="{F46304A5-7E0E-AA52-BE67-F84E14139A26}"/>
              </a:ext>
            </a:extLst>
          </p:cNvPr>
          <p:cNvSpPr txBox="1"/>
          <p:nvPr/>
        </p:nvSpPr>
        <p:spPr>
          <a:xfrm>
            <a:off x="14489774" y="18187158"/>
            <a:ext cx="13751514" cy="923330"/>
          </a:xfrm>
          <a:prstGeom prst="rect">
            <a:avLst/>
          </a:prstGeom>
          <a:solidFill>
            <a:schemeClr val="accent3">
              <a:lumMod val="40000"/>
              <a:lumOff val="60000"/>
            </a:schemeClr>
          </a:solidFill>
        </p:spPr>
        <p:txBody>
          <a:bodyPr wrap="square" rtlCol="0">
            <a:spAutoFit/>
          </a:bodyPr>
          <a:lstStyle/>
          <a:p>
            <a:pPr algn="ctr" eaLnBrk="1" hangingPunct="1"/>
            <a:r>
              <a:rPr lang="en-US" sz="5400" b="1" dirty="0">
                <a:latin typeface="Arial" panose="020B0604020202020204" pitchFamily="34" charset="0"/>
                <a:cs typeface="Arial" panose="020B0604020202020204" pitchFamily="34" charset="0"/>
              </a:rPr>
              <a:t>3. Cox Proportional Hazard Analysis</a:t>
            </a:r>
          </a:p>
        </p:txBody>
      </p:sp>
      <p:sp>
        <p:nvSpPr>
          <p:cNvPr id="57" name="TextBox 56">
            <a:extLst>
              <a:ext uri="{FF2B5EF4-FFF2-40B4-BE49-F238E27FC236}">
                <a16:creationId xmlns:a16="http://schemas.microsoft.com/office/drawing/2014/main" id="{50C49C76-A1A6-968A-6153-1C03F86EFB00}"/>
              </a:ext>
            </a:extLst>
          </p:cNvPr>
          <p:cNvSpPr txBox="1"/>
          <p:nvPr/>
        </p:nvSpPr>
        <p:spPr>
          <a:xfrm>
            <a:off x="28662093" y="21111680"/>
            <a:ext cx="13760147" cy="923330"/>
          </a:xfrm>
          <a:prstGeom prst="rect">
            <a:avLst/>
          </a:prstGeom>
          <a:solidFill>
            <a:schemeClr val="accent3">
              <a:lumMod val="40000"/>
              <a:lumOff val="60000"/>
            </a:schemeClr>
          </a:solidFill>
        </p:spPr>
        <p:txBody>
          <a:bodyPr wrap="square" rtlCol="0">
            <a:spAutoFit/>
          </a:bodyPr>
          <a:lstStyle/>
          <a:p>
            <a:pPr algn="ctr" eaLnBrk="1" hangingPunct="1"/>
            <a:r>
              <a:rPr lang="en-US" sz="5400" b="1" dirty="0">
                <a:latin typeface="Arial" panose="020B0604020202020204" pitchFamily="34" charset="0"/>
                <a:cs typeface="Arial" panose="020B0604020202020204" pitchFamily="34" charset="0"/>
              </a:rPr>
              <a:t>5. Discussion</a:t>
            </a:r>
          </a:p>
        </p:txBody>
      </p:sp>
      <p:sp>
        <p:nvSpPr>
          <p:cNvPr id="58" name="Text Box 10">
            <a:extLst>
              <a:ext uri="{FF2B5EF4-FFF2-40B4-BE49-F238E27FC236}">
                <a16:creationId xmlns:a16="http://schemas.microsoft.com/office/drawing/2014/main" id="{9CD07049-A584-0EAF-A4DD-E48668B90C6E}"/>
              </a:ext>
            </a:extLst>
          </p:cNvPr>
          <p:cNvSpPr txBox="1">
            <a:spLocks noChangeArrowheads="1"/>
          </p:cNvSpPr>
          <p:nvPr/>
        </p:nvSpPr>
        <p:spPr bwMode="auto">
          <a:xfrm>
            <a:off x="14601147" y="29579215"/>
            <a:ext cx="13717829" cy="401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Figure 3. Cumulative Hazard Curves for Two Groups of Heart Failure Patients</a:t>
            </a:r>
            <a:endParaRPr lang="en-CA" sz="2100" b="1" dirty="0">
              <a:latin typeface="Verdana" pitchFamily="34" charset="0"/>
            </a:endParaRPr>
          </a:p>
        </p:txBody>
      </p:sp>
      <p:sp>
        <p:nvSpPr>
          <p:cNvPr id="60" name="AutoShape 6">
            <a:extLst>
              <a:ext uri="{FF2B5EF4-FFF2-40B4-BE49-F238E27FC236}">
                <a16:creationId xmlns:a16="http://schemas.microsoft.com/office/drawing/2014/main" id="{D2761361-EC38-C617-42EB-729ADDB42C20}"/>
              </a:ext>
            </a:extLst>
          </p:cNvPr>
          <p:cNvSpPr>
            <a:spLocks noChangeAspect="1" noChangeArrowheads="1"/>
          </p:cNvSpPr>
          <p:nvPr/>
        </p:nvSpPr>
        <p:spPr bwMode="auto">
          <a:xfrm flipV="1">
            <a:off x="26915119" y="9406105"/>
            <a:ext cx="10629738" cy="106297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4" name="Rectangle 1023">
            <a:extLst>
              <a:ext uri="{FF2B5EF4-FFF2-40B4-BE49-F238E27FC236}">
                <a16:creationId xmlns:a16="http://schemas.microsoft.com/office/drawing/2014/main" id="{4F2AECC2-B1EA-2587-54E2-41692CC0F265}"/>
              </a:ext>
            </a:extLst>
          </p:cNvPr>
          <p:cNvSpPr/>
          <p:nvPr/>
        </p:nvSpPr>
        <p:spPr>
          <a:xfrm>
            <a:off x="28707061" y="22157024"/>
            <a:ext cx="13760147" cy="531359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rPr>
              <a:t>Can use Survival Analysis in other ways with medical data, such as for predicting recovery time from a treatment or disease reoccurrence</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rPr>
              <a:t>Can be an important tool for many disciplines that involve making decisions based on time-to-event analysis</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rPr>
              <a:t>Other applications of Survival Analysis include:</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rPr>
              <a:t>Epidemiology</a:t>
            </a:r>
            <a:r>
              <a:rPr lang="en-US" sz="3000" b="0" i="0" u="none" strike="noStrike" dirty="0">
                <a:solidFill>
                  <a:srgbClr val="000000"/>
                </a:solidFill>
                <a:effectLst/>
                <a:latin typeface="Arial" panose="020B0604020202020204" pitchFamily="34" charset="0"/>
              </a:rPr>
              <a:t>: predicting disease reoccurrence in a population</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rPr>
              <a:t>Finance</a:t>
            </a:r>
            <a:r>
              <a:rPr lang="en-US" sz="3000" b="0" i="0" u="none" strike="noStrike" dirty="0">
                <a:solidFill>
                  <a:srgbClr val="000000"/>
                </a:solidFill>
                <a:effectLst/>
                <a:latin typeface="Arial" panose="020B0604020202020204" pitchFamily="34" charset="0"/>
              </a:rPr>
              <a:t>: predict time until bankruptcy or loan repayment</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rPr>
              <a:t>Engineering</a:t>
            </a:r>
            <a:r>
              <a:rPr lang="en-US" sz="3000" b="0" i="0" u="none" strike="noStrike" dirty="0">
                <a:solidFill>
                  <a:srgbClr val="000000"/>
                </a:solidFill>
                <a:effectLst/>
                <a:latin typeface="Arial" panose="020B0604020202020204" pitchFamily="34" charset="0"/>
              </a:rPr>
              <a:t>: predict when a piece of equipment could fail</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rPr>
              <a:t>Marketing</a:t>
            </a:r>
            <a:r>
              <a:rPr lang="en-US" sz="3000" b="0" i="0" u="none" strike="noStrike" dirty="0">
                <a:solidFill>
                  <a:srgbClr val="000000"/>
                </a:solidFill>
                <a:effectLst/>
                <a:latin typeface="Arial" panose="020B0604020202020204" pitchFamily="34" charset="0"/>
              </a:rPr>
              <a:t>: predict when a customer will stop using a product</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rPr>
              <a:t>Insurance</a:t>
            </a:r>
            <a:r>
              <a:rPr lang="en-US" sz="3000" b="0" i="0" u="none" strike="noStrike" dirty="0">
                <a:solidFill>
                  <a:srgbClr val="000000"/>
                </a:solidFill>
                <a:effectLst/>
                <a:latin typeface="Arial" panose="020B0604020202020204" pitchFamily="34" charset="0"/>
              </a:rPr>
              <a:t>: predicting risk of death or property damage to improve insurance policies</a:t>
            </a:r>
          </a:p>
        </p:txBody>
      </p:sp>
      <p:sp>
        <p:nvSpPr>
          <p:cNvPr id="1025" name="Rectangle 1024">
            <a:extLst>
              <a:ext uri="{FF2B5EF4-FFF2-40B4-BE49-F238E27FC236}">
                <a16:creationId xmlns:a16="http://schemas.microsoft.com/office/drawing/2014/main" id="{1CFD206E-2F0E-85F5-2D0E-E1942F30A2F3}"/>
              </a:ext>
            </a:extLst>
          </p:cNvPr>
          <p:cNvSpPr/>
          <p:nvPr/>
        </p:nvSpPr>
        <p:spPr>
          <a:xfrm>
            <a:off x="378594" y="12302902"/>
            <a:ext cx="13767838" cy="3837091"/>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Censoring</a:t>
            </a:r>
            <a:endParaRPr lang="en-US" sz="2800" dirty="0">
              <a:solidFill>
                <a:srgbClr val="000000"/>
              </a:solidFill>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When an individual’s event time is unknown, their survival time is censored</a:t>
            </a:r>
          </a:p>
          <a:p>
            <a:pPr marL="457200" indent="-457200" algn="l" rtl="0" fontAlgn="base">
              <a:spcBef>
                <a:spcPts val="0"/>
              </a:spcBef>
              <a:spcAft>
                <a:spcPts val="0"/>
              </a:spcAft>
              <a:buFont typeface="Arial" panose="020B0604020202020204" pitchFamily="34" charset="0"/>
              <a:buChar char="•"/>
            </a:pP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Three types of censoring can occur (see Figure 1): </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Right censoring: </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individual is lost to follow-up after the study begins</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Left censoring</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individual is lost to follow-up before the study begins</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Interval censoring</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individuals come in and out of the study periodically</a:t>
            </a:r>
          </a:p>
        </p:txBody>
      </p:sp>
      <p:sp>
        <p:nvSpPr>
          <p:cNvPr id="1030" name="Rectangle 1029">
            <a:extLst>
              <a:ext uri="{FF2B5EF4-FFF2-40B4-BE49-F238E27FC236}">
                <a16:creationId xmlns:a16="http://schemas.microsoft.com/office/drawing/2014/main" id="{19FBBAEE-0F81-9248-06D6-4368D5FCE238}"/>
              </a:ext>
            </a:extLst>
          </p:cNvPr>
          <p:cNvSpPr/>
          <p:nvPr/>
        </p:nvSpPr>
        <p:spPr>
          <a:xfrm>
            <a:off x="369997" y="22745495"/>
            <a:ext cx="13656134" cy="210101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fontAlgn="base">
              <a:spcBef>
                <a:spcPts val="0"/>
              </a:spcBef>
              <a:spcAft>
                <a:spcPts val="0"/>
              </a:spcAft>
            </a:pPr>
            <a:r>
              <a:rPr lang="en-US" sz="4400" b="1" i="0" u="none" strike="noStrike" dirty="0">
                <a:solidFill>
                  <a:srgbClr val="000000"/>
                </a:solidFill>
                <a:effectLst/>
                <a:latin typeface="Arial" panose="020B0604020202020204" pitchFamily="34" charset="0"/>
                <a:ea typeface="Verdana" panose="020B0604030504040204" pitchFamily="34" charset="0"/>
                <a:cs typeface="Arial" panose="020B0604020202020204" pitchFamily="34" charset="0"/>
              </a:rPr>
              <a:t>Calculating Survival Probabilities</a:t>
            </a:r>
            <a:endParaRPr lang="en-US" sz="32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a:p>
            <a:pPr marL="457200" indent="-457200" algn="l" rtl="0" fontAlgn="base">
              <a:spcBef>
                <a:spcPts val="0"/>
              </a:spcBef>
              <a:spcAft>
                <a:spcPts val="0"/>
              </a:spcAft>
              <a:buFont typeface="Arial" panose="020B0604020202020204" pitchFamily="34" charset="0"/>
              <a:buChar char="•"/>
            </a:pPr>
            <a:r>
              <a:rPr lang="en-US" sz="3000" b="1" u="none" strike="noStrike" dirty="0">
                <a:solidFill>
                  <a:srgbClr val="000000"/>
                </a:solidFill>
                <a:effectLst/>
                <a:latin typeface="Arial" panose="020B0604020202020204" pitchFamily="34" charset="0"/>
              </a:rPr>
              <a:t>Probability of survival </a:t>
            </a:r>
            <a:r>
              <a:rPr lang="en-US" sz="3000" b="0" i="0" u="none" strike="noStrike" dirty="0">
                <a:solidFill>
                  <a:srgbClr val="000000"/>
                </a:solidFill>
                <a:effectLst/>
                <a:latin typeface="Arial" panose="020B0604020202020204" pitchFamily="34" charset="0"/>
              </a:rPr>
              <a:t>= # people alive at that time / </a:t>
            </a:r>
            <a:r>
              <a:rPr lang="en-US" sz="3000" u="none" strike="noStrike" dirty="0">
                <a:solidFill>
                  <a:srgbClr val="000000"/>
                </a:solidFill>
                <a:effectLst/>
                <a:latin typeface="Arial" panose="020B0604020202020204" pitchFamily="34" charset="0"/>
              </a:rPr>
              <a:t>Risk set </a:t>
            </a:r>
            <a:r>
              <a:rPr lang="en-US" sz="3000" b="0" i="0" u="none" strike="noStrike" dirty="0">
                <a:solidFill>
                  <a:srgbClr val="000000"/>
                </a:solidFill>
                <a:effectLst/>
                <a:latin typeface="Arial" panose="020B0604020202020204" pitchFamily="34" charset="0"/>
              </a:rPr>
              <a:t>(see Table 1)</a:t>
            </a:r>
            <a:r>
              <a:rPr lang="en-US" sz="30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 </a:t>
            </a:r>
          </a:p>
          <a:p>
            <a:pPr marL="742950" lvl="1" indent="-285750" algn="l" rtl="0" fontAlgn="base">
              <a:spcBef>
                <a:spcPts val="0"/>
              </a:spcBef>
              <a:spcAft>
                <a:spcPts val="0"/>
              </a:spcAft>
              <a:buFont typeface="Arial" panose="020B0604020202020204" pitchFamily="34" charset="0"/>
              <a:buChar char="•"/>
            </a:pPr>
            <a:r>
              <a:rPr lang="en-US" sz="3000" b="1"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rPr>
              <a:t>Risk </a:t>
            </a:r>
            <a:r>
              <a:rPr lang="en-US" sz="3000" b="1" dirty="0">
                <a:solidFill>
                  <a:srgbClr val="000000"/>
                </a:solidFill>
                <a:latin typeface="Arial" panose="020B0604020202020204" pitchFamily="34" charset="0"/>
              </a:rPr>
              <a:t>set </a:t>
            </a:r>
            <a:r>
              <a:rPr lang="en-US" sz="3000" dirty="0">
                <a:solidFill>
                  <a:srgbClr val="000000"/>
                </a:solidFill>
                <a:latin typeface="Arial" panose="020B0604020202020204" pitchFamily="34" charset="0"/>
              </a:rPr>
              <a:t>= Total # of people in the study - # censored by that time</a:t>
            </a:r>
            <a:endParaRPr lang="en-US" sz="3000" b="0" i="0" u="none" strike="noStrike" dirty="0">
              <a:solidFill>
                <a:srgbClr val="000000"/>
              </a:solidFill>
              <a:effectLst/>
              <a:latin typeface="Arial" panose="020B0604020202020204" pitchFamily="34" charset="0"/>
            </a:endParaRPr>
          </a:p>
        </p:txBody>
      </p:sp>
      <p:sp>
        <p:nvSpPr>
          <p:cNvPr id="1031" name="Rectangle 1030">
            <a:extLst>
              <a:ext uri="{FF2B5EF4-FFF2-40B4-BE49-F238E27FC236}">
                <a16:creationId xmlns:a16="http://schemas.microsoft.com/office/drawing/2014/main" id="{421AEEE4-292F-4387-E413-12D3C174E55C}"/>
              </a:ext>
            </a:extLst>
          </p:cNvPr>
          <p:cNvSpPr/>
          <p:nvPr/>
        </p:nvSpPr>
        <p:spPr>
          <a:xfrm>
            <a:off x="14528503" y="8110746"/>
            <a:ext cx="13767838" cy="1938117"/>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l" rtl="0">
              <a:spcBef>
                <a:spcPts val="0"/>
              </a:spcBef>
              <a:spcAft>
                <a:spcPts val="0"/>
              </a:spcAft>
            </a:pPr>
            <a:endParaRPr lang="en-US" sz="2800" b="0" i="0" u="none" strike="noStrike" dirty="0">
              <a:solidFill>
                <a:srgbClr val="000000"/>
              </a:solidFill>
              <a:effectLst/>
              <a:latin typeface="Arial" panose="020B0604020202020204" pitchFamily="34" charset="0"/>
              <a:cs typeface="Arial" panose="020B0604020202020204" pitchFamily="34" charset="0"/>
            </a:endParaRPr>
          </a:p>
          <a:p>
            <a:pPr algn="l" rtl="0">
              <a:spcBef>
                <a:spcPts val="0"/>
              </a:spcBef>
              <a:spcAft>
                <a:spcPts val="0"/>
              </a:spcAft>
            </a:pPr>
            <a:r>
              <a:rPr lang="en-US" sz="4400" b="1" i="0" u="none" strike="noStrike" dirty="0">
                <a:solidFill>
                  <a:srgbClr val="000000"/>
                </a:solidFill>
                <a:effectLst/>
                <a:latin typeface="Arial" panose="020B0604020202020204" pitchFamily="34" charset="0"/>
              </a:rPr>
              <a:t>Case Study: Heart Dataset</a:t>
            </a:r>
          </a:p>
          <a:p>
            <a:pPr marL="457200" indent="-457200">
              <a:buFont typeface="Arial" panose="020B0604020202020204" pitchFamily="34" charset="0"/>
              <a:buChar char="•"/>
            </a:pPr>
            <a:r>
              <a:rPr lang="en-US" sz="3000" dirty="0">
                <a:latin typeface="Arial" panose="020B0604020202020204" pitchFamily="34" charset="0"/>
                <a:cs typeface="Arial" panose="020B0604020202020204" pitchFamily="34" charset="0"/>
              </a:rPr>
              <a:t>Data on heart failure patients over 40 years old</a:t>
            </a:r>
          </a:p>
          <a:p>
            <a:pPr marL="457200" indent="-457200">
              <a:buFont typeface="Arial" panose="020B0604020202020204" pitchFamily="34" charset="0"/>
              <a:buChar char="•"/>
            </a:pPr>
            <a:r>
              <a:rPr lang="en-US" sz="3000" dirty="0">
                <a:latin typeface="Arial" panose="020B0604020202020204" pitchFamily="34" charset="0"/>
                <a:cs typeface="Arial" panose="020B0604020202020204" pitchFamily="34" charset="0"/>
              </a:rPr>
              <a:t>Event of Interest: Death of patient</a:t>
            </a:r>
          </a:p>
          <a:p>
            <a:pPr marL="457200" indent="-457200">
              <a:buFont typeface="Arial" panose="020B0604020202020204" pitchFamily="34" charset="0"/>
              <a:buChar char="•"/>
            </a:pPr>
            <a:r>
              <a:rPr lang="en-US" sz="3000" dirty="0">
                <a:latin typeface="Arial" panose="020B0604020202020204" pitchFamily="34" charset="0"/>
                <a:cs typeface="Arial" panose="020B0604020202020204" pitchFamily="34" charset="0"/>
              </a:rPr>
              <a:t>Goal: See if Blood Pressure (Normal vs High) impacts time until death</a:t>
            </a:r>
          </a:p>
          <a:p>
            <a:pPr marL="1085850" lvl="1" indent="-342900" fontAlgn="base">
              <a:buFont typeface="Arial" panose="020B0604020202020204" pitchFamily="34" charset="0"/>
              <a:buChar char="•"/>
            </a:pPr>
            <a:endParaRPr lang="en-US" sz="2800" b="0" i="0" u="none" strike="noStrike" dirty="0">
              <a:solidFill>
                <a:srgbClr val="000000"/>
              </a:solidFill>
              <a:effectLst/>
              <a:latin typeface="Arial" panose="020B0604020202020204" pitchFamily="34" charset="0"/>
              <a:ea typeface="Lato" panose="020F0502020204030203" pitchFamily="34" charset="0"/>
              <a:cs typeface="Arial" panose="020B0604020202020204" pitchFamily="34" charset="0"/>
            </a:endParaRPr>
          </a:p>
        </p:txBody>
      </p:sp>
      <p:sp>
        <p:nvSpPr>
          <p:cNvPr id="1032" name="Rectangle 1031">
            <a:extLst>
              <a:ext uri="{FF2B5EF4-FFF2-40B4-BE49-F238E27FC236}">
                <a16:creationId xmlns:a16="http://schemas.microsoft.com/office/drawing/2014/main" id="{2001B777-C2AB-94B3-BAB0-A49C18D51DFF}"/>
              </a:ext>
            </a:extLst>
          </p:cNvPr>
          <p:cNvSpPr/>
          <p:nvPr/>
        </p:nvSpPr>
        <p:spPr>
          <a:xfrm>
            <a:off x="28610610" y="9633333"/>
            <a:ext cx="13767838" cy="4089148"/>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fontAlgn="base"/>
            <a:r>
              <a:rPr lang="en-US" sz="4400" b="1" i="0" u="none" strike="noStrike" dirty="0">
                <a:solidFill>
                  <a:srgbClr val="000000"/>
                </a:solidFill>
                <a:effectLst/>
                <a:latin typeface="Arial" panose="020B0604020202020204" pitchFamily="34" charset="0"/>
              </a:rPr>
              <a:t>Results</a:t>
            </a:r>
            <a:endParaRPr lang="en-US" sz="2800" b="0" i="0" u="none" strike="noStrike" dirty="0">
              <a:solidFill>
                <a:srgbClr val="000000"/>
              </a:solidFill>
              <a:effectLst/>
              <a:latin typeface="Arial" panose="020B0604020202020204" pitchFamily="34" charset="0"/>
              <a:cs typeface="Arial" panose="020B0604020202020204" pitchFamily="34" charset="0"/>
            </a:endParaRPr>
          </a:p>
          <a:p>
            <a:pPr marL="457200" indent="-457200" fontAlgn="base">
              <a:buFont typeface="Arial" panose="020B0604020202020204" pitchFamily="34" charset="0"/>
              <a:buChar char="•"/>
            </a:pPr>
            <a:r>
              <a:rPr lang="en-US" sz="3000" dirty="0">
                <a:latin typeface="Arial" panose="020B0604020202020204" pitchFamily="34" charset="0"/>
                <a:cs typeface="Arial" panose="020B0604020202020204" pitchFamily="34" charset="0"/>
              </a:rPr>
              <a:t>The Log-Rank test was significant (p = 0.04), meaning that the survival curves were different for the two blood pressure groups</a:t>
            </a:r>
          </a:p>
          <a:p>
            <a:pPr marL="457200" indent="-457200" fontAlgn="base">
              <a:buFont typeface="Arial" panose="020B0604020202020204" pitchFamily="34" charset="0"/>
              <a:buChar char="•"/>
            </a:pPr>
            <a:r>
              <a:rPr lang="en-US" sz="3000" dirty="0">
                <a:latin typeface="Arial" panose="020B0604020202020204" pitchFamily="34" charset="0"/>
                <a:cs typeface="Arial" panose="020B0604020202020204" pitchFamily="34" charset="0"/>
              </a:rPr>
              <a:t>Cox PH output in Table 2 shows that the hazard of death for heart failure patients with high blood pressure is estimated to be 1.55 times higher than the hazard of death for heart failure patients with normal blood pressure </a:t>
            </a:r>
          </a:p>
          <a:p>
            <a:pPr marL="457200" indent="-457200" fontAlgn="base">
              <a:buFont typeface="Arial" panose="020B0604020202020204" pitchFamily="34" charset="0"/>
              <a:buChar char="•"/>
            </a:pPr>
            <a:r>
              <a:rPr lang="en-US" sz="3000" dirty="0">
                <a:latin typeface="Arial" panose="020B0604020202020204" pitchFamily="34" charset="0"/>
                <a:cs typeface="Arial" panose="020B0604020202020204" pitchFamily="34" charset="0"/>
              </a:rPr>
              <a:t>In other words, at any given time, an individual with high blood pressure is 55% more likely to die than an individual with normal blood pressure </a:t>
            </a:r>
          </a:p>
        </p:txBody>
      </p:sp>
      <p:sp>
        <p:nvSpPr>
          <p:cNvPr id="1037" name="Text Box 10">
            <a:extLst>
              <a:ext uri="{FF2B5EF4-FFF2-40B4-BE49-F238E27FC236}">
                <a16:creationId xmlns:a16="http://schemas.microsoft.com/office/drawing/2014/main" id="{86F4C3A2-B982-1848-7B3B-74713B744C1E}"/>
              </a:ext>
            </a:extLst>
          </p:cNvPr>
          <p:cNvSpPr txBox="1">
            <a:spLocks noChangeArrowheads="1"/>
          </p:cNvSpPr>
          <p:nvPr/>
        </p:nvSpPr>
        <p:spPr bwMode="auto">
          <a:xfrm>
            <a:off x="333914" y="29674742"/>
            <a:ext cx="13656134" cy="401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Table 1. Probability of Survival Calculations Demonstration</a:t>
            </a:r>
            <a:endParaRPr lang="en-CA" sz="2100" b="1" dirty="0">
              <a:latin typeface="Arial" panose="020B0604020202020204" pitchFamily="34" charset="0"/>
              <a:cs typeface="Arial" panose="020B0604020202020204" pitchFamily="34" charset="0"/>
            </a:endParaRPr>
          </a:p>
        </p:txBody>
      </p:sp>
      <p:sp>
        <p:nvSpPr>
          <p:cNvPr id="1052" name="Text Box 10">
            <a:extLst>
              <a:ext uri="{FF2B5EF4-FFF2-40B4-BE49-F238E27FC236}">
                <a16:creationId xmlns:a16="http://schemas.microsoft.com/office/drawing/2014/main" id="{F84D52CF-18F2-68F2-B34C-3A011A10E99F}"/>
              </a:ext>
            </a:extLst>
          </p:cNvPr>
          <p:cNvSpPr txBox="1">
            <a:spLocks noChangeArrowheads="1"/>
          </p:cNvSpPr>
          <p:nvPr/>
        </p:nvSpPr>
        <p:spPr bwMode="auto">
          <a:xfrm>
            <a:off x="28831831" y="16882145"/>
            <a:ext cx="13713008" cy="401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77486" tIns="38743" rIns="77486" bIns="38743">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ctr" eaLnBrk="1" hangingPunct="1"/>
            <a:r>
              <a:rPr lang="en-US" sz="2100" b="1" dirty="0">
                <a:latin typeface="Arial" panose="020B0604020202020204" pitchFamily="34" charset="0"/>
                <a:cs typeface="Arial" panose="020B0604020202020204" pitchFamily="34" charset="0"/>
              </a:rPr>
              <a:t>Table 2. Cox PH Output for Heart Failure Patients with Blood Pressure Predictor</a:t>
            </a:r>
            <a:endParaRPr lang="en-CA" sz="2100" b="1" dirty="0">
              <a:latin typeface="Arial" panose="020B0604020202020204" pitchFamily="34" charset="0"/>
              <a:cs typeface="Arial" panose="020B0604020202020204" pitchFamily="34" charset="0"/>
            </a:endParaRPr>
          </a:p>
        </p:txBody>
      </p:sp>
      <p:pic>
        <p:nvPicPr>
          <p:cNvPr id="1054" name="Picture 1053" descr="A graph of a normal blood pressure&#10;&#10;Description automatically generated">
            <a:extLst>
              <a:ext uri="{FF2B5EF4-FFF2-40B4-BE49-F238E27FC236}">
                <a16:creationId xmlns:a16="http://schemas.microsoft.com/office/drawing/2014/main" id="{137A024B-ED8F-6E20-DFCF-906ECF893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12073" y="10287272"/>
            <a:ext cx="10516245" cy="7010830"/>
          </a:xfrm>
          <a:prstGeom prst="rect">
            <a:avLst/>
          </a:prstGeom>
        </p:spPr>
      </p:pic>
      <p:pic>
        <p:nvPicPr>
          <p:cNvPr id="1056" name="Picture 1055" descr="A graph of a number of blood pressure&#10;&#10;Description automatically generated">
            <a:extLst>
              <a:ext uri="{FF2B5EF4-FFF2-40B4-BE49-F238E27FC236}">
                <a16:creationId xmlns:a16="http://schemas.microsoft.com/office/drawing/2014/main" id="{0D76CA4B-502D-3E7D-1AE2-E75024835D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12073" y="22480634"/>
            <a:ext cx="10427437" cy="6951625"/>
          </a:xfrm>
          <a:prstGeom prst="rect">
            <a:avLst/>
          </a:prstGeom>
        </p:spPr>
      </p:pic>
      <p:cxnSp>
        <p:nvCxnSpPr>
          <p:cNvPr id="1063" name="Straight Connector 1062">
            <a:extLst>
              <a:ext uri="{FF2B5EF4-FFF2-40B4-BE49-F238E27FC236}">
                <a16:creationId xmlns:a16="http://schemas.microsoft.com/office/drawing/2014/main" id="{8FACCE2B-9310-3550-E4F7-36B854CF3AFD}"/>
              </a:ext>
            </a:extLst>
          </p:cNvPr>
          <p:cNvCxnSpPr/>
          <p:nvPr/>
        </p:nvCxnSpPr>
        <p:spPr>
          <a:xfrm>
            <a:off x="14290664" y="6430206"/>
            <a:ext cx="0" cy="23732065"/>
          </a:xfrm>
          <a:prstGeom prst="line">
            <a:avLst/>
          </a:prstGeom>
          <a:ln w="9525">
            <a:solidFill>
              <a:schemeClr val="accent3">
                <a:lumMod val="50000"/>
              </a:schemeClr>
            </a:solidFill>
          </a:ln>
        </p:spPr>
        <p:style>
          <a:lnRef idx="1">
            <a:schemeClr val="dk1"/>
          </a:lnRef>
          <a:fillRef idx="0">
            <a:schemeClr val="dk1"/>
          </a:fillRef>
          <a:effectRef idx="0">
            <a:schemeClr val="dk1"/>
          </a:effectRef>
          <a:fontRef idx="minor">
            <a:schemeClr val="tx1"/>
          </a:fontRef>
        </p:style>
      </p:cxnSp>
      <p:cxnSp>
        <p:nvCxnSpPr>
          <p:cNvPr id="1064" name="Straight Connector 1063">
            <a:extLst>
              <a:ext uri="{FF2B5EF4-FFF2-40B4-BE49-F238E27FC236}">
                <a16:creationId xmlns:a16="http://schemas.microsoft.com/office/drawing/2014/main" id="{C0455972-CAF8-84FF-6439-FF7A2EED03F1}"/>
              </a:ext>
            </a:extLst>
          </p:cNvPr>
          <p:cNvCxnSpPr/>
          <p:nvPr/>
        </p:nvCxnSpPr>
        <p:spPr>
          <a:xfrm>
            <a:off x="28436528" y="6401801"/>
            <a:ext cx="0" cy="23732065"/>
          </a:xfrm>
          <a:prstGeom prst="line">
            <a:avLst/>
          </a:prstGeom>
          <a:ln>
            <a:solidFill>
              <a:schemeClr val="accent3">
                <a:lumMod val="50000"/>
              </a:schemeClr>
            </a:solidFill>
          </a:ln>
        </p:spPr>
        <p:style>
          <a:lnRef idx="1">
            <a:schemeClr val="dk1"/>
          </a:lnRef>
          <a:fillRef idx="0">
            <a:schemeClr val="dk1"/>
          </a:fillRef>
          <a:effectRef idx="0">
            <a:schemeClr val="dk1"/>
          </a:effectRef>
          <a:fontRef idx="minor">
            <a:schemeClr val="tx1"/>
          </a:fontRef>
        </p:style>
      </p:cxnSp>
      <p:pic>
        <p:nvPicPr>
          <p:cNvPr id="1068" name="Picture 1067" descr="A table with numbers and pink text&#10;&#10;Description automatically generated">
            <a:extLst>
              <a:ext uri="{FF2B5EF4-FFF2-40B4-BE49-F238E27FC236}">
                <a16:creationId xmlns:a16="http://schemas.microsoft.com/office/drawing/2014/main" id="{B9BF8142-FE06-0D26-B80C-7E0A00FCC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5437" y="24781332"/>
            <a:ext cx="9793087" cy="4819366"/>
          </a:xfrm>
          <a:prstGeom prst="rect">
            <a:avLst/>
          </a:prstGeom>
        </p:spPr>
      </p:pic>
      <p:pic>
        <p:nvPicPr>
          <p:cNvPr id="1069" name="Picture 4">
            <a:extLst>
              <a:ext uri="{FF2B5EF4-FFF2-40B4-BE49-F238E27FC236}">
                <a16:creationId xmlns:a16="http://schemas.microsoft.com/office/drawing/2014/main" id="{25B8A9F1-3C91-7E94-61A9-330AA69338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791" t="77693" r="51928" b="4327"/>
          <a:stretch/>
        </p:blipFill>
        <p:spPr bwMode="auto">
          <a:xfrm>
            <a:off x="10114200" y="16672066"/>
            <a:ext cx="4176464" cy="1366837"/>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
            <a:extLst>
              <a:ext uri="{FF2B5EF4-FFF2-40B4-BE49-F238E27FC236}">
                <a16:creationId xmlns:a16="http://schemas.microsoft.com/office/drawing/2014/main" id="{5940258A-5924-39BE-502D-271719B67C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003" t="77695" r="16572" b="4325"/>
          <a:stretch/>
        </p:blipFill>
        <p:spPr bwMode="auto">
          <a:xfrm>
            <a:off x="11439177" y="18222488"/>
            <a:ext cx="2736304" cy="1366837"/>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1071" descr="A close-up of a pink box&#10;&#10;Description automatically generated">
            <a:extLst>
              <a:ext uri="{FF2B5EF4-FFF2-40B4-BE49-F238E27FC236}">
                <a16:creationId xmlns:a16="http://schemas.microsoft.com/office/drawing/2014/main" id="{CFA44F12-898C-3D08-3E26-C13C17A448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039582" y="13938851"/>
            <a:ext cx="11075657" cy="2461257"/>
          </a:xfrm>
          <a:prstGeom prst="rect">
            <a:avLst/>
          </a:prstGeom>
        </p:spPr>
      </p:pic>
    </p:spTree>
    <p:extLst>
      <p:ext uri="{BB962C8B-B14F-4D97-AF65-F5344CB8AC3E}">
        <p14:creationId xmlns:p14="http://schemas.microsoft.com/office/powerpoint/2010/main" val="3402109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16047</TotalTime>
  <Words>801</Words>
  <Application>Microsoft Macintosh PowerPoint</Application>
  <PresentationFormat>Custom</PresentationFormat>
  <Paragraphs>70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Verdana</vt:lpstr>
      <vt:lpstr>Office Theme</vt:lpstr>
      <vt:lpstr>PowerPoint Presentation</vt:lpstr>
    </vt:vector>
  </TitlesOfParts>
  <Manager/>
  <Company>TOSHIBA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Mindy Pitre</dc:creator>
  <cp:keywords/>
  <dc:description/>
  <cp:lastModifiedBy>Kristen Varin</cp:lastModifiedBy>
  <cp:revision>118</cp:revision>
  <cp:lastPrinted>2024-04-18T13:55:17Z</cp:lastPrinted>
  <dcterms:created xsi:type="dcterms:W3CDTF">2012-11-30T16:49:47Z</dcterms:created>
  <dcterms:modified xsi:type="dcterms:W3CDTF">2024-04-19T14:18:04Z</dcterms:modified>
  <cp:category/>
</cp:coreProperties>
</file>