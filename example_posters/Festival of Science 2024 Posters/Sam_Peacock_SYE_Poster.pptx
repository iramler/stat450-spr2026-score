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78"/>
    <a:srgbClr val="54A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848"/>
    <p:restoredTop sz="96327"/>
  </p:normalViewPr>
  <p:slideViewPr>
    <p:cSldViewPr snapToGrid="0" snapToObjects="1">
      <p:cViewPr>
        <p:scale>
          <a:sx n="41" d="100"/>
          <a:sy n="41" d="100"/>
        </p:scale>
        <p:origin x="1936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9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9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8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1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9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9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4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6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1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4C3D8-F549-7F4C-9248-E02689EEC6A2}" type="datetimeFigureOut">
              <a:rPr lang="en-US" smtClean="0"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7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kitosea.pacificmultisports.com/events/101/results/leg/1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155C5-2034-3813-CB8F-D1033850D3A9}"/>
              </a:ext>
            </a:extLst>
          </p:cNvPr>
          <p:cNvSpPr/>
          <p:nvPr/>
        </p:nvSpPr>
        <p:spPr>
          <a:xfrm>
            <a:off x="1005840" y="7148240"/>
            <a:ext cx="41831028" cy="2361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0BEA6F-B3BC-EC44-A1DB-AE494C2F561C}"/>
              </a:ext>
            </a:extLst>
          </p:cNvPr>
          <p:cNvGrpSpPr/>
          <p:nvPr/>
        </p:nvGrpSpPr>
        <p:grpSpPr>
          <a:xfrm>
            <a:off x="0" y="0"/>
            <a:ext cx="52177950" cy="6533048"/>
            <a:chOff x="0" y="0"/>
            <a:chExt cx="52177950" cy="6533048"/>
          </a:xfrm>
        </p:grpSpPr>
        <p:sp>
          <p:nvSpPr>
            <p:cNvPr id="4" name="Rectangle 27">
              <a:extLst>
                <a:ext uri="{FF2B5EF4-FFF2-40B4-BE49-F238E27FC236}">
                  <a16:creationId xmlns:a16="http://schemas.microsoft.com/office/drawing/2014/main" id="{AE7E2FBE-3859-5A44-B537-A04C2D703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891200" cy="6533048"/>
            </a:xfrm>
            <a:prstGeom prst="rect">
              <a:avLst/>
            </a:prstGeom>
            <a:gradFill>
              <a:gsLst>
                <a:gs pos="5000">
                  <a:srgbClr val="235078"/>
                </a:gs>
                <a:gs pos="100000">
                  <a:srgbClr val="1482A5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defPPr>
                <a:defRPr kern="1200"/>
              </a:defPPr>
            </a:lstStyle>
            <a:p>
              <a:endParaRPr lang="en-US" b="1" dirty="0"/>
            </a:p>
          </p:txBody>
        </p:sp>
        <p:sp>
          <p:nvSpPr>
            <p:cNvPr id="5" name="Title 11">
              <a:extLst>
                <a:ext uri="{FF2B5EF4-FFF2-40B4-BE49-F238E27FC236}">
                  <a16:creationId xmlns:a16="http://schemas.microsoft.com/office/drawing/2014/main" id="{4034E984-A65D-6B4A-9D1E-1793E6EA5580}"/>
                </a:ext>
              </a:extLst>
            </p:cNvPr>
            <p:cNvSpPr txBox="1"/>
            <p:nvPr/>
          </p:nvSpPr>
          <p:spPr>
            <a:xfrm>
              <a:off x="1005840" y="1010250"/>
              <a:ext cx="51172110" cy="2250017"/>
            </a:xfrm>
            <a:prstGeom prst="rect">
              <a:avLst/>
            </a:prstGeom>
          </p:spPr>
          <p:txBody>
            <a:bodyPr lIns="128016" tIns="64008" rIns="128016" bIns="64008"/>
            <a:lstStyle>
              <a:defPPr>
                <a:defRPr kern="1200"/>
              </a:defPPr>
              <a:lvl1pPr algn="ctr" defTabSz="4389028" rtl="0" eaLnBrk="1" latinLnBrk="0" hangingPunct="1">
                <a:spcBef>
                  <a:spcPct val="0"/>
                </a:spcBef>
                <a:buNone/>
                <a:defRPr sz="13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0700" b="1" dirty="0">
                  <a:solidFill>
                    <a:schemeClr val="bg1"/>
                  </a:solidFill>
                  <a:latin typeface="Titillium Web" pitchFamily="2" charset="77"/>
                </a:rPr>
                <a:t>Web-Scraping: Generating Investment Pitches &amp; Collecting Sports Data</a:t>
              </a:r>
            </a:p>
          </p:txBody>
        </p:sp>
        <p:sp>
          <p:nvSpPr>
            <p:cNvPr id="6" name="Text Placeholder 16">
              <a:extLst>
                <a:ext uri="{FF2B5EF4-FFF2-40B4-BE49-F238E27FC236}">
                  <a16:creationId xmlns:a16="http://schemas.microsoft.com/office/drawing/2014/main" id="{B78076A6-476B-6E4A-AE5E-1D35DC4AACF9}"/>
                </a:ext>
              </a:extLst>
            </p:cNvPr>
            <p:cNvSpPr txBox="1"/>
            <p:nvPr/>
          </p:nvSpPr>
          <p:spPr>
            <a:xfrm>
              <a:off x="1005840" y="3188068"/>
              <a:ext cx="41148000" cy="3268587"/>
            </a:xfrm>
            <a:prstGeom prst="rect">
              <a:avLst/>
            </a:prstGeom>
          </p:spPr>
          <p:txBody>
            <a:bodyPr lIns="128016" tIns="64008" rIns="128016" bIns="64008" anchor="t">
              <a:spAutoFit/>
            </a:bodyPr>
            <a:lstStyle>
              <a:defPPr>
                <a:defRPr kern="1200"/>
              </a:defPPr>
              <a:lvl1pPr marL="0" indent="0" algn="l" defTabSz="438902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3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086" indent="-1371572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3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286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680800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875314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069828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264342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8857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653371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0" dirty="0">
                  <a:solidFill>
                    <a:schemeClr val="bg1"/>
                  </a:solidFill>
                  <a:latin typeface="Titillium Web"/>
                </a:rPr>
                <a:t>Sam Peacock ‘24 (Statistics &amp; Economics)  </a:t>
              </a:r>
              <a:r>
                <a:rPr lang="en-US" sz="6000" dirty="0">
                  <a:solidFill>
                    <a:schemeClr val="bg1"/>
                  </a:solidFill>
                  <a:latin typeface="Titillium Web" panose="00000500000000000000" pitchFamily="2" charset="0"/>
                </a:rPr>
                <a:t>–</a:t>
              </a:r>
              <a:r>
                <a:rPr lang="en-US" sz="6000" dirty="0">
                  <a:solidFill>
                    <a:schemeClr val="bg1"/>
                  </a:solidFill>
                  <a:latin typeface="Titillium Web"/>
                </a:rPr>
                <a:t>  Advisor: Dr. Ivan Ramler</a:t>
              </a:r>
              <a:endParaRPr lang="en-US" sz="6000" dirty="0">
                <a:solidFill>
                  <a:schemeClr val="bg1"/>
                </a:solidFill>
                <a:latin typeface="Titillium Web" panose="00000500000000000000" pitchFamily="2" charset="0"/>
              </a:endParaRPr>
            </a:p>
            <a:p>
              <a:r>
                <a:rPr lang="en-US" sz="6000" dirty="0">
                  <a:solidFill>
                    <a:schemeClr val="bg1"/>
                  </a:solidFill>
                  <a:latin typeface="Titillium Web" panose="00000500000000000000" pitchFamily="2" charset="0"/>
                </a:rPr>
                <a:t>St. Lawrence University  –  Department of Mathematics, Computer Science, and Statistics</a:t>
              </a:r>
            </a:p>
            <a:p>
              <a:endParaRPr lang="en-US" sz="6000" dirty="0">
                <a:solidFill>
                  <a:schemeClr val="bg1"/>
                </a:solidFill>
                <a:latin typeface="Titillium Web" panose="00000500000000000000" pitchFamily="2" charset="0"/>
              </a:endParaRPr>
            </a:p>
          </p:txBody>
        </p:sp>
      </p:grpSp>
      <p:sp>
        <p:nvSpPr>
          <p:cNvPr id="10" name="Rectangle 29">
            <a:extLst>
              <a:ext uri="{FF2B5EF4-FFF2-40B4-BE49-F238E27FC236}">
                <a16:creationId xmlns:a16="http://schemas.microsoft.com/office/drawing/2014/main" id="{4A6BF095-902E-FD45-94EC-7309F9A07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492" y="31447268"/>
            <a:ext cx="43939693" cy="147113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137160" tIns="68580" rIns="137160" bIns="68580" anchor="ctr"/>
          <a:lstStyle>
            <a:defPPr>
              <a:defRPr kern="1200"/>
            </a:defPPr>
          </a:lstStyle>
          <a:p>
            <a:pPr defTabSz="4703763"/>
            <a:endParaRPr lang="en-US">
              <a:solidFill>
                <a:schemeClr val="bg1"/>
              </a:solidFill>
              <a:sym typeface="Symbol" pitchFamily="18" charset="2"/>
            </a:endParaRPr>
          </a:p>
        </p:txBody>
      </p:sp>
      <p:pic>
        <p:nvPicPr>
          <p:cNvPr id="64" name="Picture 63" descr="A black and yellow logo&#10;&#10;Description automatically generated">
            <a:extLst>
              <a:ext uri="{FF2B5EF4-FFF2-40B4-BE49-F238E27FC236}">
                <a16:creationId xmlns:a16="http://schemas.microsoft.com/office/drawing/2014/main" id="{A8194699-13B3-2C45-3DA0-11C7F48D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6772" y="3228887"/>
            <a:ext cx="8431098" cy="2250017"/>
          </a:xfrm>
          <a:prstGeom prst="rect">
            <a:avLst/>
          </a:prstGeom>
        </p:spPr>
      </p:pic>
      <p:sp>
        <p:nvSpPr>
          <p:cNvPr id="95" name="Rectangle 5">
            <a:extLst>
              <a:ext uri="{FF2B5EF4-FFF2-40B4-BE49-F238E27FC236}">
                <a16:creationId xmlns:a16="http://schemas.microsoft.com/office/drawing/2014/main" id="{36FB3575-3C2F-2A38-3FED-D950F45A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8237" y="7144977"/>
            <a:ext cx="13338631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Collecting Sports Data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CB9B7C7A-230A-748F-BABC-8031E15C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8238" y="22833608"/>
            <a:ext cx="13338630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Manually Web-Scraping Financials</a:t>
            </a:r>
          </a:p>
        </p:txBody>
      </p:sp>
      <p:sp>
        <p:nvSpPr>
          <p:cNvPr id="97" name="Rectangle 5">
            <a:extLst>
              <a:ext uri="{FF2B5EF4-FFF2-40B4-BE49-F238E27FC236}">
                <a16:creationId xmlns:a16="http://schemas.microsoft.com/office/drawing/2014/main" id="{749E672E-84EF-0DF5-9040-0A3DF324F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967" y="7144977"/>
            <a:ext cx="13373439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Report Generator</a:t>
            </a:r>
          </a:p>
        </p:txBody>
      </p:sp>
      <p:sp>
        <p:nvSpPr>
          <p:cNvPr id="102" name="Rectangle 5">
            <a:extLst>
              <a:ext uri="{FF2B5EF4-FFF2-40B4-BE49-F238E27FC236}">
                <a16:creationId xmlns:a16="http://schemas.microsoft.com/office/drawing/2014/main" id="{F5339247-B1FD-80E2-B434-5880EE6C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14371131"/>
            <a:ext cx="13341296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Generating Investment Pitches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C1BED5-E97C-FB2A-FCB5-2E225285F8DB}"/>
              </a:ext>
            </a:extLst>
          </p:cNvPr>
          <p:cNvSpPr txBox="1"/>
          <p:nvPr/>
        </p:nvSpPr>
        <p:spPr>
          <a:xfrm>
            <a:off x="29836690" y="24760517"/>
            <a:ext cx="125882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Incorporate manual web-scraping techniques to harvest financial data for more comprehensive reports.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Titillium Web" pitchFamily="2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Stock price history is essential for technical and statistical analyses; however, extracting data from the three financial statements would provide further due diligence to make a more informed investment decision with financial health analyses and various valuation methods.  </a:t>
            </a:r>
          </a:p>
        </p:txBody>
      </p:sp>
      <p:sp>
        <p:nvSpPr>
          <p:cNvPr id="111" name="Rectangle 5">
            <a:extLst>
              <a:ext uri="{FF2B5EF4-FFF2-40B4-BE49-F238E27FC236}">
                <a16:creationId xmlns:a16="http://schemas.microsoft.com/office/drawing/2014/main" id="{97EC06D0-25C2-AE50-39DF-691960E09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7144977"/>
            <a:ext cx="13341296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Goals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252BAD-525A-18DE-40C1-D430D00957D2}"/>
              </a:ext>
            </a:extLst>
          </p:cNvPr>
          <p:cNvSpPr txBox="1"/>
          <p:nvPr/>
        </p:nvSpPr>
        <p:spPr>
          <a:xfrm>
            <a:off x="1132151" y="16040923"/>
            <a:ext cx="12979454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What is Crown Royalties Investment Club (CRIC)?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The members of CRIC manage a $150,000+ portfolio. The club aims to educate students on the foundations of investing in weekly deliberations ran by executive board members and faculty advisors.</a:t>
            </a:r>
          </a:p>
          <a:p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How do we use pitches?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Students present investment pitches with various analyses and propose to buy or sell a position for the portfolio. </a:t>
            </a:r>
          </a:p>
          <a:p>
            <a:pPr algn="just"/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Generating Investment Pitches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Quantmod develops and deploys statistically based trading models with the getSymbols function that internally scrapes historical stock price data from a specified online source and date range:</a:t>
            </a: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Apple’s stock price data ($AAPL) is now available for various statistical modeling visualizations that are transferred into a web app that generates downloadable investment reports.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BEE1-4D71-B6C5-5124-7605BE11A9F9}"/>
              </a:ext>
            </a:extLst>
          </p:cNvPr>
          <p:cNvSpPr txBox="1"/>
          <p:nvPr/>
        </p:nvSpPr>
        <p:spPr>
          <a:xfrm>
            <a:off x="1054332" y="8196703"/>
            <a:ext cx="1289526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AutoNum type="arabicParenR"/>
            </a:pPr>
            <a:r>
              <a:rPr lang="en-US" sz="4000" dirty="0">
                <a:latin typeface="Titillium Web" pitchFamily="2" charset="77"/>
              </a:rPr>
              <a:t>Use quantmod and Shiny packages to create an interactive, user-friendly web app that scrapes financial data from the web and generates simple investment pitches based on templates from SLU’s Crown Royalties Investment Club.</a:t>
            </a:r>
          </a:p>
          <a:p>
            <a:pPr marL="742950" indent="-742950"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AutoNum type="arabicParenR"/>
            </a:pPr>
            <a:r>
              <a:rPr lang="en-US" sz="4000" dirty="0">
                <a:latin typeface="Titillium Web" pitchFamily="2" charset="77"/>
              </a:rPr>
              <a:t>Use rvest to automate the collection of 10 years’ worth of results from each leg of the Ski to Sea race for SCORE.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AD02A-113E-7D95-2B52-7E649C07A013}"/>
              </a:ext>
            </a:extLst>
          </p:cNvPr>
          <p:cNvSpPr txBox="1"/>
          <p:nvPr/>
        </p:nvSpPr>
        <p:spPr>
          <a:xfrm>
            <a:off x="15584632" y="21348364"/>
            <a:ext cx="12864506" cy="987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Linking Web App and Report</a:t>
            </a: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Create the Shiny App (app.R)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Define the UI and server elements in a single file</a:t>
            </a:r>
          </a:p>
          <a:p>
            <a:pPr lvl="1" algn="just"/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Create the R Markdown File (report.Rmd)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R code chunks to include dynamic data</a:t>
            </a:r>
          </a:p>
          <a:p>
            <a:pPr lvl="1" algn="just"/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Link Shiny App to R Markdown File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the rmarkdown::render function to render the report.Rmd with the inputted dynamic data from the app.R</a:t>
            </a:r>
          </a:p>
          <a:p>
            <a:pPr lvl="1" algn="just"/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Add a “Generate Report” Button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the eventReactive function in Shiny to render the report.Rmd into a downloadable word document</a:t>
            </a:r>
          </a:p>
          <a:p>
            <a:pPr lvl="1"/>
            <a:endParaRPr lang="en-US" sz="3600" dirty="0">
              <a:latin typeface="Titillium Web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AA3FB-4C10-9635-4FD0-6F03F878608B}"/>
              </a:ext>
            </a:extLst>
          </p:cNvPr>
          <p:cNvSpPr txBox="1"/>
          <p:nvPr/>
        </p:nvSpPr>
        <p:spPr>
          <a:xfrm>
            <a:off x="29882869" y="9521333"/>
            <a:ext cx="1258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75C1A-2D54-0000-8A5F-0CFB95DC39D3}"/>
              </a:ext>
            </a:extLst>
          </p:cNvPr>
          <p:cNvSpPr txBox="1"/>
          <p:nvPr/>
        </p:nvSpPr>
        <p:spPr>
          <a:xfrm>
            <a:off x="29836690" y="8925451"/>
            <a:ext cx="12922360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What is Ski to Sea?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Annual multi-sport relay race consisting of 7 legs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Events represent years and legs represent each sport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Pulling and combining 80 webpages of data for SCORE</a:t>
            </a:r>
          </a:p>
          <a:p>
            <a:pPr algn="just"/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Manually Scraping Data</a:t>
            </a:r>
          </a:p>
          <a:p>
            <a:pPr marL="742950" indent="-742950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Get a list of URLs for each leg of each race: 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“https://skitosea.pacificmultisports.com/events/101/results/leg/1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32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2)   Loop to attach year: event &lt;- 101, 102, … , 111</a:t>
            </a:r>
          </a:p>
          <a:p>
            <a:pPr marL="742950" indent="-742950">
              <a:buFont typeface="+mj-lt"/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3)   Loop to get each sport: leg &lt;- 1, 2, … , 80</a:t>
            </a:r>
          </a:p>
          <a:p>
            <a:pPr marL="742950" indent="-742950">
              <a:buFont typeface="+mj-lt"/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4)   Loop to attach and get every race URL: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paste0(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event, "/results/leg/", leg)</a:t>
            </a: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1800" dirty="0">
              <a:latin typeface="Titillium Web" pitchFamily="2" charset="77"/>
            </a:endParaRPr>
          </a:p>
          <a:p>
            <a:endParaRPr lang="en-US" sz="1800" dirty="0">
              <a:latin typeface="Titillium Web" pitchFamily="2" charset="77"/>
            </a:endParaRPr>
          </a:p>
        </p:txBody>
      </p:sp>
      <p:pic>
        <p:nvPicPr>
          <p:cNvPr id="12" name="Picture 11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147445F6-3958-C53E-FC8A-B86B8E4C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88" y="25521316"/>
            <a:ext cx="12945315" cy="17665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AA6194A-5889-FBA7-3FBC-C5E4520B55A2}"/>
              </a:ext>
            </a:extLst>
          </p:cNvPr>
          <p:cNvSpPr/>
          <p:nvPr/>
        </p:nvSpPr>
        <p:spPr>
          <a:xfrm>
            <a:off x="14347137" y="7147901"/>
            <a:ext cx="888831" cy="23934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7FC-5D60-126B-F657-F086090F79FF}"/>
              </a:ext>
            </a:extLst>
          </p:cNvPr>
          <p:cNvSpPr/>
          <p:nvPr/>
        </p:nvSpPr>
        <p:spPr>
          <a:xfrm>
            <a:off x="28609407" y="7144977"/>
            <a:ext cx="888831" cy="23934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graph&#10;&#10;Description automatically generated">
            <a:extLst>
              <a:ext uri="{FF2B5EF4-FFF2-40B4-BE49-F238E27FC236}">
                <a16:creationId xmlns:a16="http://schemas.microsoft.com/office/drawing/2014/main" id="{55F5D48C-3F52-431C-6278-6AA982FD3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8178" y="11931899"/>
            <a:ext cx="12128201" cy="89529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CCE1A89-6DE0-A958-C317-E85AE7F5CFC1}"/>
              </a:ext>
            </a:extLst>
          </p:cNvPr>
          <p:cNvSpPr txBox="1"/>
          <p:nvPr/>
        </p:nvSpPr>
        <p:spPr>
          <a:xfrm>
            <a:off x="16324572" y="8972409"/>
            <a:ext cx="11119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Quantmod Charts</a:t>
            </a:r>
            <a:endParaRPr lang="en-US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518EF8-4E34-D90A-A85B-0D30C882E814}"/>
              </a:ext>
            </a:extLst>
          </p:cNvPr>
          <p:cNvSpPr txBox="1"/>
          <p:nvPr/>
        </p:nvSpPr>
        <p:spPr>
          <a:xfrm>
            <a:off x="15281794" y="9746452"/>
            <a:ext cx="12747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4000" dirty="0">
                <a:latin typeface="Titillium Web" pitchFamily="2" charset="77"/>
              </a:rPr>
              <a:t>This example chart from the report displays Apple’s stock price history with Bollinger bands, SMAs, and MACD from a specified date range: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336DE-448F-B92F-634A-0E782C6726CC}"/>
              </a:ext>
            </a:extLst>
          </p:cNvPr>
          <p:cNvSpPr txBox="1"/>
          <p:nvPr/>
        </p:nvSpPr>
        <p:spPr>
          <a:xfrm>
            <a:off x="30164472" y="18641007"/>
            <a:ext cx="537639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4000" b="1" dirty="0">
                <a:latin typeface="Titillium Web" pitchFamily="2" charset="77"/>
              </a:rPr>
              <a:t>Combine data: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Scrape for all data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Clean and format data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Save into one file</a:t>
            </a:r>
          </a:p>
          <a:p>
            <a:endParaRPr lang="en-US" dirty="0"/>
          </a:p>
        </p:txBody>
      </p:sp>
      <p:pic>
        <p:nvPicPr>
          <p:cNvPr id="27" name="Picture 2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C15ABA4A-54EA-D4B7-0A76-CFD17A749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7597" y="18178189"/>
            <a:ext cx="6073242" cy="4372734"/>
          </a:xfrm>
          <a:prstGeom prst="rect">
            <a:avLst/>
          </a:prstGeom>
        </p:spPr>
      </p:pic>
      <p:pic>
        <p:nvPicPr>
          <p:cNvPr id="14" name="Picture 1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7D2A351-B8C8-743F-9D21-057355FD9E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90790" y="3228590"/>
            <a:ext cx="2395290" cy="225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1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11585</TotalTime>
  <Words>559</Words>
  <Application>Microsoft Macintosh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Amaranth</vt:lpstr>
      <vt:lpstr>Arial</vt:lpstr>
      <vt:lpstr>Calibri</vt:lpstr>
      <vt:lpstr>Calibri Light</vt:lpstr>
      <vt:lpstr>Courier New</vt:lpstr>
      <vt:lpstr>Symbol</vt:lpstr>
      <vt:lpstr>Titillium Web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Andrew Dykstra</dc:creator>
  <cp:keywords/>
  <dc:description/>
  <cp:lastModifiedBy>Samuel Peacock</cp:lastModifiedBy>
  <cp:revision>60</cp:revision>
  <dcterms:created xsi:type="dcterms:W3CDTF">2022-04-09T23:29:23Z</dcterms:created>
  <dcterms:modified xsi:type="dcterms:W3CDTF">2024-04-18T17:48:32Z</dcterms:modified>
  <cp:category/>
</cp:coreProperties>
</file>