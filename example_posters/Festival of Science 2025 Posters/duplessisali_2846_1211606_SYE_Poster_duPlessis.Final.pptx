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43891200" cy="32918400"/>
  <p:notesSz cx="6858000" cy="9144000"/>
  <p:defaultTextStyle>
    <a:defPPr>
      <a:defRPr lang="en-US"/>
    </a:defPPr>
    <a:lvl1pPr marL="0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1pPr>
    <a:lvl2pPr marL="1843430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2pPr>
    <a:lvl3pPr marL="3686861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3pPr>
    <a:lvl4pPr marL="5530291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4pPr>
    <a:lvl5pPr marL="7373722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5pPr>
    <a:lvl6pPr marL="9217152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6pPr>
    <a:lvl7pPr marL="11060582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7pPr>
    <a:lvl8pPr marL="12904013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8pPr>
    <a:lvl9pPr marL="14747443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 userDrawn="1">
          <p15:clr>
            <a:srgbClr val="A4A3A4"/>
          </p15:clr>
        </p15:guide>
        <p15:guide id="2" pos="1382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51B6F37-B3E1-AFA4-F2DD-FF30D967A239}" name="Matthew Maslow" initials="MM" userId="S::mjmasl20@stlawu.edu::1ce7970f-4ea1-47bb-a8d0-63fe802cde1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2015"/>
    <a:srgbClr val="DA26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615"/>
    <p:restoredTop sz="94671"/>
  </p:normalViewPr>
  <p:slideViewPr>
    <p:cSldViewPr snapToGrid="0" snapToObjects="1">
      <p:cViewPr varScale="1">
        <p:scale>
          <a:sx n="17" d="100"/>
          <a:sy n="17" d="100"/>
        </p:scale>
        <p:origin x="1843" y="206"/>
      </p:cViewPr>
      <p:guideLst>
        <p:guide orient="horz" pos="10368"/>
        <p:guide pos="138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8/10/relationships/authors" Target="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5387342"/>
            <a:ext cx="37307520" cy="11460480"/>
          </a:xfrm>
        </p:spPr>
        <p:txBody>
          <a:bodyPr anchor="b"/>
          <a:lstStyle>
            <a:lvl1pPr algn="ctr"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</p:spPr>
        <p:txBody>
          <a:bodyPr/>
          <a:lstStyle>
            <a:lvl1pPr marL="0" indent="0" algn="ctr">
              <a:buNone/>
              <a:defRPr sz="11520"/>
            </a:lvl1pPr>
            <a:lvl2pPr marL="2194560" indent="0" algn="ctr">
              <a:buNone/>
              <a:defRPr sz="9600"/>
            </a:lvl2pPr>
            <a:lvl3pPr marL="4389120" indent="0" algn="ctr">
              <a:buNone/>
              <a:defRPr sz="8640"/>
            </a:lvl3pPr>
            <a:lvl4pPr marL="6583680" indent="0" algn="ctr">
              <a:buNone/>
              <a:defRPr sz="7680"/>
            </a:lvl4pPr>
            <a:lvl5pPr marL="8778240" indent="0" algn="ctr">
              <a:buNone/>
              <a:defRPr sz="7680"/>
            </a:lvl5pPr>
            <a:lvl6pPr marL="10972800" indent="0" algn="ctr">
              <a:buNone/>
              <a:defRPr sz="7680"/>
            </a:lvl6pPr>
            <a:lvl7pPr marL="13167360" indent="0" algn="ctr">
              <a:buNone/>
              <a:defRPr sz="7680"/>
            </a:lvl7pPr>
            <a:lvl8pPr marL="15361920" indent="0" algn="ctr">
              <a:buNone/>
              <a:defRPr sz="7680"/>
            </a:lvl8pPr>
            <a:lvl9pPr marL="17556480" indent="0" algn="ctr">
              <a:buNone/>
              <a:defRPr sz="76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29746-1088-C241-BC8C-4CC03DF23E15}" type="datetimeFigureOut">
              <a:rPr lang="en-US" smtClean="0"/>
              <a:t>4/15/2025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9FC5-D1F7-DB4C-8F93-FEB2C60F6F3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771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29746-1088-C241-BC8C-4CC03DF23E15}" type="datetimeFigureOut">
              <a:rPr lang="en-US" smtClean="0"/>
              <a:t>4/15/2025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9FC5-D1F7-DB4C-8F93-FEB2C60F6F3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372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662" y="8206749"/>
            <a:ext cx="37856160" cy="13693138"/>
          </a:xfrm>
        </p:spPr>
        <p:txBody>
          <a:bodyPr anchor="b"/>
          <a:lstStyle>
            <a:lvl1pPr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662" y="22029429"/>
            <a:ext cx="37856160" cy="7200898"/>
          </a:xfrm>
        </p:spPr>
        <p:txBody>
          <a:bodyPr/>
          <a:lstStyle>
            <a:lvl1pPr marL="0" indent="0">
              <a:buNone/>
              <a:defRPr sz="11520">
                <a:solidFill>
                  <a:schemeClr val="tx1"/>
                </a:solidFill>
              </a:defRPr>
            </a:lvl1pPr>
            <a:lvl2pPr marL="2194560" indent="0">
              <a:buNone/>
              <a:defRPr sz="960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864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29746-1088-C241-BC8C-4CC03DF23E15}" type="datetimeFigureOut">
              <a:rPr lang="en-US" smtClean="0"/>
              <a:t>4/15/2025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9FC5-D1F7-DB4C-8F93-FEB2C60F6F3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081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5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199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29746-1088-C241-BC8C-4CC03DF23E15}" type="datetimeFigureOut">
              <a:rPr lang="en-US" smtClean="0"/>
              <a:t>4/15/2025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9FC5-D1F7-DB4C-8F93-FEB2C60F6F3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3238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1752607"/>
            <a:ext cx="37856160" cy="6362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3242" y="8069582"/>
            <a:ext cx="18568032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242" y="12024360"/>
            <a:ext cx="18568032" cy="176860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19922" y="8069582"/>
            <a:ext cx="18659477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19922" y="12024360"/>
            <a:ext cx="18659477" cy="176860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29746-1088-C241-BC8C-4CC03DF23E15}" type="datetimeFigureOut">
              <a:rPr lang="en-US" smtClean="0"/>
              <a:t>4/15/2025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9FC5-D1F7-DB4C-8F93-FEB2C60F6F3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588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29746-1088-C241-BC8C-4CC03DF23E15}" type="datetimeFigureOut">
              <a:rPr lang="en-US" smtClean="0"/>
              <a:t>4/15/2025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9FC5-D1F7-DB4C-8F93-FEB2C60F6F3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220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29746-1088-C241-BC8C-4CC03DF23E15}" type="datetimeFigureOut">
              <a:rPr lang="en-US" smtClean="0"/>
              <a:t>4/15/2025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9FC5-D1F7-DB4C-8F93-FEB2C60F6F3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3791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9477" y="4739647"/>
            <a:ext cx="22219920" cy="23393400"/>
          </a:xfrm>
        </p:spPr>
        <p:txBody>
          <a:bodyPr/>
          <a:lstStyle>
            <a:lvl1pPr>
              <a:defRPr sz="15360"/>
            </a:lvl1pPr>
            <a:lvl2pPr>
              <a:defRPr sz="13440"/>
            </a:lvl2pPr>
            <a:lvl3pPr>
              <a:defRPr sz="1152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29746-1088-C241-BC8C-4CC03DF23E15}" type="datetimeFigureOut">
              <a:rPr lang="en-US" smtClean="0"/>
              <a:t>4/15/2025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9FC5-D1F7-DB4C-8F93-FEB2C60F6F3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6905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659477" y="4739647"/>
            <a:ext cx="22219920" cy="23393400"/>
          </a:xfrm>
        </p:spPr>
        <p:txBody>
          <a:bodyPr anchor="t"/>
          <a:lstStyle>
            <a:lvl1pPr marL="0" indent="0">
              <a:buNone/>
              <a:defRPr sz="15360"/>
            </a:lvl1pPr>
            <a:lvl2pPr marL="2194560" indent="0">
              <a:buNone/>
              <a:defRPr sz="13440"/>
            </a:lvl2pPr>
            <a:lvl3pPr marL="4389120" indent="0">
              <a:buNone/>
              <a:defRPr sz="1152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29746-1088-C241-BC8C-4CC03DF23E15}" type="datetimeFigureOut">
              <a:rPr lang="en-US" smtClean="0"/>
              <a:t>4/15/2025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9FC5-D1F7-DB4C-8F93-FEB2C60F6F3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3189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29746-1088-C241-BC8C-4CC03DF23E15}" type="datetimeFigureOut">
              <a:rPr lang="en-US" smtClean="0"/>
              <a:t>4/15/2025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9FC5-D1F7-DB4C-8F93-FEB2C60F6F3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678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09642" y="1752600"/>
            <a:ext cx="946404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522" y="1752600"/>
            <a:ext cx="27843480" cy="27896822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29746-1088-C241-BC8C-4CC03DF23E15}" type="datetimeFigureOut">
              <a:rPr lang="en-US" smtClean="0"/>
              <a:t>4/15/2025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9FC5-D1F7-DB4C-8F93-FEB2C60F6F3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174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C29746-1088-C241-BC8C-4CC03DF23E15}" type="datetimeFigureOut">
              <a:rPr lang="en-US" smtClean="0"/>
              <a:t>4/15/2025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EB9FC5-D1F7-DB4C-8F93-FEB2C60F6F3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363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389120" rtl="0" eaLnBrk="1" latinLnBrk="0" hangingPunct="1">
        <a:lnSpc>
          <a:spcPct val="90000"/>
        </a:lnSpc>
        <a:spcBef>
          <a:spcPct val="0"/>
        </a:spcBef>
        <a:buNone/>
        <a:defRPr sz="211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280" indent="-1097280" algn="l" defTabSz="4389120" rtl="0" eaLnBrk="1" latinLnBrk="0" hangingPunct="1">
        <a:lnSpc>
          <a:spcPct val="90000"/>
        </a:lnSpc>
        <a:spcBef>
          <a:spcPts val="4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1152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EF93311E-5526-9B4D-B45E-5E7F622DA0A9}"/>
              </a:ext>
            </a:extLst>
          </p:cNvPr>
          <p:cNvSpPr/>
          <p:nvPr/>
        </p:nvSpPr>
        <p:spPr>
          <a:xfrm>
            <a:off x="865801" y="5641481"/>
            <a:ext cx="13344023" cy="2652143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EDE2ACD-A6EA-934B-8311-5A13CF732344}"/>
              </a:ext>
            </a:extLst>
          </p:cNvPr>
          <p:cNvSpPr/>
          <p:nvPr/>
        </p:nvSpPr>
        <p:spPr>
          <a:xfrm>
            <a:off x="15173208" y="5641481"/>
            <a:ext cx="13344023" cy="2652143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8EC93B3-E7A7-EE4A-B4AF-BB1DC5CDEAAD}"/>
              </a:ext>
            </a:extLst>
          </p:cNvPr>
          <p:cNvSpPr/>
          <p:nvPr/>
        </p:nvSpPr>
        <p:spPr>
          <a:xfrm>
            <a:off x="29480615" y="5641481"/>
            <a:ext cx="13344023" cy="2652143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89FFAEC-A478-F04F-8460-BD6F020D7F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57296" y="-1977267"/>
            <a:ext cx="7511177" cy="972034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97E8CD8-CBE6-714E-B82E-EB35DF3B0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73" y="-2118300"/>
            <a:ext cx="7511177" cy="972034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B9353E3-9041-1A4D-98C1-58D5DD66ABB7}"/>
              </a:ext>
            </a:extLst>
          </p:cNvPr>
          <p:cNvSpPr txBox="1"/>
          <p:nvPr/>
        </p:nvSpPr>
        <p:spPr>
          <a:xfrm>
            <a:off x="1191444" y="7185088"/>
            <a:ext cx="13018379" cy="212365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ZA" sz="4400" dirty="0">
                <a:solidFill>
                  <a:schemeClr val="bg1"/>
                </a:solidFill>
                <a:latin typeface="Garamond" panose="02020404030301010803" pitchFamily="18" charset="0"/>
              </a:rPr>
              <a:t>Rugby Union is a historically international sport dating back to the 1800s, known for its longstanding rivalries among mostly Commonwealth nations.</a:t>
            </a:r>
            <a:endParaRPr lang="en-US" sz="4400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3A71EA-5AB2-7039-34F7-C37D24AB5802}"/>
              </a:ext>
            </a:extLst>
          </p:cNvPr>
          <p:cNvSpPr txBox="1"/>
          <p:nvPr/>
        </p:nvSpPr>
        <p:spPr>
          <a:xfrm>
            <a:off x="16998891" y="5638116"/>
            <a:ext cx="9908930" cy="212365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  <a:latin typeface="Garamond" panose="02020404030301010803" pitchFamily="18" charset="0"/>
              </a:rPr>
              <a:t>Example Analysis:               South Africa vs Wales</a:t>
            </a:r>
            <a:endParaRPr lang="en-US" sz="6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F25110-6E80-CDBE-8662-D7C94174BDE4}"/>
              </a:ext>
            </a:extLst>
          </p:cNvPr>
          <p:cNvSpPr txBox="1"/>
          <p:nvPr/>
        </p:nvSpPr>
        <p:spPr>
          <a:xfrm>
            <a:off x="1192460" y="10402124"/>
            <a:ext cx="12781850" cy="353943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>
                    <a:lumMod val="95000"/>
                  </a:schemeClr>
                </a:solidFill>
                <a:latin typeface="Garamond" panose="02020404030301010803" pitchFamily="18" charset="0"/>
              </a:rPr>
              <a:t>1.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Garamond" panose="02020404030301010803" pitchFamily="18" charset="0"/>
              </a:rPr>
              <a:t>Project Summary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ZA" sz="4400" dirty="0">
                <a:solidFill>
                  <a:schemeClr val="bg1">
                    <a:lumMod val="95000"/>
                  </a:schemeClr>
                </a:solidFill>
                <a:latin typeface="Garamond" panose="02020404030301010803" pitchFamily="18" charset="0"/>
              </a:rPr>
              <a:t>Investigates historic Rugby Union rivalries using statistical visualizations based on past match results.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ZA" sz="4400" dirty="0">
                <a:solidFill>
                  <a:schemeClr val="bg1">
                    <a:lumMod val="95000"/>
                  </a:schemeClr>
                </a:solidFill>
                <a:latin typeface="Garamond" panose="02020404030301010803" pitchFamily="18" charset="0"/>
              </a:rPr>
              <a:t>Identifying trends to team performance predict through an interactive online tool built in Shiny.</a:t>
            </a:r>
            <a:endParaRPr lang="en-US" sz="4400" dirty="0">
              <a:solidFill>
                <a:schemeClr val="bg1">
                  <a:lumMod val="95000"/>
                </a:schemeClr>
              </a:solidFill>
              <a:latin typeface="Garamond" panose="02020404030301010803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14138C7-B593-3606-53FE-926B21A4D50F}"/>
              </a:ext>
            </a:extLst>
          </p:cNvPr>
          <p:cNvSpPr txBox="1"/>
          <p:nvPr/>
        </p:nvSpPr>
        <p:spPr>
          <a:xfrm>
            <a:off x="3334991" y="6015510"/>
            <a:ext cx="7714969" cy="11079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  <a:latin typeface="Garamond" panose="02020404030301010803" pitchFamily="18" charset="0"/>
              </a:rPr>
              <a:t>What is Rugby Union?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EF885C-3B5D-E723-9B0A-EA2A2B55163E}"/>
              </a:ext>
            </a:extLst>
          </p:cNvPr>
          <p:cNvSpPr txBox="1"/>
          <p:nvPr/>
        </p:nvSpPr>
        <p:spPr>
          <a:xfrm>
            <a:off x="3598848" y="9475762"/>
            <a:ext cx="7877927" cy="11079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  <a:latin typeface="Garamond" panose="02020404030301010803" pitchFamily="18" charset="0"/>
              </a:rPr>
              <a:t>Project Overview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87DF18A-FE3D-A58A-50C3-F76D665F1FB9}"/>
              </a:ext>
            </a:extLst>
          </p:cNvPr>
          <p:cNvSpPr txBox="1"/>
          <p:nvPr/>
        </p:nvSpPr>
        <p:spPr>
          <a:xfrm>
            <a:off x="1192461" y="13871667"/>
            <a:ext cx="12753241" cy="286232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>
                    <a:lumMod val="95000"/>
                  </a:schemeClr>
                </a:solidFill>
                <a:latin typeface="Garamond" panose="02020404030301010803" pitchFamily="18" charset="0"/>
              </a:rPr>
              <a:t>2.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Garamond" panose="02020404030301010803" pitchFamily="18" charset="0"/>
              </a:rPr>
              <a:t>Data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ZA" sz="4400" dirty="0">
                <a:solidFill>
                  <a:schemeClr val="bg1">
                    <a:lumMod val="95000"/>
                  </a:schemeClr>
                </a:solidFill>
                <a:latin typeface="Garamond" panose="02020404030301010803" pitchFamily="18" charset="0"/>
              </a:rPr>
              <a:t>From Kaggle, covering international matches from 1871 to 2023.</a:t>
            </a:r>
            <a:r>
              <a:rPr lang="en-US" sz="4400" dirty="0">
                <a:solidFill>
                  <a:schemeClr val="bg1">
                    <a:lumMod val="95000"/>
                  </a:schemeClr>
                </a:solidFill>
                <a:latin typeface="Garamond" panose="02020404030301010803" pitchFamily="18" charset="0"/>
              </a:rPr>
              <a:t>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ZA" sz="4400" dirty="0">
                <a:solidFill>
                  <a:schemeClr val="bg1">
                    <a:lumMod val="95000"/>
                  </a:schemeClr>
                </a:solidFill>
                <a:latin typeface="Garamond" panose="02020404030301010803" pitchFamily="18" charset="0"/>
              </a:rPr>
              <a:t>Contains ~ 2,700 matches with multiple variables.</a:t>
            </a:r>
            <a:endParaRPr lang="en-US" sz="4400" dirty="0">
              <a:solidFill>
                <a:schemeClr val="bg1">
                  <a:lumMod val="95000"/>
                </a:schemeClr>
              </a:solidFill>
              <a:latin typeface="Garamond" panose="02020404030301010803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21FE080-6103-9757-A496-E3B3C2375C6C}"/>
              </a:ext>
            </a:extLst>
          </p:cNvPr>
          <p:cNvSpPr txBox="1"/>
          <p:nvPr/>
        </p:nvSpPr>
        <p:spPr>
          <a:xfrm>
            <a:off x="1191444" y="23287083"/>
            <a:ext cx="12753241" cy="353943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>
                    <a:lumMod val="95000"/>
                  </a:schemeClr>
                </a:solidFill>
                <a:latin typeface="Garamond" panose="02020404030301010803" pitchFamily="18" charset="0"/>
              </a:rPr>
              <a:t>3.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Garamond" panose="02020404030301010803" pitchFamily="18" charset="0"/>
              </a:rPr>
              <a:t>Shiny App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ZA" sz="4400" dirty="0">
                <a:solidFill>
                  <a:schemeClr val="bg1">
                    <a:lumMod val="95000"/>
                  </a:schemeClr>
                </a:solidFill>
                <a:latin typeface="Garamond" panose="02020404030301010803" pitchFamily="18" charset="0"/>
              </a:rPr>
              <a:t>Users can select any two teams to view dynamic, matchup-specific visualizations.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ZA" sz="4400" dirty="0">
                <a:solidFill>
                  <a:schemeClr val="bg1">
                    <a:lumMod val="95000"/>
                  </a:schemeClr>
                </a:solidFill>
                <a:latin typeface="Garamond" panose="02020404030301010803" pitchFamily="18" charset="0"/>
              </a:rPr>
              <a:t>Visuals include density plots, point differentials, pie charts, and interactive scatterplots for deeper insights.</a:t>
            </a:r>
            <a:endParaRPr lang="en-US" sz="4400" dirty="0">
              <a:solidFill>
                <a:schemeClr val="bg1">
                  <a:lumMod val="95000"/>
                </a:schemeClr>
              </a:solidFill>
              <a:latin typeface="Garamond" panose="02020404030301010803" pitchFamily="18" charset="0"/>
            </a:endParaRP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84B39A4E-AAD8-4A91-F0FE-2446AA0DAE5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520039" y="18999177"/>
            <a:ext cx="2845203" cy="2845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811209E-9149-4B2D-6634-FCB02A7021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3163" y="16683153"/>
            <a:ext cx="11586598" cy="6493382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86BC9D47-6652-9A8C-08F3-657E821FD905}"/>
              </a:ext>
            </a:extLst>
          </p:cNvPr>
          <p:cNvSpPr txBox="1"/>
          <p:nvPr/>
        </p:nvSpPr>
        <p:spPr>
          <a:xfrm>
            <a:off x="22988360" y="7817340"/>
            <a:ext cx="5427068" cy="280076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b="1" u="sng" dirty="0">
                <a:solidFill>
                  <a:schemeClr val="bg1">
                    <a:lumMod val="95000"/>
                  </a:schemeClr>
                </a:solidFill>
                <a:latin typeface="Garamond" panose="02020404030301010803" pitchFamily="18" charset="0"/>
              </a:rPr>
              <a:t>Fig. 1</a:t>
            </a:r>
            <a:r>
              <a:rPr lang="en-US" sz="4400" dirty="0">
                <a:solidFill>
                  <a:schemeClr val="bg1">
                    <a:lumMod val="95000"/>
                  </a:schemeClr>
                </a:solidFill>
                <a:latin typeface="Garamond" panose="02020404030301010803" pitchFamily="18" charset="0"/>
              </a:rPr>
              <a:t>: SA Score Distribution across all matches throughout History.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A1C0199-C088-B65F-084D-6C276984CB84}"/>
              </a:ext>
            </a:extLst>
          </p:cNvPr>
          <p:cNvSpPr txBox="1"/>
          <p:nvPr/>
        </p:nvSpPr>
        <p:spPr>
          <a:xfrm>
            <a:off x="22988360" y="11307378"/>
            <a:ext cx="5427068" cy="280076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b="1" u="sng" dirty="0">
                <a:solidFill>
                  <a:schemeClr val="bg1">
                    <a:lumMod val="95000"/>
                  </a:schemeClr>
                </a:solidFill>
                <a:latin typeface="Garamond" panose="02020404030301010803" pitchFamily="18" charset="0"/>
              </a:rPr>
              <a:t>Fig. 2</a:t>
            </a:r>
            <a:r>
              <a:rPr lang="en-US" sz="4400" dirty="0">
                <a:solidFill>
                  <a:schemeClr val="bg1">
                    <a:lumMod val="95000"/>
                  </a:schemeClr>
                </a:solidFill>
                <a:latin typeface="Garamond" panose="02020404030301010803" pitchFamily="18" charset="0"/>
              </a:rPr>
              <a:t>: Wales Score Distribution across all matches throughout History.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80CEA3B-DB2C-212E-0F1F-7179342F25A7}"/>
              </a:ext>
            </a:extLst>
          </p:cNvPr>
          <p:cNvSpPr txBox="1"/>
          <p:nvPr/>
        </p:nvSpPr>
        <p:spPr>
          <a:xfrm>
            <a:off x="22988360" y="14713132"/>
            <a:ext cx="5427068" cy="280076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b="1" u="sng" dirty="0">
                <a:solidFill>
                  <a:schemeClr val="bg1">
                    <a:lumMod val="95000"/>
                  </a:schemeClr>
                </a:solidFill>
                <a:latin typeface="Garamond" panose="02020404030301010803" pitchFamily="18" charset="0"/>
              </a:rPr>
              <a:t>Fig. 3</a:t>
            </a:r>
            <a:r>
              <a:rPr lang="en-US" sz="4400" dirty="0">
                <a:solidFill>
                  <a:schemeClr val="bg1">
                    <a:lumMod val="95000"/>
                  </a:schemeClr>
                </a:solidFill>
                <a:latin typeface="Garamond" panose="02020404030301010803" pitchFamily="18" charset="0"/>
              </a:rPr>
              <a:t>: Combined Score Distribution when these teams played each other.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87A6B8A-CADB-C2B9-0100-74D895FFB91D}"/>
              </a:ext>
            </a:extLst>
          </p:cNvPr>
          <p:cNvSpPr txBox="1"/>
          <p:nvPr/>
        </p:nvSpPr>
        <p:spPr>
          <a:xfrm>
            <a:off x="7673290" y="580581"/>
            <a:ext cx="28604027" cy="5016758"/>
          </a:xfrm>
          <a:prstGeom prst="rect">
            <a:avLst/>
          </a:prstGeom>
          <a:solidFill>
            <a:schemeClr val="accent1">
              <a:lumMod val="50000"/>
            </a:schemeClr>
          </a:solidFill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ZA" sz="8000" b="1" dirty="0">
                <a:solidFill>
                  <a:schemeClr val="bg1"/>
                </a:solidFill>
                <a:latin typeface="Garamond" panose="02020404030301010803" pitchFamily="18" charset="0"/>
              </a:rPr>
              <a:t>Rugby Union Results Exploration</a:t>
            </a:r>
            <a:r>
              <a:rPr lang="en-ZA" sz="8000" dirty="0">
                <a:latin typeface="Garamond" panose="02020404030301010803" pitchFamily="18" charset="0"/>
              </a:rPr>
              <a:t> </a:t>
            </a:r>
          </a:p>
          <a:p>
            <a:pPr algn="ctr"/>
            <a:r>
              <a:rPr lang="en-ZA" sz="8000" dirty="0">
                <a:solidFill>
                  <a:schemeClr val="bg1"/>
                </a:solidFill>
                <a:latin typeface="Garamond" panose="02020404030301010803" pitchFamily="18" charset="0"/>
              </a:rPr>
              <a:t>Ali du Plessis ’25 (Statistics &amp; Economics)</a:t>
            </a:r>
          </a:p>
          <a:p>
            <a:pPr algn="ctr"/>
            <a:r>
              <a:rPr lang="en-ZA" sz="8000" dirty="0">
                <a:solidFill>
                  <a:schemeClr val="bg1"/>
                </a:solidFill>
                <a:latin typeface="Garamond" panose="02020404030301010803" pitchFamily="18" charset="0"/>
              </a:rPr>
              <a:t>Advisor : Ivan Ramler</a:t>
            </a:r>
          </a:p>
          <a:p>
            <a:pPr algn="ctr"/>
            <a:r>
              <a:rPr lang="en-ZA" sz="8000" dirty="0">
                <a:solidFill>
                  <a:schemeClr val="bg1"/>
                </a:solidFill>
                <a:latin typeface="Garamond" panose="02020404030301010803" pitchFamily="18" charset="0"/>
              </a:rPr>
              <a:t>Department: Statistics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BA21B26-74B6-8E49-CB4F-2897D848CFD4}"/>
              </a:ext>
            </a:extLst>
          </p:cNvPr>
          <p:cNvSpPr txBox="1"/>
          <p:nvPr/>
        </p:nvSpPr>
        <p:spPr>
          <a:xfrm>
            <a:off x="22988360" y="18604941"/>
            <a:ext cx="5427068" cy="280076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b="1" u="sng" dirty="0">
                <a:solidFill>
                  <a:schemeClr val="bg1">
                    <a:lumMod val="95000"/>
                  </a:schemeClr>
                </a:solidFill>
                <a:latin typeface="Garamond" panose="02020404030301010803" pitchFamily="18" charset="0"/>
              </a:rPr>
              <a:t>Fig. 4</a:t>
            </a:r>
            <a:r>
              <a:rPr lang="en-US" sz="4400" dirty="0">
                <a:solidFill>
                  <a:schemeClr val="bg1">
                    <a:lumMod val="95000"/>
                  </a:schemeClr>
                </a:solidFill>
                <a:latin typeface="Garamond" panose="02020404030301010803" pitchFamily="18" charset="0"/>
              </a:rPr>
              <a:t>: Point Differential Distribution of SA (minus) Wales.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14FA926-12DB-B9DE-56FF-330BB957AD0E}"/>
              </a:ext>
            </a:extLst>
          </p:cNvPr>
          <p:cNvSpPr txBox="1"/>
          <p:nvPr/>
        </p:nvSpPr>
        <p:spPr>
          <a:xfrm>
            <a:off x="22988360" y="22130095"/>
            <a:ext cx="5427068" cy="347787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b="1" u="sng" dirty="0">
                <a:solidFill>
                  <a:schemeClr val="bg1">
                    <a:lumMod val="95000"/>
                  </a:schemeClr>
                </a:solidFill>
                <a:latin typeface="Garamond" panose="02020404030301010803" pitchFamily="18" charset="0"/>
              </a:rPr>
              <a:t>Fig. 5</a:t>
            </a:r>
            <a:r>
              <a:rPr lang="en-US" sz="4400" dirty="0">
                <a:solidFill>
                  <a:schemeClr val="bg1">
                    <a:lumMod val="95000"/>
                  </a:schemeClr>
                </a:solidFill>
                <a:latin typeface="Garamond" panose="02020404030301010803" pitchFamily="18" charset="0"/>
              </a:rPr>
              <a:t>: Pie Chart of Historic Win/Loss/Draw in terms of SA’s Perspective.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AF913CB-4A40-C039-5695-1AA523B864DD}"/>
              </a:ext>
            </a:extLst>
          </p:cNvPr>
          <p:cNvSpPr txBox="1"/>
          <p:nvPr/>
        </p:nvSpPr>
        <p:spPr>
          <a:xfrm>
            <a:off x="22988360" y="25903732"/>
            <a:ext cx="5427068" cy="144655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b="1" u="sng" dirty="0">
                <a:solidFill>
                  <a:schemeClr val="bg1">
                    <a:lumMod val="95000"/>
                  </a:schemeClr>
                </a:solidFill>
                <a:latin typeface="Garamond" panose="02020404030301010803" pitchFamily="18" charset="0"/>
              </a:rPr>
              <a:t>Fig. 6</a:t>
            </a:r>
            <a:r>
              <a:rPr lang="en-US" sz="4400" dirty="0">
                <a:solidFill>
                  <a:schemeClr val="bg1">
                    <a:lumMod val="95000"/>
                  </a:schemeClr>
                </a:solidFill>
                <a:latin typeface="Garamond" panose="02020404030301010803" pitchFamily="18" charset="0"/>
              </a:rPr>
              <a:t>: Total Score vs Point Differential.</a:t>
            </a: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EB4302CB-9468-5980-642B-89616B1A30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49482" y="29863985"/>
            <a:ext cx="7528960" cy="1957005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EFE0DCBB-AFE9-1C04-E41F-C0D9FF32B2B8}"/>
              </a:ext>
            </a:extLst>
          </p:cNvPr>
          <p:cNvSpPr txBox="1"/>
          <p:nvPr/>
        </p:nvSpPr>
        <p:spPr>
          <a:xfrm>
            <a:off x="22988360" y="29863985"/>
            <a:ext cx="5427068" cy="144655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b="1" u="sng" dirty="0">
                <a:solidFill>
                  <a:schemeClr val="bg1">
                    <a:lumMod val="95000"/>
                  </a:schemeClr>
                </a:solidFill>
                <a:latin typeface="Garamond" panose="02020404030301010803" pitchFamily="18" charset="0"/>
              </a:rPr>
              <a:t>Fig. 7</a:t>
            </a:r>
            <a:r>
              <a:rPr lang="en-US" sz="4400" dirty="0">
                <a:solidFill>
                  <a:schemeClr val="bg1">
                    <a:lumMod val="95000"/>
                  </a:schemeClr>
                </a:solidFill>
                <a:latin typeface="Garamond" panose="02020404030301010803" pitchFamily="18" charset="0"/>
              </a:rPr>
              <a:t>: Probabilities Between 2 Teams.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3B712D7-4A37-D1C8-C392-9D9C306B4FDE}"/>
              </a:ext>
            </a:extLst>
          </p:cNvPr>
          <p:cNvSpPr txBox="1"/>
          <p:nvPr/>
        </p:nvSpPr>
        <p:spPr>
          <a:xfrm>
            <a:off x="29812438" y="6788068"/>
            <a:ext cx="12783600" cy="686341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ZA" sz="4400" b="1" u="sng" dirty="0">
                <a:solidFill>
                  <a:schemeClr val="bg1">
                    <a:lumMod val="95000"/>
                  </a:schemeClr>
                </a:solidFill>
                <a:latin typeface="Garamond" panose="02020404030301010803" pitchFamily="18" charset="0"/>
              </a:rPr>
              <a:t>Fig. 1  &amp; 2</a:t>
            </a:r>
            <a:r>
              <a:rPr lang="en-ZA" sz="4400" b="1" dirty="0">
                <a:solidFill>
                  <a:schemeClr val="bg1">
                    <a:lumMod val="95000"/>
                  </a:schemeClr>
                </a:solidFill>
                <a:latin typeface="Garamond" panose="02020404030301010803" pitchFamily="18" charset="0"/>
              </a:rPr>
              <a:t> </a:t>
            </a:r>
            <a:r>
              <a:rPr lang="en-ZA" sz="4400" dirty="0">
                <a:solidFill>
                  <a:schemeClr val="bg1">
                    <a:lumMod val="95000"/>
                  </a:schemeClr>
                </a:solidFill>
                <a:latin typeface="Garamond" panose="02020404030301010803" pitchFamily="18" charset="0"/>
              </a:rPr>
              <a:t>show distributions of all of SA &amp; Wales scores they have achieved throughout history against all the Rugby Union teams.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ZA" sz="4400" b="1" u="sng" dirty="0">
                <a:solidFill>
                  <a:schemeClr val="bg1">
                    <a:lumMod val="95000"/>
                  </a:schemeClr>
                </a:solidFill>
                <a:latin typeface="Garamond" panose="02020404030301010803" pitchFamily="18" charset="0"/>
              </a:rPr>
              <a:t>Fig. 3</a:t>
            </a:r>
            <a:r>
              <a:rPr lang="en-ZA" sz="4400" dirty="0">
                <a:solidFill>
                  <a:schemeClr val="bg1">
                    <a:lumMod val="95000"/>
                  </a:schemeClr>
                </a:solidFill>
                <a:latin typeface="Garamond" panose="02020404030301010803" pitchFamily="18" charset="0"/>
              </a:rPr>
              <a:t> shows, that in head-to-head matchups, Wales’s scores peak sharply around 15 points, indicating a narrow and lower scoring range.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ZA" sz="4400" dirty="0">
                <a:solidFill>
                  <a:schemeClr val="bg1">
                    <a:lumMod val="95000"/>
                  </a:schemeClr>
                </a:solidFill>
                <a:latin typeface="Garamond" panose="02020404030301010803" pitchFamily="18" charset="0"/>
              </a:rPr>
              <a:t>SA’s scores are spread more evenly between 20 and 40 points when facing Wales, resembling a uniform distribution and suggesting more consistent high scoring against Wales.</a:t>
            </a:r>
            <a:endParaRPr lang="en-US" sz="4400" dirty="0">
              <a:solidFill>
                <a:schemeClr val="bg1">
                  <a:lumMod val="95000"/>
                </a:schemeClr>
              </a:solidFill>
              <a:latin typeface="Garamond" panose="02020404030301010803" pitchFamily="18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5BC6DB7-EA40-573B-DC9B-42C80A1F0C78}"/>
              </a:ext>
            </a:extLst>
          </p:cNvPr>
          <p:cNvSpPr txBox="1"/>
          <p:nvPr/>
        </p:nvSpPr>
        <p:spPr>
          <a:xfrm>
            <a:off x="29812438" y="14872064"/>
            <a:ext cx="12783600" cy="34776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ZA" sz="4400" b="1" u="sng" dirty="0">
                <a:solidFill>
                  <a:schemeClr val="bg1">
                    <a:lumMod val="95000"/>
                  </a:schemeClr>
                </a:solidFill>
                <a:latin typeface="Garamond" panose="02020404030301010803" pitchFamily="18" charset="0"/>
              </a:rPr>
              <a:t>Fig. 4</a:t>
            </a:r>
            <a:r>
              <a:rPr lang="en-ZA" sz="4400" dirty="0">
                <a:solidFill>
                  <a:schemeClr val="bg1">
                    <a:lumMod val="95000"/>
                  </a:schemeClr>
                </a:solidFill>
                <a:latin typeface="Garamond" panose="02020404030301010803" pitchFamily="18" charset="0"/>
              </a:rPr>
              <a:t> shows most values to the right of 0, indicating that SA has won more matches and often by larger margins, while Wales’s wins are fewer and closer. </a:t>
            </a:r>
            <a:endParaRPr lang="en-US" sz="4400" dirty="0">
              <a:solidFill>
                <a:schemeClr val="bg1">
                  <a:lumMod val="95000"/>
                </a:schemeClr>
              </a:solidFill>
              <a:latin typeface="Garamond" panose="02020404030301010803" pitchFamily="18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32BA5E8-3F4A-27B9-1043-32D4878B2B62}"/>
              </a:ext>
            </a:extLst>
          </p:cNvPr>
          <p:cNvSpPr txBox="1"/>
          <p:nvPr/>
        </p:nvSpPr>
        <p:spPr>
          <a:xfrm>
            <a:off x="30099074" y="14081222"/>
            <a:ext cx="5265582" cy="83099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Garamond" panose="02020404030301010803" pitchFamily="18" charset="0"/>
              </a:rPr>
              <a:t>Point Differential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CAC0600-EB03-18F6-C62F-B86B587241FA}"/>
              </a:ext>
            </a:extLst>
          </p:cNvPr>
          <p:cNvSpPr txBox="1"/>
          <p:nvPr/>
        </p:nvSpPr>
        <p:spPr>
          <a:xfrm>
            <a:off x="29812438" y="18305685"/>
            <a:ext cx="12783600" cy="82176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>
                    <a:lumMod val="95000"/>
                  </a:schemeClr>
                </a:solidFill>
                <a:latin typeface="Garamond" panose="02020404030301010803" pitchFamily="18" charset="0"/>
              </a:rPr>
              <a:t>Points far to the right represent high scoring matches.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>
                    <a:lumMod val="95000"/>
                  </a:schemeClr>
                </a:solidFill>
                <a:latin typeface="Garamond" panose="02020404030301010803" pitchFamily="18" charset="0"/>
              </a:rPr>
              <a:t>Points high along the Y-axis represent matches with large point differentials.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>
                    <a:lumMod val="95000"/>
                  </a:schemeClr>
                </a:solidFill>
                <a:latin typeface="Garamond" panose="02020404030301010803" pitchFamily="18" charset="0"/>
              </a:rPr>
              <a:t>This graph can be seen as an entertainment scale to see which matches were most entertaining</a:t>
            </a:r>
            <a:r>
              <a:rPr lang="en-ZA" sz="4400" dirty="0">
                <a:solidFill>
                  <a:schemeClr val="bg1">
                    <a:lumMod val="95000"/>
                  </a:schemeClr>
                </a:solidFill>
                <a:latin typeface="Garamond" panose="02020404030301010803" pitchFamily="18" charset="0"/>
              </a:rPr>
              <a:t>. </a:t>
            </a:r>
          </a:p>
          <a:p>
            <a:pPr marL="1341438" lvl="1" indent="-571500">
              <a:buFont typeface="Courier New" panose="02070309020205020404" pitchFamily="49" charset="0"/>
              <a:buChar char="o"/>
            </a:pPr>
            <a:r>
              <a:rPr lang="en-ZA" sz="4400" dirty="0">
                <a:solidFill>
                  <a:schemeClr val="bg1">
                    <a:lumMod val="95000"/>
                  </a:schemeClr>
                </a:solidFill>
                <a:latin typeface="Garamond" panose="02020404030301010803" pitchFamily="18" charset="0"/>
              </a:rPr>
              <a:t>A point like this can be seen on </a:t>
            </a:r>
            <a:r>
              <a:rPr lang="en-ZA" sz="4400" b="1" u="sng" dirty="0">
                <a:solidFill>
                  <a:schemeClr val="bg1">
                    <a:lumMod val="95000"/>
                  </a:schemeClr>
                </a:solidFill>
                <a:latin typeface="Garamond" panose="02020404030301010803" pitchFamily="18" charset="0"/>
              </a:rPr>
              <a:t>Fig. 6 </a:t>
            </a:r>
            <a:r>
              <a:rPr lang="en-ZA" sz="4400" dirty="0">
                <a:solidFill>
                  <a:schemeClr val="bg1">
                    <a:lumMod val="95000"/>
                  </a:schemeClr>
                </a:solidFill>
                <a:latin typeface="Garamond" panose="02020404030301010803" pitchFamily="18" charset="0"/>
              </a:rPr>
              <a:t>and has been marked.</a:t>
            </a:r>
            <a:endParaRPr lang="en-ZA" sz="4400" b="1" u="sng" dirty="0">
              <a:solidFill>
                <a:schemeClr val="bg1">
                  <a:lumMod val="95000"/>
                </a:schemeClr>
              </a:solidFill>
              <a:latin typeface="Garamond" panose="02020404030301010803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ZA" sz="4400" dirty="0">
                <a:solidFill>
                  <a:schemeClr val="bg1">
                    <a:lumMod val="95000"/>
                  </a:schemeClr>
                </a:solidFill>
                <a:latin typeface="Garamond" panose="02020404030301010803" pitchFamily="18" charset="0"/>
              </a:rPr>
              <a:t>Together, these visuals provide a strong foundation for making intuitive, data-driven predictions about which team is more likely to win based on history, not just hype.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400" dirty="0">
              <a:solidFill>
                <a:schemeClr val="bg1">
                  <a:lumMod val="95000"/>
                </a:schemeClr>
              </a:solidFill>
              <a:latin typeface="Garamond" panose="02020404030301010803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262C14-1726-C621-E2E3-B216EE6785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6199" y="1107131"/>
            <a:ext cx="3762900" cy="37438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6063699-4E07-FF90-9D4A-A5BAFDF78A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58768" y="1107131"/>
            <a:ext cx="3762900" cy="37438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0D0FD73-FE85-D0EF-B1E2-D630079DE0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49482" y="7817340"/>
            <a:ext cx="7426535" cy="31622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8AFEC5A-E0AD-AE4F-46E5-61928BBD01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449482" y="11307378"/>
            <a:ext cx="7426800" cy="31557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CD32D12-0AE3-2256-A381-D438F02B2AE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449482" y="14713132"/>
            <a:ext cx="7426800" cy="342615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9A29AED-0FD5-6CD0-59CF-09F40126B6F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449482" y="18604941"/>
            <a:ext cx="7426800" cy="301386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2F8C7E1-51D0-B233-9A1D-0650EACEEE8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449482" y="22130095"/>
            <a:ext cx="7426800" cy="330862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A76ED624-2AC7-1B49-528B-E87522CE83C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449482" y="25903732"/>
            <a:ext cx="7426800" cy="3338991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872170E8-5DF1-54DB-4581-6CF2D5F60059}"/>
              </a:ext>
            </a:extLst>
          </p:cNvPr>
          <p:cNvSpPr txBox="1"/>
          <p:nvPr/>
        </p:nvSpPr>
        <p:spPr>
          <a:xfrm>
            <a:off x="1221069" y="26947838"/>
            <a:ext cx="12753241" cy="517064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bg1">
                    <a:lumMod val="95000"/>
                  </a:schemeClr>
                </a:solidFill>
                <a:latin typeface="Garamond" panose="02020404030301010803" pitchFamily="18" charset="0"/>
              </a:rPr>
              <a:t>Potential Uses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ZA" sz="4400" dirty="0">
                <a:solidFill>
                  <a:schemeClr val="bg1">
                    <a:lumMod val="95000"/>
                  </a:schemeClr>
                </a:solidFill>
                <a:latin typeface="Garamond" panose="02020404030301010803" pitchFamily="18" charset="0"/>
              </a:rPr>
              <a:t>Developed into a SCORE module to help students understand how visualizations highlight different aspects of matchups.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ZA" sz="4400" dirty="0">
                <a:solidFill>
                  <a:schemeClr val="bg1">
                    <a:lumMod val="95000"/>
                  </a:schemeClr>
                </a:solidFill>
                <a:latin typeface="Garamond" panose="02020404030301010803" pitchFamily="18" charset="0"/>
              </a:rPr>
              <a:t>Though centered on rugby, this type of analysis can be applied to other sports or adapted to compare product performance in business settings.</a:t>
            </a:r>
            <a:endParaRPr lang="en-US" sz="4400" dirty="0">
              <a:solidFill>
                <a:schemeClr val="bg1">
                  <a:lumMod val="95000"/>
                </a:schemeClr>
              </a:solidFill>
              <a:latin typeface="Garamond" panose="02020404030301010803" pitchFamily="18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FF6E489-7E0C-21FF-EC49-3D2CAE2867B4}"/>
              </a:ext>
            </a:extLst>
          </p:cNvPr>
          <p:cNvSpPr/>
          <p:nvPr/>
        </p:nvSpPr>
        <p:spPr>
          <a:xfrm>
            <a:off x="19507200" y="27889200"/>
            <a:ext cx="426720" cy="47244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CDE2295-6C9D-0D84-AF31-D3894A99CF2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303010" y="25295455"/>
            <a:ext cx="6058746" cy="652553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43BBFC8-7A0A-FDEE-F52E-0F62383E5A38}"/>
              </a:ext>
            </a:extLst>
          </p:cNvPr>
          <p:cNvSpPr txBox="1"/>
          <p:nvPr/>
        </p:nvSpPr>
        <p:spPr>
          <a:xfrm>
            <a:off x="30220993" y="5974485"/>
            <a:ext cx="2974553" cy="83099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Garamond" panose="02020404030301010803" pitchFamily="18" charset="0"/>
              </a:rPr>
              <a:t>Densities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B00539-20D5-E452-E117-5AC8D5AB0783}"/>
              </a:ext>
            </a:extLst>
          </p:cNvPr>
          <p:cNvSpPr txBox="1"/>
          <p:nvPr/>
        </p:nvSpPr>
        <p:spPr>
          <a:xfrm>
            <a:off x="30373394" y="17430802"/>
            <a:ext cx="8703567" cy="83099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Garamond" panose="02020404030301010803" pitchFamily="18" charset="0"/>
              </a:rPr>
              <a:t>Entertainment Scale – Fig. 6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436AFD5-50B6-D0BA-172D-FC324CC16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68709" y="-2118301"/>
            <a:ext cx="7511177" cy="9720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0795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1917</TotalTime>
  <Words>490</Words>
  <Application>Microsoft Office PowerPoint</Application>
  <PresentationFormat>Custom</PresentationFormat>
  <Paragraphs>39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Courier New</vt:lpstr>
      <vt:lpstr>Garamond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Alix du Plessis</cp:lastModifiedBy>
  <cp:revision>226</cp:revision>
  <dcterms:created xsi:type="dcterms:W3CDTF">2018-04-09T17:46:55Z</dcterms:created>
  <dcterms:modified xsi:type="dcterms:W3CDTF">2025-04-15T17:00:27Z</dcterms:modified>
</cp:coreProperties>
</file>