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43891200" cy="32918400"/>
  <p:notesSz cx="7023100" cy="9309100"/>
  <p:defaultTextStyle>
    <a:defPPr>
      <a:defRPr lang="en-US"/>
    </a:defPPr>
    <a:lvl1pPr algn="l" defTabSz="4387850" rtl="0" fontAlgn="base">
      <a:spcBef>
        <a:spcPct val="0"/>
      </a:spcBef>
      <a:spcAft>
        <a:spcPct val="0"/>
      </a:spcAft>
      <a:defRPr sz="86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2193925" indent="-1736725" algn="l" defTabSz="4387850" rtl="0" fontAlgn="base">
      <a:spcBef>
        <a:spcPct val="0"/>
      </a:spcBef>
      <a:spcAft>
        <a:spcPct val="0"/>
      </a:spcAft>
      <a:defRPr sz="86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4387850" indent="-3473450" algn="l" defTabSz="4387850" rtl="0" fontAlgn="base">
      <a:spcBef>
        <a:spcPct val="0"/>
      </a:spcBef>
      <a:spcAft>
        <a:spcPct val="0"/>
      </a:spcAft>
      <a:defRPr sz="86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6583363" indent="-5211763" algn="l" defTabSz="4387850" rtl="0" fontAlgn="base">
      <a:spcBef>
        <a:spcPct val="0"/>
      </a:spcBef>
      <a:spcAft>
        <a:spcPct val="0"/>
      </a:spcAft>
      <a:defRPr sz="86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8777288" indent="-6948488" algn="l" defTabSz="4387850" rtl="0" fontAlgn="base">
      <a:spcBef>
        <a:spcPct val="0"/>
      </a:spcBef>
      <a:spcAft>
        <a:spcPct val="0"/>
      </a:spcAft>
      <a:defRPr sz="86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8600"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sz="8600"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sz="8600"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sz="8600"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590C3"/>
    <a:srgbClr val="8AABD2"/>
    <a:srgbClr val="AAC2DE"/>
    <a:srgbClr val="C8D7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30" d="100"/>
          <a:sy n="30" d="100"/>
        </p:scale>
        <p:origin x="-108" y="-72"/>
      </p:cViewPr>
      <p:guideLst>
        <p:guide orient="horz" pos="10368"/>
        <p:guide pos="13824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43343" cy="465455"/>
          </a:xfrm>
          <a:prstGeom prst="rect">
            <a:avLst/>
          </a:prstGeom>
        </p:spPr>
        <p:txBody>
          <a:bodyPr vert="horz" lIns="93316" tIns="46658" rIns="93316" bIns="46658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8132" y="0"/>
            <a:ext cx="3043343" cy="465455"/>
          </a:xfrm>
          <a:prstGeom prst="rect">
            <a:avLst/>
          </a:prstGeom>
        </p:spPr>
        <p:txBody>
          <a:bodyPr vert="horz" lIns="93316" tIns="46658" rIns="93316" bIns="46658" rtlCol="0"/>
          <a:lstStyle>
            <a:lvl1pPr algn="r">
              <a:defRPr sz="1200"/>
            </a:lvl1pPr>
          </a:lstStyle>
          <a:p>
            <a:fld id="{52366313-9278-4696-BE2E-D8462760AA0C}" type="datetimeFigureOut">
              <a:rPr lang="en-US" smtClean="0"/>
              <a:pPr/>
              <a:t>4/16/2018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5863" y="698500"/>
            <a:ext cx="4651375" cy="34893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316" tIns="46658" rIns="93316" bIns="46658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2310" y="4421823"/>
            <a:ext cx="5618480" cy="4189095"/>
          </a:xfrm>
          <a:prstGeom prst="rect">
            <a:avLst/>
          </a:prstGeom>
        </p:spPr>
        <p:txBody>
          <a:bodyPr vert="horz" lIns="93316" tIns="46658" rIns="93316" bIns="46658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42030"/>
            <a:ext cx="3043343" cy="465455"/>
          </a:xfrm>
          <a:prstGeom prst="rect">
            <a:avLst/>
          </a:prstGeom>
        </p:spPr>
        <p:txBody>
          <a:bodyPr vert="horz" lIns="93316" tIns="46658" rIns="93316" bIns="46658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8132" y="8842030"/>
            <a:ext cx="3043343" cy="465455"/>
          </a:xfrm>
          <a:prstGeom prst="rect">
            <a:avLst/>
          </a:prstGeom>
        </p:spPr>
        <p:txBody>
          <a:bodyPr vert="horz" lIns="93316" tIns="46658" rIns="93316" bIns="46658" rtlCol="0" anchor="b"/>
          <a:lstStyle>
            <a:lvl1pPr algn="r">
              <a:defRPr sz="1200"/>
            </a:lvl1pPr>
          </a:lstStyle>
          <a:p>
            <a:fld id="{49EF1319-6A4E-4286-93CD-3C10805A420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58746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EF1319-6A4E-4286-93CD-3C10805A4200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91840" y="10226042"/>
            <a:ext cx="37307520" cy="705612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583680" y="18653760"/>
            <a:ext cx="30723840" cy="841248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2194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4389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65836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87782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0972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31673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53619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7556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2A47AF-6BEE-4606-A186-676808D98D28}" type="datetimeFigureOut">
              <a:rPr lang="en-US"/>
              <a:pPr>
                <a:defRPr/>
              </a:pPr>
              <a:t>4/16/2018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BFEE87-97ED-4BBE-8805-B4B3E379F5C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EBD01D-E748-4169-9C96-47A3912EEF89}" type="datetimeFigureOut">
              <a:rPr lang="en-US"/>
              <a:pPr>
                <a:defRPr/>
              </a:pPr>
              <a:t>4/16/2018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6A16BC-9FFB-41AC-832A-8FBD75C680B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67102" y="21153122"/>
            <a:ext cx="37307520" cy="6537960"/>
          </a:xfrm>
        </p:spPr>
        <p:txBody>
          <a:bodyPr anchor="t"/>
          <a:lstStyle>
            <a:lvl1pPr algn="l">
              <a:defRPr sz="192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67102" y="13952225"/>
            <a:ext cx="37307520" cy="7200898"/>
          </a:xfrm>
        </p:spPr>
        <p:txBody>
          <a:bodyPr anchor="b"/>
          <a:lstStyle>
            <a:lvl1pPr marL="0" indent="0">
              <a:buNone/>
              <a:defRPr sz="9600">
                <a:solidFill>
                  <a:schemeClr val="tx1">
                    <a:tint val="75000"/>
                  </a:schemeClr>
                </a:solidFill>
              </a:defRPr>
            </a:lvl1pPr>
            <a:lvl2pPr marL="2194560" indent="0">
              <a:buNone/>
              <a:defRPr sz="8600">
                <a:solidFill>
                  <a:schemeClr val="tx1">
                    <a:tint val="75000"/>
                  </a:schemeClr>
                </a:solidFill>
              </a:defRPr>
            </a:lvl2pPr>
            <a:lvl3pPr marL="4389120" indent="0">
              <a:buNone/>
              <a:defRPr sz="7700">
                <a:solidFill>
                  <a:schemeClr val="tx1">
                    <a:tint val="75000"/>
                  </a:schemeClr>
                </a:solidFill>
              </a:defRPr>
            </a:lvl3pPr>
            <a:lvl4pPr marL="6583680" indent="0">
              <a:buNone/>
              <a:defRPr sz="6700">
                <a:solidFill>
                  <a:schemeClr val="tx1">
                    <a:tint val="75000"/>
                  </a:schemeClr>
                </a:solidFill>
              </a:defRPr>
            </a:lvl4pPr>
            <a:lvl5pPr marL="8778240" indent="0">
              <a:buNone/>
              <a:defRPr sz="6700">
                <a:solidFill>
                  <a:schemeClr val="tx1">
                    <a:tint val="75000"/>
                  </a:schemeClr>
                </a:solidFill>
              </a:defRPr>
            </a:lvl5pPr>
            <a:lvl6pPr marL="10972800" indent="0">
              <a:buNone/>
              <a:defRPr sz="6700">
                <a:solidFill>
                  <a:schemeClr val="tx1">
                    <a:tint val="75000"/>
                  </a:schemeClr>
                </a:solidFill>
              </a:defRPr>
            </a:lvl6pPr>
            <a:lvl7pPr marL="13167360" indent="0">
              <a:buNone/>
              <a:defRPr sz="6700">
                <a:solidFill>
                  <a:schemeClr val="tx1">
                    <a:tint val="75000"/>
                  </a:schemeClr>
                </a:solidFill>
              </a:defRPr>
            </a:lvl7pPr>
            <a:lvl8pPr marL="15361920" indent="0">
              <a:buNone/>
              <a:defRPr sz="6700">
                <a:solidFill>
                  <a:schemeClr val="tx1">
                    <a:tint val="75000"/>
                  </a:schemeClr>
                </a:solidFill>
              </a:defRPr>
            </a:lvl8pPr>
            <a:lvl9pPr marL="17556480" indent="0">
              <a:buNone/>
              <a:defRPr sz="67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3F98E7-2071-4158-AFAB-7788EA89380D}" type="datetimeFigureOut">
              <a:rPr lang="en-US"/>
              <a:pPr>
                <a:defRPr/>
              </a:pPr>
              <a:t>4/16/2018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174F78-7EE9-446A-ADCC-0584F534BED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194560" y="7680963"/>
            <a:ext cx="19385280" cy="21724622"/>
          </a:xfrm>
        </p:spPr>
        <p:txBody>
          <a:bodyPr/>
          <a:lstStyle>
            <a:lvl1pPr>
              <a:defRPr sz="13400"/>
            </a:lvl1pPr>
            <a:lvl2pPr>
              <a:defRPr sz="11500"/>
            </a:lvl2pPr>
            <a:lvl3pPr>
              <a:defRPr sz="9600"/>
            </a:lvl3pPr>
            <a:lvl4pPr>
              <a:defRPr sz="8600"/>
            </a:lvl4pPr>
            <a:lvl5pPr>
              <a:defRPr sz="8600"/>
            </a:lvl5pPr>
            <a:lvl6pPr>
              <a:defRPr sz="8600"/>
            </a:lvl6pPr>
            <a:lvl7pPr>
              <a:defRPr sz="8600"/>
            </a:lvl7pPr>
            <a:lvl8pPr>
              <a:defRPr sz="8600"/>
            </a:lvl8pPr>
            <a:lvl9pPr>
              <a:defRPr sz="8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311360" y="7680963"/>
            <a:ext cx="19385280" cy="21724622"/>
          </a:xfrm>
        </p:spPr>
        <p:txBody>
          <a:bodyPr/>
          <a:lstStyle>
            <a:lvl1pPr>
              <a:defRPr sz="13400"/>
            </a:lvl1pPr>
            <a:lvl2pPr>
              <a:defRPr sz="11500"/>
            </a:lvl2pPr>
            <a:lvl3pPr>
              <a:defRPr sz="9600"/>
            </a:lvl3pPr>
            <a:lvl4pPr>
              <a:defRPr sz="8600"/>
            </a:lvl4pPr>
            <a:lvl5pPr>
              <a:defRPr sz="8600"/>
            </a:lvl5pPr>
            <a:lvl6pPr>
              <a:defRPr sz="8600"/>
            </a:lvl6pPr>
            <a:lvl7pPr>
              <a:defRPr sz="8600"/>
            </a:lvl7pPr>
            <a:lvl8pPr>
              <a:defRPr sz="8600"/>
            </a:lvl8pPr>
            <a:lvl9pPr>
              <a:defRPr sz="8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D5B7F1-B349-4D4A-810B-00B49537915A}" type="datetimeFigureOut">
              <a:rPr lang="en-US"/>
              <a:pPr>
                <a:defRPr/>
              </a:pPr>
              <a:t>4/16/2018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DDE67F-9407-4542-8674-FB322A2DA1F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94560" y="7368542"/>
            <a:ext cx="19392902" cy="3070858"/>
          </a:xfrm>
        </p:spPr>
        <p:txBody>
          <a:bodyPr anchor="b"/>
          <a:lstStyle>
            <a:lvl1pPr marL="0" indent="0">
              <a:buNone/>
              <a:defRPr sz="11500" b="1"/>
            </a:lvl1pPr>
            <a:lvl2pPr marL="2194560" indent="0">
              <a:buNone/>
              <a:defRPr sz="9600" b="1"/>
            </a:lvl2pPr>
            <a:lvl3pPr marL="4389120" indent="0">
              <a:buNone/>
              <a:defRPr sz="8600" b="1"/>
            </a:lvl3pPr>
            <a:lvl4pPr marL="6583680" indent="0">
              <a:buNone/>
              <a:defRPr sz="7700" b="1"/>
            </a:lvl4pPr>
            <a:lvl5pPr marL="8778240" indent="0">
              <a:buNone/>
              <a:defRPr sz="7700" b="1"/>
            </a:lvl5pPr>
            <a:lvl6pPr marL="10972800" indent="0">
              <a:buNone/>
              <a:defRPr sz="7700" b="1"/>
            </a:lvl6pPr>
            <a:lvl7pPr marL="13167360" indent="0">
              <a:buNone/>
              <a:defRPr sz="7700" b="1"/>
            </a:lvl7pPr>
            <a:lvl8pPr marL="15361920" indent="0">
              <a:buNone/>
              <a:defRPr sz="7700" b="1"/>
            </a:lvl8pPr>
            <a:lvl9pPr marL="17556480" indent="0">
              <a:buNone/>
              <a:defRPr sz="77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194560" y="10439400"/>
            <a:ext cx="19392902" cy="18966182"/>
          </a:xfrm>
        </p:spPr>
        <p:txBody>
          <a:bodyPr/>
          <a:lstStyle>
            <a:lvl1pPr>
              <a:defRPr sz="11500"/>
            </a:lvl1pPr>
            <a:lvl2pPr>
              <a:defRPr sz="9600"/>
            </a:lvl2pPr>
            <a:lvl3pPr>
              <a:defRPr sz="8600"/>
            </a:lvl3pPr>
            <a:lvl4pPr>
              <a:defRPr sz="7700"/>
            </a:lvl4pPr>
            <a:lvl5pPr>
              <a:defRPr sz="7700"/>
            </a:lvl5pPr>
            <a:lvl6pPr>
              <a:defRPr sz="7700"/>
            </a:lvl6pPr>
            <a:lvl7pPr>
              <a:defRPr sz="7700"/>
            </a:lvl7pPr>
            <a:lvl8pPr>
              <a:defRPr sz="7700"/>
            </a:lvl8pPr>
            <a:lvl9pPr>
              <a:defRPr sz="77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2296122" y="7368542"/>
            <a:ext cx="19400520" cy="3070858"/>
          </a:xfrm>
        </p:spPr>
        <p:txBody>
          <a:bodyPr anchor="b"/>
          <a:lstStyle>
            <a:lvl1pPr marL="0" indent="0">
              <a:buNone/>
              <a:defRPr sz="11500" b="1"/>
            </a:lvl1pPr>
            <a:lvl2pPr marL="2194560" indent="0">
              <a:buNone/>
              <a:defRPr sz="9600" b="1"/>
            </a:lvl2pPr>
            <a:lvl3pPr marL="4389120" indent="0">
              <a:buNone/>
              <a:defRPr sz="8600" b="1"/>
            </a:lvl3pPr>
            <a:lvl4pPr marL="6583680" indent="0">
              <a:buNone/>
              <a:defRPr sz="7700" b="1"/>
            </a:lvl4pPr>
            <a:lvl5pPr marL="8778240" indent="0">
              <a:buNone/>
              <a:defRPr sz="7700" b="1"/>
            </a:lvl5pPr>
            <a:lvl6pPr marL="10972800" indent="0">
              <a:buNone/>
              <a:defRPr sz="7700" b="1"/>
            </a:lvl6pPr>
            <a:lvl7pPr marL="13167360" indent="0">
              <a:buNone/>
              <a:defRPr sz="7700" b="1"/>
            </a:lvl7pPr>
            <a:lvl8pPr marL="15361920" indent="0">
              <a:buNone/>
              <a:defRPr sz="7700" b="1"/>
            </a:lvl8pPr>
            <a:lvl9pPr marL="17556480" indent="0">
              <a:buNone/>
              <a:defRPr sz="77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2296122" y="10439400"/>
            <a:ext cx="19400520" cy="18966182"/>
          </a:xfrm>
        </p:spPr>
        <p:txBody>
          <a:bodyPr/>
          <a:lstStyle>
            <a:lvl1pPr>
              <a:defRPr sz="11500"/>
            </a:lvl1pPr>
            <a:lvl2pPr>
              <a:defRPr sz="9600"/>
            </a:lvl2pPr>
            <a:lvl3pPr>
              <a:defRPr sz="8600"/>
            </a:lvl3pPr>
            <a:lvl4pPr>
              <a:defRPr sz="7700"/>
            </a:lvl4pPr>
            <a:lvl5pPr>
              <a:defRPr sz="7700"/>
            </a:lvl5pPr>
            <a:lvl6pPr>
              <a:defRPr sz="7700"/>
            </a:lvl6pPr>
            <a:lvl7pPr>
              <a:defRPr sz="7700"/>
            </a:lvl7pPr>
            <a:lvl8pPr>
              <a:defRPr sz="7700"/>
            </a:lvl8pPr>
            <a:lvl9pPr>
              <a:defRPr sz="77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0760C9-3073-4D0D-8FD4-51F80C362D56}" type="datetimeFigureOut">
              <a:rPr lang="en-US"/>
              <a:pPr>
                <a:defRPr/>
              </a:pPr>
              <a:t>4/16/2018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3183B3-16D3-4923-B372-363E3CC0024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CC4105-FE34-4BDC-BA66-4DD46F2AC83F}" type="datetimeFigureOut">
              <a:rPr lang="en-US"/>
              <a:pPr>
                <a:defRPr/>
              </a:pPr>
              <a:t>4/16/2018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C6F18B-2058-44DA-8DE4-840F1B142A6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76CA94-3C38-429A-8498-C431CB4A6D39}" type="datetimeFigureOut">
              <a:rPr lang="en-US"/>
              <a:pPr>
                <a:defRPr/>
              </a:pPr>
              <a:t>4/16/2018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557CA18-3681-49F3-A5F4-FBE87E704F6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4563" y="1310640"/>
            <a:ext cx="14439902" cy="5577840"/>
          </a:xfrm>
        </p:spPr>
        <p:txBody>
          <a:bodyPr anchor="b"/>
          <a:lstStyle>
            <a:lvl1pPr algn="l">
              <a:defRPr sz="96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160240" y="1310643"/>
            <a:ext cx="24536400" cy="28094942"/>
          </a:xfrm>
        </p:spPr>
        <p:txBody>
          <a:bodyPr/>
          <a:lstStyle>
            <a:lvl1pPr>
              <a:defRPr sz="15400"/>
            </a:lvl1pPr>
            <a:lvl2pPr>
              <a:defRPr sz="13400"/>
            </a:lvl2pPr>
            <a:lvl3pPr>
              <a:defRPr sz="11500"/>
            </a:lvl3pPr>
            <a:lvl4pPr>
              <a:defRPr sz="9600"/>
            </a:lvl4pPr>
            <a:lvl5pPr>
              <a:defRPr sz="9600"/>
            </a:lvl5pPr>
            <a:lvl6pPr>
              <a:defRPr sz="9600"/>
            </a:lvl6pPr>
            <a:lvl7pPr>
              <a:defRPr sz="9600"/>
            </a:lvl7pPr>
            <a:lvl8pPr>
              <a:defRPr sz="9600"/>
            </a:lvl8pPr>
            <a:lvl9pPr>
              <a:defRPr sz="9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94563" y="6888483"/>
            <a:ext cx="14439902" cy="22517102"/>
          </a:xfrm>
        </p:spPr>
        <p:txBody>
          <a:bodyPr/>
          <a:lstStyle>
            <a:lvl1pPr marL="0" indent="0">
              <a:buNone/>
              <a:defRPr sz="6700"/>
            </a:lvl1pPr>
            <a:lvl2pPr marL="2194560" indent="0">
              <a:buNone/>
              <a:defRPr sz="5800"/>
            </a:lvl2pPr>
            <a:lvl3pPr marL="4389120" indent="0">
              <a:buNone/>
              <a:defRPr sz="4800"/>
            </a:lvl3pPr>
            <a:lvl4pPr marL="6583680" indent="0">
              <a:buNone/>
              <a:defRPr sz="4300"/>
            </a:lvl4pPr>
            <a:lvl5pPr marL="8778240" indent="0">
              <a:buNone/>
              <a:defRPr sz="4300"/>
            </a:lvl5pPr>
            <a:lvl6pPr marL="10972800" indent="0">
              <a:buNone/>
              <a:defRPr sz="4300"/>
            </a:lvl6pPr>
            <a:lvl7pPr marL="13167360" indent="0">
              <a:buNone/>
              <a:defRPr sz="4300"/>
            </a:lvl7pPr>
            <a:lvl8pPr marL="15361920" indent="0">
              <a:buNone/>
              <a:defRPr sz="4300"/>
            </a:lvl8pPr>
            <a:lvl9pPr marL="17556480" indent="0">
              <a:buNone/>
              <a:defRPr sz="43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424E01-6A96-47AE-A1CB-606607E92AC8}" type="datetimeFigureOut">
              <a:rPr lang="en-US"/>
              <a:pPr>
                <a:defRPr/>
              </a:pPr>
              <a:t>4/16/2018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805AB1-D1F8-4072-A02B-EED7D167472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02982" y="23042880"/>
            <a:ext cx="26334720" cy="2720342"/>
          </a:xfrm>
        </p:spPr>
        <p:txBody>
          <a:bodyPr anchor="b"/>
          <a:lstStyle>
            <a:lvl1pPr algn="l">
              <a:defRPr sz="96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602982" y="2941320"/>
            <a:ext cx="26334720" cy="19751040"/>
          </a:xfrm>
        </p:spPr>
        <p:txBody>
          <a:bodyPr rtlCol="0">
            <a:normAutofit/>
          </a:bodyPr>
          <a:lstStyle>
            <a:lvl1pPr marL="0" indent="0">
              <a:buNone/>
              <a:defRPr sz="15400"/>
            </a:lvl1pPr>
            <a:lvl2pPr marL="2194560" indent="0">
              <a:buNone/>
              <a:defRPr sz="13400"/>
            </a:lvl2pPr>
            <a:lvl3pPr marL="4389120" indent="0">
              <a:buNone/>
              <a:defRPr sz="11500"/>
            </a:lvl3pPr>
            <a:lvl4pPr marL="6583680" indent="0">
              <a:buNone/>
              <a:defRPr sz="9600"/>
            </a:lvl4pPr>
            <a:lvl5pPr marL="8778240" indent="0">
              <a:buNone/>
              <a:defRPr sz="9600"/>
            </a:lvl5pPr>
            <a:lvl6pPr marL="10972800" indent="0">
              <a:buNone/>
              <a:defRPr sz="9600"/>
            </a:lvl6pPr>
            <a:lvl7pPr marL="13167360" indent="0">
              <a:buNone/>
              <a:defRPr sz="9600"/>
            </a:lvl7pPr>
            <a:lvl8pPr marL="15361920" indent="0">
              <a:buNone/>
              <a:defRPr sz="9600"/>
            </a:lvl8pPr>
            <a:lvl9pPr marL="17556480" indent="0">
              <a:buNone/>
              <a:defRPr sz="96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02982" y="25763222"/>
            <a:ext cx="26334720" cy="3863338"/>
          </a:xfrm>
        </p:spPr>
        <p:txBody>
          <a:bodyPr/>
          <a:lstStyle>
            <a:lvl1pPr marL="0" indent="0">
              <a:buNone/>
              <a:defRPr sz="6700"/>
            </a:lvl1pPr>
            <a:lvl2pPr marL="2194560" indent="0">
              <a:buNone/>
              <a:defRPr sz="5800"/>
            </a:lvl2pPr>
            <a:lvl3pPr marL="4389120" indent="0">
              <a:buNone/>
              <a:defRPr sz="4800"/>
            </a:lvl3pPr>
            <a:lvl4pPr marL="6583680" indent="0">
              <a:buNone/>
              <a:defRPr sz="4300"/>
            </a:lvl4pPr>
            <a:lvl5pPr marL="8778240" indent="0">
              <a:buNone/>
              <a:defRPr sz="4300"/>
            </a:lvl5pPr>
            <a:lvl6pPr marL="10972800" indent="0">
              <a:buNone/>
              <a:defRPr sz="4300"/>
            </a:lvl6pPr>
            <a:lvl7pPr marL="13167360" indent="0">
              <a:buNone/>
              <a:defRPr sz="4300"/>
            </a:lvl7pPr>
            <a:lvl8pPr marL="15361920" indent="0">
              <a:buNone/>
              <a:defRPr sz="4300"/>
            </a:lvl8pPr>
            <a:lvl9pPr marL="17556480" indent="0">
              <a:buNone/>
              <a:defRPr sz="43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279F96F-9D9B-4D5F-9958-65EF2233223E}" type="datetimeFigureOut">
              <a:rPr lang="en-US"/>
              <a:pPr>
                <a:defRPr/>
              </a:pPr>
              <a:t>4/16/2018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3BE3D6-63AD-4CD3-AA37-1EE4730BCA7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24CD596-8B52-4917-8C8F-B468C50EE9BE}" type="datetimeFigureOut">
              <a:rPr lang="en-US"/>
              <a:pPr>
                <a:defRPr/>
              </a:pPr>
              <a:t>4/16/2018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814E80-F793-4170-BF3D-F89DFC35F9F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1821120" y="1318265"/>
            <a:ext cx="9875520" cy="2808732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194560" y="1318265"/>
            <a:ext cx="28895040" cy="2808732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838F02-64E0-4C2A-A0E1-942AB5F3F322}" type="datetimeFigureOut">
              <a:rPr lang="en-US"/>
              <a:pPr>
                <a:defRPr/>
              </a:pPr>
              <a:t>4/16/2018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692377-7D2E-48E2-B7E8-0B476E26C4B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2193925" y="1317625"/>
            <a:ext cx="39503350" cy="548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438912" tIns="219456" rIns="438912" bIns="219456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2193925" y="7680325"/>
            <a:ext cx="39503350" cy="21724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438912" tIns="219456" rIns="438912" bIns="21945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193925" y="30510163"/>
            <a:ext cx="10242550" cy="1752600"/>
          </a:xfrm>
          <a:prstGeom prst="rect">
            <a:avLst/>
          </a:prstGeom>
        </p:spPr>
        <p:txBody>
          <a:bodyPr vert="horz" lIns="438912" tIns="219456" rIns="438912" bIns="219456" rtlCol="0" anchor="ctr"/>
          <a:lstStyle>
            <a:lvl1pPr algn="l" defTabSz="4389120" fontAlgn="auto">
              <a:spcBef>
                <a:spcPts val="0"/>
              </a:spcBef>
              <a:spcAft>
                <a:spcPts val="0"/>
              </a:spcAft>
              <a:defRPr sz="5800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6F08924C-D96A-41C8-A048-30ADB2300461}" type="datetimeFigureOut">
              <a:rPr lang="en-US"/>
              <a:pPr>
                <a:defRPr/>
              </a:pPr>
              <a:t>4/16/2018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995525" y="30510163"/>
            <a:ext cx="13900150" cy="1752600"/>
          </a:xfrm>
          <a:prstGeom prst="rect">
            <a:avLst/>
          </a:prstGeom>
        </p:spPr>
        <p:txBody>
          <a:bodyPr vert="horz" lIns="438912" tIns="219456" rIns="438912" bIns="219456" rtlCol="0" anchor="ctr"/>
          <a:lstStyle>
            <a:lvl1pPr algn="ctr" defTabSz="4389120" fontAlgn="auto">
              <a:spcBef>
                <a:spcPts val="0"/>
              </a:spcBef>
              <a:spcAft>
                <a:spcPts val="0"/>
              </a:spcAft>
              <a:defRPr sz="5800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1454725" y="30510163"/>
            <a:ext cx="10242550" cy="1752600"/>
          </a:xfrm>
          <a:prstGeom prst="rect">
            <a:avLst/>
          </a:prstGeom>
        </p:spPr>
        <p:txBody>
          <a:bodyPr vert="horz" lIns="438912" tIns="219456" rIns="438912" bIns="219456" rtlCol="0" anchor="ctr"/>
          <a:lstStyle>
            <a:lvl1pPr algn="r" defTabSz="4389120" fontAlgn="auto">
              <a:spcBef>
                <a:spcPts val="0"/>
              </a:spcBef>
              <a:spcAft>
                <a:spcPts val="0"/>
              </a:spcAft>
              <a:defRPr sz="5800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045CE867-7F42-4789-B80B-62807715CA2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387850" rtl="0" fontAlgn="base">
        <a:spcBef>
          <a:spcPct val="0"/>
        </a:spcBef>
        <a:spcAft>
          <a:spcPct val="0"/>
        </a:spcAft>
        <a:defRPr sz="211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4387850" rtl="0" fontAlgn="base">
        <a:spcBef>
          <a:spcPct val="0"/>
        </a:spcBef>
        <a:spcAft>
          <a:spcPct val="0"/>
        </a:spcAft>
        <a:defRPr sz="21100">
          <a:solidFill>
            <a:schemeClr val="tx1"/>
          </a:solidFill>
          <a:latin typeface="Calibri" pitchFamily="34" charset="0"/>
        </a:defRPr>
      </a:lvl2pPr>
      <a:lvl3pPr algn="ctr" defTabSz="4387850" rtl="0" fontAlgn="base">
        <a:spcBef>
          <a:spcPct val="0"/>
        </a:spcBef>
        <a:spcAft>
          <a:spcPct val="0"/>
        </a:spcAft>
        <a:defRPr sz="21100">
          <a:solidFill>
            <a:schemeClr val="tx1"/>
          </a:solidFill>
          <a:latin typeface="Calibri" pitchFamily="34" charset="0"/>
        </a:defRPr>
      </a:lvl3pPr>
      <a:lvl4pPr algn="ctr" defTabSz="4387850" rtl="0" fontAlgn="base">
        <a:spcBef>
          <a:spcPct val="0"/>
        </a:spcBef>
        <a:spcAft>
          <a:spcPct val="0"/>
        </a:spcAft>
        <a:defRPr sz="21100">
          <a:solidFill>
            <a:schemeClr val="tx1"/>
          </a:solidFill>
          <a:latin typeface="Calibri" pitchFamily="34" charset="0"/>
        </a:defRPr>
      </a:lvl4pPr>
      <a:lvl5pPr algn="ctr" defTabSz="4387850" rtl="0" fontAlgn="base">
        <a:spcBef>
          <a:spcPct val="0"/>
        </a:spcBef>
        <a:spcAft>
          <a:spcPct val="0"/>
        </a:spcAft>
        <a:defRPr sz="21100">
          <a:solidFill>
            <a:schemeClr val="tx1"/>
          </a:solidFill>
          <a:latin typeface="Calibri" pitchFamily="34" charset="0"/>
        </a:defRPr>
      </a:lvl5pPr>
      <a:lvl6pPr marL="457200" algn="ctr" defTabSz="4387850" rtl="0" fontAlgn="base">
        <a:spcBef>
          <a:spcPct val="0"/>
        </a:spcBef>
        <a:spcAft>
          <a:spcPct val="0"/>
        </a:spcAft>
        <a:defRPr sz="21100">
          <a:solidFill>
            <a:schemeClr val="tx1"/>
          </a:solidFill>
          <a:latin typeface="Calibri" pitchFamily="34" charset="0"/>
        </a:defRPr>
      </a:lvl6pPr>
      <a:lvl7pPr marL="914400" algn="ctr" defTabSz="4387850" rtl="0" fontAlgn="base">
        <a:spcBef>
          <a:spcPct val="0"/>
        </a:spcBef>
        <a:spcAft>
          <a:spcPct val="0"/>
        </a:spcAft>
        <a:defRPr sz="21100">
          <a:solidFill>
            <a:schemeClr val="tx1"/>
          </a:solidFill>
          <a:latin typeface="Calibri" pitchFamily="34" charset="0"/>
        </a:defRPr>
      </a:lvl7pPr>
      <a:lvl8pPr marL="1371600" algn="ctr" defTabSz="4387850" rtl="0" fontAlgn="base">
        <a:spcBef>
          <a:spcPct val="0"/>
        </a:spcBef>
        <a:spcAft>
          <a:spcPct val="0"/>
        </a:spcAft>
        <a:defRPr sz="21100">
          <a:solidFill>
            <a:schemeClr val="tx1"/>
          </a:solidFill>
          <a:latin typeface="Calibri" pitchFamily="34" charset="0"/>
        </a:defRPr>
      </a:lvl8pPr>
      <a:lvl9pPr marL="1828800" algn="ctr" defTabSz="4387850" rtl="0" fontAlgn="base">
        <a:spcBef>
          <a:spcPct val="0"/>
        </a:spcBef>
        <a:spcAft>
          <a:spcPct val="0"/>
        </a:spcAft>
        <a:defRPr sz="21100">
          <a:solidFill>
            <a:schemeClr val="tx1"/>
          </a:solidFill>
          <a:latin typeface="Calibri" pitchFamily="34" charset="0"/>
        </a:defRPr>
      </a:lvl9pPr>
    </p:titleStyle>
    <p:bodyStyle>
      <a:lvl1pPr marL="1644650" indent="-1644650" algn="l" defTabSz="4387850" rtl="0" fontAlgn="base">
        <a:spcBef>
          <a:spcPct val="20000"/>
        </a:spcBef>
        <a:spcAft>
          <a:spcPct val="0"/>
        </a:spcAft>
        <a:buFont typeface="Arial" charset="0"/>
        <a:buChar char="•"/>
        <a:defRPr sz="15400" kern="1200">
          <a:solidFill>
            <a:schemeClr val="tx1"/>
          </a:solidFill>
          <a:latin typeface="+mn-lt"/>
          <a:ea typeface="+mn-ea"/>
          <a:cs typeface="+mn-cs"/>
        </a:defRPr>
      </a:lvl1pPr>
      <a:lvl2pPr marL="3565525" indent="-1371600" algn="l" defTabSz="4387850" rtl="0" fontAlgn="base">
        <a:spcBef>
          <a:spcPct val="20000"/>
        </a:spcBef>
        <a:spcAft>
          <a:spcPct val="0"/>
        </a:spcAft>
        <a:buFont typeface="Arial" charset="0"/>
        <a:buChar char="–"/>
        <a:defRPr sz="13400" kern="1200">
          <a:solidFill>
            <a:schemeClr val="tx1"/>
          </a:solidFill>
          <a:latin typeface="+mn-lt"/>
          <a:ea typeface="+mn-ea"/>
          <a:cs typeface="+mn-cs"/>
        </a:defRPr>
      </a:lvl2pPr>
      <a:lvl3pPr marL="5486400" indent="-1096963" algn="l" defTabSz="4387850" rtl="0" fontAlgn="base">
        <a:spcBef>
          <a:spcPct val="20000"/>
        </a:spcBef>
        <a:spcAft>
          <a:spcPct val="0"/>
        </a:spcAft>
        <a:buFont typeface="Arial" charset="0"/>
        <a:buChar char="•"/>
        <a:defRPr sz="11500" kern="1200">
          <a:solidFill>
            <a:schemeClr val="tx1"/>
          </a:solidFill>
          <a:latin typeface="+mn-lt"/>
          <a:ea typeface="+mn-ea"/>
          <a:cs typeface="+mn-cs"/>
        </a:defRPr>
      </a:lvl3pPr>
      <a:lvl4pPr marL="7680325" indent="-1096963" algn="l" defTabSz="4387850" rtl="0" fontAlgn="base">
        <a:spcBef>
          <a:spcPct val="20000"/>
        </a:spcBef>
        <a:spcAft>
          <a:spcPct val="0"/>
        </a:spcAft>
        <a:buFont typeface="Arial" charset="0"/>
        <a:buChar char="–"/>
        <a:defRPr sz="9600" kern="1200">
          <a:solidFill>
            <a:schemeClr val="tx1"/>
          </a:solidFill>
          <a:latin typeface="+mn-lt"/>
          <a:ea typeface="+mn-ea"/>
          <a:cs typeface="+mn-cs"/>
        </a:defRPr>
      </a:lvl4pPr>
      <a:lvl5pPr marL="9874250" indent="-1096963" algn="l" defTabSz="4387850" rtl="0" fontAlgn="base">
        <a:spcBef>
          <a:spcPct val="20000"/>
        </a:spcBef>
        <a:spcAft>
          <a:spcPct val="0"/>
        </a:spcAft>
        <a:buFont typeface="Arial" charset="0"/>
        <a:buChar char="»"/>
        <a:defRPr sz="9600" kern="1200">
          <a:solidFill>
            <a:schemeClr val="tx1"/>
          </a:solidFill>
          <a:latin typeface="+mn-lt"/>
          <a:ea typeface="+mn-ea"/>
          <a:cs typeface="+mn-cs"/>
        </a:defRPr>
      </a:lvl5pPr>
      <a:lvl6pPr marL="12070080" indent="-1097280" algn="l" defTabSz="4389120" rtl="0" eaLnBrk="1" latinLnBrk="0" hangingPunct="1">
        <a:spcBef>
          <a:spcPct val="20000"/>
        </a:spcBef>
        <a:buFont typeface="Arial" pitchFamily="34" charset="0"/>
        <a:buChar char="•"/>
        <a:defRPr sz="9600" kern="1200">
          <a:solidFill>
            <a:schemeClr val="tx1"/>
          </a:solidFill>
          <a:latin typeface="+mn-lt"/>
          <a:ea typeface="+mn-ea"/>
          <a:cs typeface="+mn-cs"/>
        </a:defRPr>
      </a:lvl6pPr>
      <a:lvl7pPr marL="14264640" indent="-1097280" algn="l" defTabSz="4389120" rtl="0" eaLnBrk="1" latinLnBrk="0" hangingPunct="1">
        <a:spcBef>
          <a:spcPct val="20000"/>
        </a:spcBef>
        <a:buFont typeface="Arial" pitchFamily="34" charset="0"/>
        <a:buChar char="•"/>
        <a:defRPr sz="9600" kern="1200">
          <a:solidFill>
            <a:schemeClr val="tx1"/>
          </a:solidFill>
          <a:latin typeface="+mn-lt"/>
          <a:ea typeface="+mn-ea"/>
          <a:cs typeface="+mn-cs"/>
        </a:defRPr>
      </a:lvl7pPr>
      <a:lvl8pPr marL="16459200" indent="-1097280" algn="l" defTabSz="4389120" rtl="0" eaLnBrk="1" latinLnBrk="0" hangingPunct="1">
        <a:spcBef>
          <a:spcPct val="20000"/>
        </a:spcBef>
        <a:buFont typeface="Arial" pitchFamily="34" charset="0"/>
        <a:buChar char="•"/>
        <a:defRPr sz="9600" kern="1200">
          <a:solidFill>
            <a:schemeClr val="tx1"/>
          </a:solidFill>
          <a:latin typeface="+mn-lt"/>
          <a:ea typeface="+mn-ea"/>
          <a:cs typeface="+mn-cs"/>
        </a:defRPr>
      </a:lvl8pPr>
      <a:lvl9pPr marL="18653760" indent="-1097280" algn="l" defTabSz="4389120" rtl="0" eaLnBrk="1" latinLnBrk="0" hangingPunct="1">
        <a:spcBef>
          <a:spcPct val="20000"/>
        </a:spcBef>
        <a:buFont typeface="Arial" pitchFamily="34" charset="0"/>
        <a:buChar char="•"/>
        <a:defRPr sz="9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38912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1pPr>
      <a:lvl2pPr marL="2194560" algn="l" defTabSz="438912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2pPr>
      <a:lvl3pPr marL="4389120" algn="l" defTabSz="438912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3pPr>
      <a:lvl4pPr marL="6583680" algn="l" defTabSz="438912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4pPr>
      <a:lvl5pPr marL="8778240" algn="l" defTabSz="438912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5pPr>
      <a:lvl6pPr marL="10972800" algn="l" defTabSz="438912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6pPr>
      <a:lvl7pPr marL="13167360" algn="l" defTabSz="438912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7pPr>
      <a:lvl8pPr marL="15361920" algn="l" defTabSz="438912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8pPr>
      <a:lvl9pPr marL="17556480" algn="l" defTabSz="438912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/>
          <p:cNvSpPr/>
          <p:nvPr/>
        </p:nvSpPr>
        <p:spPr>
          <a:xfrm>
            <a:off x="32461200" y="6781800"/>
            <a:ext cx="10058400" cy="24688800"/>
          </a:xfrm>
          <a:prstGeom prst="rect">
            <a:avLst/>
          </a:prstGeom>
          <a:solidFill>
            <a:srgbClr val="6590C3">
              <a:alpha val="35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/>
          <p:cNvSpPr/>
          <p:nvPr/>
        </p:nvSpPr>
        <p:spPr>
          <a:xfrm>
            <a:off x="21945600" y="6781800"/>
            <a:ext cx="9601200" cy="24688800"/>
          </a:xfrm>
          <a:prstGeom prst="rect">
            <a:avLst/>
          </a:prstGeom>
          <a:solidFill>
            <a:srgbClr val="6590C3">
              <a:alpha val="28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1219200" y="6781800"/>
            <a:ext cx="9372600" cy="24688800"/>
          </a:xfrm>
          <a:prstGeom prst="rect">
            <a:avLst/>
          </a:prstGeom>
          <a:solidFill>
            <a:srgbClr val="C8D7EA">
              <a:alpha val="20784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/>
          <p:cNvSpPr/>
          <p:nvPr/>
        </p:nvSpPr>
        <p:spPr>
          <a:xfrm>
            <a:off x="11125200" y="6781800"/>
            <a:ext cx="10058400" cy="24688800"/>
          </a:xfrm>
          <a:prstGeom prst="rect">
            <a:avLst/>
          </a:prstGeom>
          <a:solidFill>
            <a:srgbClr val="8AABD2">
              <a:alpha val="26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50" name="TextBox 3"/>
          <p:cNvSpPr txBox="1">
            <a:spLocks noChangeArrowheads="1"/>
          </p:cNvSpPr>
          <p:nvPr/>
        </p:nvSpPr>
        <p:spPr bwMode="auto">
          <a:xfrm>
            <a:off x="6400800" y="1066800"/>
            <a:ext cx="30556200" cy="4278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2000" dirty="0" smtClean="0">
                <a:solidFill>
                  <a:schemeClr val="tx2">
                    <a:lumMod val="75000"/>
                  </a:schemeClr>
                </a:solidFill>
                <a:latin typeface="Calibri" pitchFamily="34" charset="0"/>
              </a:rPr>
              <a:t>How to Make a Quality Poster</a:t>
            </a:r>
            <a:endParaRPr lang="en-US" sz="12000" dirty="0">
              <a:solidFill>
                <a:schemeClr val="tx2">
                  <a:lumMod val="75000"/>
                </a:schemeClr>
              </a:solidFill>
              <a:latin typeface="Calibri" pitchFamily="34" charset="0"/>
            </a:endParaRPr>
          </a:p>
          <a:p>
            <a:pPr algn="ctr"/>
            <a:r>
              <a:rPr lang="en-US" sz="8000" dirty="0" smtClean="0">
                <a:latin typeface="Calibri" pitchFamily="34" charset="0"/>
              </a:rPr>
              <a:t>M. </a:t>
            </a:r>
            <a:r>
              <a:rPr lang="en-US" sz="8000" dirty="0" err="1" smtClean="0">
                <a:latin typeface="Calibri" pitchFamily="34" charset="0"/>
              </a:rPr>
              <a:t>Schuckers</a:t>
            </a:r>
            <a:r>
              <a:rPr lang="en-US" sz="8000" dirty="0" smtClean="0">
                <a:latin typeface="Calibri" pitchFamily="34" charset="0"/>
              </a:rPr>
              <a:t>, T. Morse, M. Joseph</a:t>
            </a:r>
            <a:endParaRPr lang="en-US" sz="8000" dirty="0">
              <a:latin typeface="Calibri" pitchFamily="34" charset="0"/>
            </a:endParaRPr>
          </a:p>
          <a:p>
            <a:pPr algn="ctr"/>
            <a:r>
              <a:rPr lang="en-US" sz="7200" smtClean="0">
                <a:solidFill>
                  <a:schemeClr val="tx2">
                    <a:lumMod val="60000"/>
                    <a:lumOff val="40000"/>
                  </a:schemeClr>
                </a:solidFill>
                <a:latin typeface="Calibri" pitchFamily="34" charset="0"/>
              </a:rPr>
              <a:t>Peterson </a:t>
            </a:r>
            <a:r>
              <a:rPr lang="en-US" sz="7200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Calibri" pitchFamily="34" charset="0"/>
              </a:rPr>
              <a:t>Quantitative Resource Center, St. Lawrence University</a:t>
            </a:r>
            <a:endParaRPr lang="en-US" sz="7200" dirty="0">
              <a:solidFill>
                <a:schemeClr val="tx2">
                  <a:lumMod val="60000"/>
                  <a:lumOff val="40000"/>
                </a:schemeClr>
              </a:solidFill>
              <a:latin typeface="Calibri" pitchFamily="34" charset="0"/>
            </a:endParaRPr>
          </a:p>
        </p:txBody>
      </p:sp>
      <p:sp>
        <p:nvSpPr>
          <p:cNvPr id="2051" name="TextBox 4"/>
          <p:cNvSpPr txBox="1">
            <a:spLocks noChangeArrowheads="1"/>
          </p:cNvSpPr>
          <p:nvPr/>
        </p:nvSpPr>
        <p:spPr bwMode="auto">
          <a:xfrm>
            <a:off x="1905000" y="7162800"/>
            <a:ext cx="8534400" cy="192360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914400" indent="-914400"/>
            <a:r>
              <a:rPr lang="en-US" sz="5400" dirty="0" smtClean="0">
                <a:solidFill>
                  <a:schemeClr val="tx2">
                    <a:lumMod val="75000"/>
                  </a:schemeClr>
                </a:solidFill>
                <a:latin typeface="Calibri" pitchFamily="34" charset="0"/>
              </a:rPr>
              <a:t>1. Planning</a:t>
            </a:r>
          </a:p>
          <a:p>
            <a:pPr marL="914400" indent="-914400"/>
            <a:r>
              <a:rPr lang="en-US" sz="5400" dirty="0" smtClean="0">
                <a:latin typeface="Calibri" pitchFamily="34" charset="0"/>
              </a:rPr>
              <a:t>	</a:t>
            </a:r>
            <a:endParaRPr lang="en-US" sz="5400" dirty="0">
              <a:latin typeface="Calibri" pitchFamily="34" charset="0"/>
            </a:endParaRPr>
          </a:p>
          <a:p>
            <a:pPr marL="914400" indent="-914400"/>
            <a:r>
              <a:rPr lang="en-US" sz="5400" dirty="0" smtClean="0">
                <a:latin typeface="Calibri" pitchFamily="34" charset="0"/>
              </a:rPr>
              <a:t>Components of Any Poster:</a:t>
            </a:r>
          </a:p>
          <a:p>
            <a:pPr marL="914400" indent="-914400">
              <a:buFont typeface="Arial" pitchFamily="34" charset="0"/>
              <a:buChar char="•"/>
            </a:pPr>
            <a:r>
              <a:rPr lang="en-US" sz="3200" dirty="0" smtClean="0">
                <a:latin typeface="Calibri" pitchFamily="34" charset="0"/>
              </a:rPr>
              <a:t>Title, Author(s)</a:t>
            </a:r>
            <a:endParaRPr lang="en-US" sz="3200" dirty="0">
              <a:latin typeface="Calibri" pitchFamily="34" charset="0"/>
            </a:endParaRPr>
          </a:p>
          <a:p>
            <a:pPr marL="914400" indent="-914400">
              <a:buFont typeface="Arial" charset="0"/>
              <a:buChar char="•"/>
            </a:pPr>
            <a:r>
              <a:rPr lang="en-US" sz="3200" dirty="0" smtClean="0">
                <a:latin typeface="Calibri" pitchFamily="34" charset="0"/>
              </a:rPr>
              <a:t>Introduction</a:t>
            </a:r>
          </a:p>
          <a:p>
            <a:pPr marL="914400" indent="-914400">
              <a:buFont typeface="Arial" charset="0"/>
              <a:buChar char="•"/>
            </a:pPr>
            <a:r>
              <a:rPr lang="en-US" sz="3200" dirty="0" smtClean="0">
                <a:latin typeface="Calibri" pitchFamily="34" charset="0"/>
              </a:rPr>
              <a:t>Methods/Approach</a:t>
            </a:r>
          </a:p>
          <a:p>
            <a:pPr marL="914400" indent="-914400">
              <a:buFont typeface="Arial" charset="0"/>
              <a:buChar char="•"/>
            </a:pPr>
            <a:r>
              <a:rPr lang="en-US" sz="3200" dirty="0" smtClean="0">
                <a:latin typeface="Calibri" pitchFamily="34" charset="0"/>
              </a:rPr>
              <a:t>Conclusions</a:t>
            </a:r>
            <a:endParaRPr lang="en-US" sz="3200" dirty="0">
              <a:latin typeface="Calibri" pitchFamily="34" charset="0"/>
            </a:endParaRPr>
          </a:p>
          <a:p>
            <a:pPr marL="914400" indent="-914400"/>
            <a:endParaRPr lang="en-US" sz="5400" dirty="0" smtClean="0">
              <a:latin typeface="Calibri" pitchFamily="34" charset="0"/>
            </a:endParaRPr>
          </a:p>
          <a:p>
            <a:pPr marL="914400" indent="-914400"/>
            <a:endParaRPr lang="en-US" sz="5400" dirty="0" smtClean="0">
              <a:latin typeface="Calibri" pitchFamily="34" charset="0"/>
            </a:endParaRPr>
          </a:p>
          <a:p>
            <a:pPr marL="914400" indent="-914400"/>
            <a:r>
              <a:rPr lang="en-US" sz="5400" dirty="0" smtClean="0">
                <a:latin typeface="Calibri" pitchFamily="34" charset="0"/>
              </a:rPr>
              <a:t>Science Posters:</a:t>
            </a:r>
          </a:p>
          <a:p>
            <a:pPr marL="914400" indent="-914400">
              <a:buFont typeface="Arial" pitchFamily="34" charset="0"/>
              <a:buChar char="•"/>
            </a:pPr>
            <a:r>
              <a:rPr lang="en-US" sz="3200" dirty="0" smtClean="0">
                <a:latin typeface="Calibri" pitchFamily="34" charset="0"/>
              </a:rPr>
              <a:t>Title, Author(s)</a:t>
            </a:r>
          </a:p>
          <a:p>
            <a:pPr marL="914400" indent="-914400">
              <a:buFont typeface="Arial" charset="0"/>
              <a:buChar char="•"/>
            </a:pPr>
            <a:r>
              <a:rPr lang="en-US" sz="3200" dirty="0" smtClean="0">
                <a:latin typeface="Calibri" pitchFamily="34" charset="0"/>
              </a:rPr>
              <a:t>Introduction</a:t>
            </a:r>
          </a:p>
          <a:p>
            <a:pPr marL="914400" indent="-914400">
              <a:buFont typeface="Arial" charset="0"/>
              <a:buChar char="•"/>
            </a:pPr>
            <a:r>
              <a:rPr lang="en-US" sz="3200" dirty="0" smtClean="0">
                <a:latin typeface="Calibri" pitchFamily="34" charset="0"/>
              </a:rPr>
              <a:t>Problem Statement</a:t>
            </a:r>
          </a:p>
          <a:p>
            <a:pPr marL="914400" indent="-914400">
              <a:buFont typeface="Arial" charset="0"/>
              <a:buChar char="•"/>
            </a:pPr>
            <a:r>
              <a:rPr lang="en-US" sz="3200" dirty="0" smtClean="0">
                <a:latin typeface="Calibri" pitchFamily="34" charset="0"/>
              </a:rPr>
              <a:t>Methods</a:t>
            </a:r>
          </a:p>
          <a:p>
            <a:pPr marL="914400" indent="-914400">
              <a:buFont typeface="Arial" charset="0"/>
              <a:buChar char="•"/>
            </a:pPr>
            <a:r>
              <a:rPr lang="en-US" sz="3200" dirty="0" smtClean="0">
                <a:latin typeface="Calibri" pitchFamily="34" charset="0"/>
              </a:rPr>
              <a:t>Results</a:t>
            </a:r>
          </a:p>
          <a:p>
            <a:pPr marL="914400" indent="-914400">
              <a:buFont typeface="Arial" charset="0"/>
              <a:buChar char="•"/>
            </a:pPr>
            <a:r>
              <a:rPr lang="en-US" sz="3200" dirty="0" smtClean="0">
                <a:latin typeface="Calibri" pitchFamily="34" charset="0"/>
              </a:rPr>
              <a:t>Conclusions</a:t>
            </a:r>
          </a:p>
          <a:p>
            <a:pPr marL="914400" indent="-914400"/>
            <a:endParaRPr lang="en-US" sz="5400" dirty="0" smtClean="0">
              <a:latin typeface="Calibri" pitchFamily="34" charset="0"/>
            </a:endParaRPr>
          </a:p>
          <a:p>
            <a:pPr marL="914400" indent="-914400"/>
            <a:endParaRPr lang="en-US" sz="5400" dirty="0" smtClean="0">
              <a:latin typeface="Calibri" pitchFamily="34" charset="0"/>
            </a:endParaRPr>
          </a:p>
          <a:p>
            <a:pPr marL="914400" indent="-914400"/>
            <a:endParaRPr lang="en-US" sz="5400" dirty="0" smtClean="0">
              <a:latin typeface="Calibri" pitchFamily="34" charset="0"/>
            </a:endParaRPr>
          </a:p>
          <a:p>
            <a:pPr marL="914400" indent="-914400"/>
            <a:r>
              <a:rPr lang="en-US" sz="5400" dirty="0" smtClean="0">
                <a:latin typeface="Calibri" pitchFamily="34" charset="0"/>
              </a:rPr>
              <a:t>Key Questions:</a:t>
            </a:r>
          </a:p>
          <a:p>
            <a:pPr marL="914400" indent="-914400">
              <a:buFont typeface="Arial" pitchFamily="34" charset="0"/>
              <a:buChar char="•"/>
            </a:pPr>
            <a:r>
              <a:rPr lang="en-US" sz="3200" dirty="0" smtClean="0">
                <a:latin typeface="Calibri" pitchFamily="34" charset="0"/>
              </a:rPr>
              <a:t>What to convey?</a:t>
            </a:r>
          </a:p>
          <a:p>
            <a:pPr marL="3108325" lvl="1" indent="-914400">
              <a:buFont typeface="Arial" pitchFamily="34" charset="0"/>
              <a:buChar char="•"/>
            </a:pPr>
            <a:r>
              <a:rPr lang="en-US" sz="3200" dirty="0" smtClean="0">
                <a:latin typeface="Calibri" pitchFamily="34" charset="0"/>
              </a:rPr>
              <a:t>What you did</a:t>
            </a:r>
          </a:p>
          <a:p>
            <a:pPr marL="3108325" lvl="1" indent="-914400">
              <a:buFont typeface="Arial" pitchFamily="34" charset="0"/>
              <a:buChar char="•"/>
            </a:pPr>
            <a:r>
              <a:rPr lang="en-US" sz="3200" dirty="0" smtClean="0">
                <a:latin typeface="Calibri" pitchFamily="34" charset="0"/>
              </a:rPr>
              <a:t>Why you did it</a:t>
            </a:r>
          </a:p>
          <a:p>
            <a:pPr marL="3108325" lvl="1" indent="-914400">
              <a:buFont typeface="Arial" pitchFamily="34" charset="0"/>
              <a:buChar char="•"/>
            </a:pPr>
            <a:r>
              <a:rPr lang="en-US" sz="3200" dirty="0" smtClean="0">
                <a:latin typeface="Calibri" pitchFamily="34" charset="0"/>
              </a:rPr>
              <a:t>How you did it</a:t>
            </a:r>
          </a:p>
          <a:p>
            <a:pPr marL="3108325" lvl="1" indent="-914400">
              <a:buFont typeface="Arial" pitchFamily="34" charset="0"/>
              <a:buChar char="•"/>
            </a:pPr>
            <a:r>
              <a:rPr lang="en-US" sz="3200" dirty="0" smtClean="0">
                <a:latin typeface="Calibri" pitchFamily="34" charset="0"/>
              </a:rPr>
              <a:t>Why it is important</a:t>
            </a:r>
          </a:p>
          <a:p>
            <a:pPr marL="3108325" lvl="1" indent="-914400">
              <a:buFont typeface="Arial" pitchFamily="34" charset="0"/>
              <a:buChar char="•"/>
            </a:pPr>
            <a:endParaRPr lang="en-US" sz="3200" dirty="0" smtClean="0">
              <a:latin typeface="Calibri" pitchFamily="34" charset="0"/>
            </a:endParaRPr>
          </a:p>
          <a:p>
            <a:pPr marL="914400" indent="-914400">
              <a:buFont typeface="Arial" charset="0"/>
              <a:buChar char="•"/>
            </a:pPr>
            <a:r>
              <a:rPr lang="en-US" sz="3200" dirty="0" smtClean="0">
                <a:latin typeface="Calibri" pitchFamily="34" charset="0"/>
              </a:rPr>
              <a:t>Who is my target audience?</a:t>
            </a:r>
          </a:p>
          <a:p>
            <a:pPr marL="3108325" lvl="1" indent="-914400">
              <a:buFont typeface="Arial" charset="0"/>
              <a:buChar char="•"/>
            </a:pPr>
            <a:r>
              <a:rPr lang="en-US" sz="3200" dirty="0" smtClean="0">
                <a:latin typeface="Calibri" pitchFamily="34" charset="0"/>
              </a:rPr>
              <a:t>General, little prior knowledge</a:t>
            </a:r>
          </a:p>
          <a:p>
            <a:pPr marL="3108325" lvl="1" indent="-914400">
              <a:buFont typeface="Arial" charset="0"/>
              <a:buChar char="•"/>
            </a:pPr>
            <a:r>
              <a:rPr lang="en-US" sz="3200" dirty="0" smtClean="0">
                <a:latin typeface="Calibri" pitchFamily="34" charset="0"/>
              </a:rPr>
              <a:t>Specific, less background needed</a:t>
            </a:r>
            <a:endParaRPr lang="en-US" sz="3200" dirty="0">
              <a:latin typeface="Calibri" pitchFamily="34" charset="0"/>
            </a:endParaRPr>
          </a:p>
          <a:p>
            <a:pPr marL="5302250" lvl="2" indent="-914400">
              <a:buFont typeface="Arial" charset="0"/>
              <a:buChar char="•"/>
            </a:pPr>
            <a:endParaRPr lang="en-US" sz="3200" dirty="0">
              <a:latin typeface="Calibri" pitchFamily="34" charset="0"/>
            </a:endParaRPr>
          </a:p>
          <a:p>
            <a:pPr marL="914400" indent="-914400"/>
            <a:endParaRPr lang="en-US" sz="3200" dirty="0" smtClean="0">
              <a:latin typeface="Calibri" pitchFamily="34" charset="0"/>
            </a:endParaRPr>
          </a:p>
        </p:txBody>
      </p:sp>
      <p:sp>
        <p:nvSpPr>
          <p:cNvPr id="2052" name="TextBox 5"/>
          <p:cNvSpPr txBox="1">
            <a:spLocks noChangeArrowheads="1"/>
          </p:cNvSpPr>
          <p:nvPr/>
        </p:nvSpPr>
        <p:spPr bwMode="auto">
          <a:xfrm>
            <a:off x="22479000" y="7239000"/>
            <a:ext cx="6705600" cy="40626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5400" dirty="0" smtClean="0">
                <a:solidFill>
                  <a:schemeClr val="tx2">
                    <a:lumMod val="75000"/>
                  </a:schemeClr>
                </a:solidFill>
                <a:latin typeface="Calibri" pitchFamily="34" charset="0"/>
              </a:rPr>
              <a:t>3. Text, Font, &amp; Colors</a:t>
            </a:r>
          </a:p>
          <a:p>
            <a:endParaRPr lang="en-US" sz="5400" dirty="0" smtClean="0">
              <a:latin typeface="Calibri" pitchFamily="34" charset="0"/>
            </a:endParaRPr>
          </a:p>
          <a:p>
            <a:pPr defTabSz="914400"/>
            <a:r>
              <a:rPr lang="en-US" sz="5400" dirty="0" smtClean="0">
                <a:latin typeface="Calibri" pitchFamily="34" charset="0"/>
              </a:rPr>
              <a:t>Text</a:t>
            </a:r>
            <a:endParaRPr lang="en-US" sz="3200" dirty="0" smtClean="0">
              <a:latin typeface="Calibri" pitchFamily="34" charset="0"/>
            </a:endParaRPr>
          </a:p>
          <a:p>
            <a:pPr defTabSz="914400">
              <a:buFont typeface="Wingdings" pitchFamily="2" charset="2"/>
              <a:buChar char="§"/>
            </a:pPr>
            <a:r>
              <a:rPr lang="en-US" sz="3200" dirty="0" smtClean="0">
                <a:latin typeface="Calibri" pitchFamily="34" charset="0"/>
              </a:rPr>
              <a:t>	Phrases not sentences</a:t>
            </a:r>
          </a:p>
          <a:p>
            <a:pPr defTabSz="914400">
              <a:buFont typeface="Wingdings" pitchFamily="2" charset="2"/>
              <a:buChar char="§"/>
            </a:pPr>
            <a:r>
              <a:rPr lang="en-US" sz="3200" dirty="0" smtClean="0">
                <a:latin typeface="Calibri" pitchFamily="34" charset="0"/>
              </a:rPr>
              <a:t>	Use Bullets and/or numbering</a:t>
            </a:r>
          </a:p>
          <a:p>
            <a:pPr defTabSz="914400">
              <a:buFont typeface="Wingdings" pitchFamily="2" charset="2"/>
              <a:buChar char="§"/>
            </a:pPr>
            <a:r>
              <a:rPr lang="en-US" sz="3200" dirty="0" smtClean="0">
                <a:latin typeface="Calibri" pitchFamily="34" charset="0"/>
              </a:rPr>
              <a:t>	Succinct but informative</a:t>
            </a:r>
            <a:endParaRPr lang="en-US" sz="5400" dirty="0">
              <a:latin typeface="Calibri" pitchFamily="34" charset="0"/>
            </a:endParaRPr>
          </a:p>
        </p:txBody>
      </p:sp>
      <p:sp>
        <p:nvSpPr>
          <p:cNvPr id="2055" name="TextBox 9"/>
          <p:cNvSpPr txBox="1">
            <a:spLocks noChangeArrowheads="1"/>
          </p:cNvSpPr>
          <p:nvPr/>
        </p:nvSpPr>
        <p:spPr bwMode="auto">
          <a:xfrm>
            <a:off x="32823150" y="7162800"/>
            <a:ext cx="9753600" cy="14619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5400" dirty="0" smtClean="0">
                <a:solidFill>
                  <a:schemeClr val="tx2">
                    <a:lumMod val="75000"/>
                  </a:schemeClr>
                </a:solidFill>
                <a:latin typeface="Calibri" pitchFamily="34" charset="0"/>
              </a:rPr>
              <a:t>4. Visuals</a:t>
            </a:r>
          </a:p>
          <a:p>
            <a:pPr marL="914400" indent="-914400">
              <a:buFont typeface="Arial" pitchFamily="34" charset="0"/>
              <a:buChar char="•"/>
            </a:pPr>
            <a:r>
              <a:rPr lang="en-US" sz="3200" dirty="0" smtClean="0">
                <a:latin typeface="Calibri" pitchFamily="34" charset="0"/>
              </a:rPr>
              <a:t>Use graphics, diagrams, and photos</a:t>
            </a:r>
          </a:p>
          <a:p>
            <a:pPr marL="914400" indent="-914400">
              <a:buFont typeface="Arial" charset="0"/>
              <a:buChar char="•"/>
            </a:pPr>
            <a:r>
              <a:rPr lang="en-US" sz="3200" dirty="0" smtClean="0">
                <a:latin typeface="Calibri" pitchFamily="34" charset="0"/>
              </a:rPr>
              <a:t>Communicate message and add interest</a:t>
            </a:r>
          </a:p>
          <a:p>
            <a:pPr marL="914400" indent="-914400">
              <a:buFont typeface="Arial" charset="0"/>
              <a:buChar char="•"/>
            </a:pPr>
            <a:r>
              <a:rPr lang="en-US" sz="3200" dirty="0" smtClean="0">
                <a:latin typeface="Calibri" pitchFamily="34" charset="0"/>
              </a:rPr>
              <a:t>Label appropriately and avoid clutter</a:t>
            </a:r>
          </a:p>
          <a:p>
            <a:pPr marL="914400" indent="-914400">
              <a:buFont typeface="Arial" charset="0"/>
              <a:buChar char="•"/>
            </a:pPr>
            <a:r>
              <a:rPr lang="en-US" sz="3200" dirty="0" smtClean="0">
                <a:latin typeface="Calibri" pitchFamily="34" charset="0"/>
              </a:rPr>
              <a:t>Avoid scanned photos and hand-drawn graphics</a:t>
            </a:r>
          </a:p>
          <a:p>
            <a:pPr marL="914400" indent="-914400"/>
            <a:endParaRPr lang="en-US" sz="3200" dirty="0" smtClean="0">
              <a:latin typeface="Calibri" pitchFamily="34" charset="0"/>
            </a:endParaRPr>
          </a:p>
          <a:p>
            <a:pPr marL="914400" indent="-914400"/>
            <a:endParaRPr lang="en-US" sz="3200" dirty="0" smtClean="0">
              <a:latin typeface="Calibri" pitchFamily="34" charset="0"/>
            </a:endParaRPr>
          </a:p>
          <a:p>
            <a:pPr marL="914400" indent="-914400"/>
            <a:endParaRPr lang="en-US" sz="3200" dirty="0" smtClean="0">
              <a:latin typeface="Calibri" pitchFamily="34" charset="0"/>
            </a:endParaRPr>
          </a:p>
          <a:p>
            <a:pPr marL="914400" indent="-914400"/>
            <a:endParaRPr lang="en-US" sz="3200" dirty="0" smtClean="0">
              <a:latin typeface="Calibri" pitchFamily="34" charset="0"/>
            </a:endParaRPr>
          </a:p>
          <a:p>
            <a:pPr marL="914400" indent="-914400"/>
            <a:endParaRPr lang="en-US" sz="3200" dirty="0">
              <a:latin typeface="Calibri" pitchFamily="34" charset="0"/>
            </a:endParaRPr>
          </a:p>
          <a:p>
            <a:pPr marL="914400" indent="-914400"/>
            <a:endParaRPr lang="en-US" sz="5400" dirty="0" smtClean="0">
              <a:latin typeface="Calibri" pitchFamily="34" charset="0"/>
            </a:endParaRPr>
          </a:p>
          <a:p>
            <a:pPr marL="914400" indent="-914400"/>
            <a:endParaRPr lang="en-US" sz="5400" dirty="0" smtClean="0">
              <a:latin typeface="Calibri" pitchFamily="34" charset="0"/>
            </a:endParaRPr>
          </a:p>
          <a:p>
            <a:pPr marL="914400" indent="-914400"/>
            <a:endParaRPr lang="en-US" sz="5400" dirty="0" smtClean="0">
              <a:latin typeface="Calibri" pitchFamily="34" charset="0"/>
            </a:endParaRPr>
          </a:p>
          <a:p>
            <a:pPr marL="914400" indent="-914400"/>
            <a:endParaRPr lang="en-US" sz="5400" dirty="0" smtClean="0">
              <a:latin typeface="Calibri" pitchFamily="34" charset="0"/>
            </a:endParaRPr>
          </a:p>
          <a:p>
            <a:pPr marL="914400" indent="-914400"/>
            <a:endParaRPr lang="en-US" sz="5400" dirty="0" smtClean="0">
              <a:latin typeface="Calibri" pitchFamily="34" charset="0"/>
            </a:endParaRPr>
          </a:p>
          <a:p>
            <a:pPr marL="914400" indent="-914400"/>
            <a:endParaRPr lang="en-US" sz="5400" dirty="0" smtClean="0">
              <a:latin typeface="Calibri" pitchFamily="34" charset="0"/>
            </a:endParaRPr>
          </a:p>
          <a:p>
            <a:pPr marL="914400" indent="-914400"/>
            <a:r>
              <a:rPr lang="en-US" sz="5400" dirty="0" smtClean="0">
                <a:latin typeface="Calibri" pitchFamily="34" charset="0"/>
              </a:rPr>
              <a:t>Familiarity vs. Surprise</a:t>
            </a:r>
          </a:p>
          <a:p>
            <a:pPr marL="914400" indent="-914400">
              <a:buFont typeface="Arial" pitchFamily="34" charset="0"/>
              <a:buChar char="•"/>
            </a:pPr>
            <a:r>
              <a:rPr lang="en-US" sz="3200" dirty="0" smtClean="0">
                <a:latin typeface="Calibri" pitchFamily="34" charset="0"/>
              </a:rPr>
              <a:t>Following convention:</a:t>
            </a:r>
          </a:p>
          <a:p>
            <a:pPr marL="3108325" lvl="1" indent="-914400">
              <a:buFont typeface="Arial" pitchFamily="34" charset="0"/>
              <a:buChar char="•"/>
            </a:pPr>
            <a:r>
              <a:rPr lang="en-US" sz="3200" dirty="0" smtClean="0">
                <a:latin typeface="Calibri" pitchFamily="34" charset="0"/>
              </a:rPr>
              <a:t>Familiarity</a:t>
            </a:r>
          </a:p>
          <a:p>
            <a:pPr marL="3108325" lvl="1" indent="-914400">
              <a:buFont typeface="Arial" pitchFamily="34" charset="0"/>
              <a:buChar char="•"/>
            </a:pPr>
            <a:r>
              <a:rPr lang="en-US" sz="3200" dirty="0" smtClean="0">
                <a:latin typeface="Calibri" pitchFamily="34" charset="0"/>
              </a:rPr>
              <a:t>Ease of interpretation</a:t>
            </a:r>
          </a:p>
          <a:p>
            <a:pPr marL="3108325" lvl="1" indent="-914400"/>
            <a:endParaRPr lang="en-US" sz="3200" dirty="0" smtClean="0">
              <a:latin typeface="Calibri" pitchFamily="34" charset="0"/>
            </a:endParaRPr>
          </a:p>
          <a:p>
            <a:pPr marL="914400" indent="-914400">
              <a:buFont typeface="Arial" charset="0"/>
              <a:buChar char="•"/>
            </a:pPr>
            <a:r>
              <a:rPr lang="en-US" sz="3200" dirty="0" smtClean="0">
                <a:latin typeface="Calibri" pitchFamily="34" charset="0"/>
              </a:rPr>
              <a:t>Breaking conventions:</a:t>
            </a:r>
          </a:p>
          <a:p>
            <a:pPr marL="3108325" lvl="1" indent="-914400">
              <a:buFont typeface="Arial" charset="0"/>
              <a:buChar char="•"/>
            </a:pPr>
            <a:r>
              <a:rPr lang="en-US" sz="3200" dirty="0" smtClean="0">
                <a:latin typeface="Calibri" pitchFamily="34" charset="0"/>
              </a:rPr>
              <a:t>Surprise raises curiosity</a:t>
            </a:r>
          </a:p>
          <a:p>
            <a:pPr marL="3108325" lvl="1" indent="-914400">
              <a:buFont typeface="Arial" charset="0"/>
              <a:buChar char="•"/>
            </a:pPr>
            <a:r>
              <a:rPr lang="en-US" sz="3200" dirty="0" smtClean="0">
                <a:latin typeface="Calibri" pitchFamily="34" charset="0"/>
              </a:rPr>
              <a:t>Emphasizes important information</a:t>
            </a:r>
            <a:endParaRPr lang="en-US" sz="5400" dirty="0">
              <a:latin typeface="Calibri" pitchFamily="34" charset="0"/>
            </a:endParaRPr>
          </a:p>
        </p:txBody>
      </p:sp>
      <p:pic>
        <p:nvPicPr>
          <p:cNvPr id="12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743200" y="25831800"/>
            <a:ext cx="6815889" cy="50291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3" name="Picture 4"/>
          <p:cNvPicPr>
            <a:picLocks noChangeAspect="1" noChangeArrowheads="1"/>
          </p:cNvPicPr>
          <p:nvPr/>
        </p:nvPicPr>
        <p:blipFill>
          <a:blip r:embed="rId4">
            <a:lum contrast="21000"/>
          </a:blip>
          <a:srcRect/>
          <a:stretch>
            <a:fillRect/>
          </a:stretch>
        </p:blipFill>
        <p:spPr>
          <a:xfrm>
            <a:off x="13144500" y="10668000"/>
            <a:ext cx="7086600" cy="5595462"/>
          </a:xfrm>
          <a:prstGeom prst="rect">
            <a:avLst/>
          </a:prstGeom>
        </p:spPr>
      </p:pic>
      <p:sp>
        <p:nvSpPr>
          <p:cNvPr id="15" name="TextBox 8"/>
          <p:cNvSpPr txBox="1">
            <a:spLocks noChangeArrowheads="1"/>
          </p:cNvSpPr>
          <p:nvPr/>
        </p:nvSpPr>
        <p:spPr bwMode="auto">
          <a:xfrm>
            <a:off x="11506200" y="17907000"/>
            <a:ext cx="9677400" cy="32316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914400" indent="-914400"/>
            <a:r>
              <a:rPr lang="en-US" sz="5400" dirty="0" smtClean="0">
                <a:latin typeface="Calibri" pitchFamily="34" charset="0"/>
              </a:rPr>
              <a:t>Ordering:</a:t>
            </a:r>
          </a:p>
          <a:p>
            <a:pPr marL="914400" indent="-914400">
              <a:buFont typeface="Arial" pitchFamily="34" charset="0"/>
              <a:buChar char="•"/>
            </a:pPr>
            <a:r>
              <a:rPr lang="en-US" sz="3200" dirty="0" smtClean="0">
                <a:latin typeface="Calibri" pitchFamily="34" charset="0"/>
              </a:rPr>
              <a:t>Organize poster by column (preferred) or by row</a:t>
            </a:r>
          </a:p>
          <a:p>
            <a:pPr marL="914400" indent="-914400">
              <a:buFont typeface="Arial" pitchFamily="34" charset="0"/>
              <a:buChar char="•"/>
            </a:pPr>
            <a:r>
              <a:rPr lang="en-US" sz="3200" dirty="0" smtClean="0">
                <a:latin typeface="Calibri" pitchFamily="34" charset="0"/>
              </a:rPr>
              <a:t>Use numbering system or visual cues to depict flow of information</a:t>
            </a:r>
          </a:p>
          <a:p>
            <a:pPr marL="914400" indent="-914400"/>
            <a:endParaRPr lang="en-US" sz="5400" dirty="0" smtClean="0">
              <a:latin typeface="Calibri" pitchFamily="34" charset="0"/>
            </a:endParaRPr>
          </a:p>
        </p:txBody>
      </p:sp>
      <p:pic>
        <p:nvPicPr>
          <p:cNvPr id="16" name="Picture 7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12573000" y="21412200"/>
            <a:ext cx="6952974" cy="9051985"/>
          </a:xfrm>
          <a:prstGeom prst="rect">
            <a:avLst/>
          </a:prstGeom>
        </p:spPr>
      </p:pic>
      <p:sp>
        <p:nvSpPr>
          <p:cNvPr id="19" name="TextBox 8"/>
          <p:cNvSpPr txBox="1">
            <a:spLocks noChangeArrowheads="1"/>
          </p:cNvSpPr>
          <p:nvPr/>
        </p:nvSpPr>
        <p:spPr bwMode="auto">
          <a:xfrm>
            <a:off x="11201400" y="7162800"/>
            <a:ext cx="9220200" cy="25853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5400" dirty="0">
                <a:solidFill>
                  <a:schemeClr val="tx2">
                    <a:lumMod val="75000"/>
                  </a:schemeClr>
                </a:solidFill>
                <a:latin typeface="Calibri" pitchFamily="34" charset="0"/>
              </a:rPr>
              <a:t>2. </a:t>
            </a:r>
            <a:r>
              <a:rPr lang="en-US" sz="5400" dirty="0" smtClean="0">
                <a:solidFill>
                  <a:schemeClr val="tx2">
                    <a:lumMod val="75000"/>
                  </a:schemeClr>
                </a:solidFill>
                <a:latin typeface="Calibri" pitchFamily="34" charset="0"/>
              </a:rPr>
              <a:t>Layout</a:t>
            </a:r>
          </a:p>
          <a:p>
            <a:endParaRPr lang="en-US" sz="5400" dirty="0">
              <a:latin typeface="Calibri" pitchFamily="34" charset="0"/>
            </a:endParaRPr>
          </a:p>
          <a:p>
            <a:pPr marL="914400" indent="-914400"/>
            <a:r>
              <a:rPr lang="en-US" sz="5400" dirty="0" smtClean="0">
                <a:latin typeface="Calibri" pitchFamily="34" charset="0"/>
              </a:rPr>
              <a:t>Create a Rough sketch:</a:t>
            </a:r>
          </a:p>
        </p:txBody>
      </p:sp>
      <p:pic>
        <p:nvPicPr>
          <p:cNvPr id="20" name="Picture 4"/>
          <p:cNvPicPr>
            <a:picLocks noChangeAspect="1" noChangeArrowheads="1"/>
          </p:cNvPicPr>
          <p:nvPr/>
        </p:nvPicPr>
        <p:blipFill>
          <a:blip r:embed="rId6">
            <a:lum contrast="20000"/>
          </a:blip>
          <a:srcRect l="5661"/>
          <a:stretch>
            <a:fillRect/>
          </a:stretch>
        </p:blipFill>
        <p:spPr>
          <a:xfrm>
            <a:off x="23555112" y="14325600"/>
            <a:ext cx="5772577" cy="6858000"/>
          </a:xfrm>
          <a:prstGeom prst="rect">
            <a:avLst/>
          </a:prstGeom>
        </p:spPr>
      </p:pic>
      <p:pic>
        <p:nvPicPr>
          <p:cNvPr id="21" name="Picture 6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23888700" y="25607615"/>
            <a:ext cx="5105400" cy="5722194"/>
          </a:xfrm>
          <a:prstGeom prst="rect">
            <a:avLst/>
          </a:prstGeom>
          <a:noFill/>
        </p:spPr>
      </p:pic>
      <p:sp>
        <p:nvSpPr>
          <p:cNvPr id="22" name="TextBox 9"/>
          <p:cNvSpPr txBox="1">
            <a:spLocks noChangeArrowheads="1"/>
          </p:cNvSpPr>
          <p:nvPr/>
        </p:nvSpPr>
        <p:spPr bwMode="auto">
          <a:xfrm>
            <a:off x="32766000" y="22561117"/>
            <a:ext cx="9753600" cy="8863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5400" dirty="0" smtClean="0">
                <a:solidFill>
                  <a:schemeClr val="tx2">
                    <a:lumMod val="75000"/>
                  </a:schemeClr>
                </a:solidFill>
                <a:latin typeface="Calibri" pitchFamily="34" charset="0"/>
              </a:rPr>
              <a:t>5. Poster Resources</a:t>
            </a:r>
          </a:p>
          <a:p>
            <a:pPr lvl="1" defTabSz="914400"/>
            <a:r>
              <a:rPr lang="en-US" sz="4000" dirty="0" smtClean="0">
                <a:latin typeface="Calibri" pitchFamily="34" charset="0"/>
              </a:rPr>
              <a:t>PQRC (Drop-in or </a:t>
            </a:r>
            <a:r>
              <a:rPr lang="en-US" sz="4000" dirty="0">
                <a:latin typeface="Calibri" pitchFamily="34" charset="0"/>
              </a:rPr>
              <a:t>T:\qrc\Poster Workshop</a:t>
            </a:r>
            <a:r>
              <a:rPr lang="en-US" sz="4000" dirty="0" smtClean="0">
                <a:latin typeface="Calibri" pitchFamily="34" charset="0"/>
              </a:rPr>
              <a:t>)</a:t>
            </a:r>
          </a:p>
          <a:p>
            <a:pPr lvl="1" defTabSz="914400"/>
            <a:r>
              <a:rPr lang="en-US" sz="4000" dirty="0" smtClean="0">
                <a:latin typeface="Calibri" pitchFamily="34" charset="0"/>
              </a:rPr>
              <a:t>WORD Studio</a:t>
            </a:r>
          </a:p>
          <a:p>
            <a:pPr lvl="1" defTabSz="914400"/>
            <a:r>
              <a:rPr lang="en-US" sz="4000" dirty="0" err="1" smtClean="0">
                <a:latin typeface="Calibri" pitchFamily="34" charset="0"/>
              </a:rPr>
              <a:t>TECDesk</a:t>
            </a:r>
            <a:endParaRPr lang="en-US" sz="4000" dirty="0" smtClean="0">
              <a:latin typeface="Calibri" pitchFamily="34" charset="0"/>
            </a:endParaRPr>
          </a:p>
          <a:p>
            <a:pPr lvl="1" defTabSz="914400"/>
            <a:r>
              <a:rPr lang="en-US" sz="4000" dirty="0" smtClean="0">
                <a:latin typeface="Calibri" pitchFamily="34" charset="0"/>
              </a:rPr>
              <a:t>SLU Logos </a:t>
            </a:r>
            <a:r>
              <a:rPr lang="en-US" sz="4000" dirty="0">
                <a:latin typeface="Calibri" pitchFamily="34" charset="0"/>
              </a:rPr>
              <a:t>(T:\</a:t>
            </a:r>
            <a:r>
              <a:rPr lang="en-US" sz="4000" dirty="0" err="1" smtClean="0">
                <a:latin typeface="Calibri" pitchFamily="34" charset="0"/>
              </a:rPr>
              <a:t>qrc</a:t>
            </a:r>
            <a:r>
              <a:rPr lang="en-US" sz="4000" dirty="0" smtClean="0">
                <a:latin typeface="Calibri" pitchFamily="34" charset="0"/>
              </a:rPr>
              <a:t>\drop\Logos2017\Logos)</a:t>
            </a:r>
          </a:p>
          <a:p>
            <a:pPr eaLnBrk="1" hangingPunct="1"/>
            <a:endParaRPr lang="en-US" sz="4000" dirty="0" smtClean="0">
              <a:latin typeface="Calibri" pitchFamily="34" charset="0"/>
            </a:endParaRPr>
          </a:p>
          <a:p>
            <a:pPr eaLnBrk="1" hangingPunct="1"/>
            <a:r>
              <a:rPr lang="en-US" sz="4000" dirty="0" smtClean="0">
                <a:latin typeface="Calibri" pitchFamily="34" charset="0"/>
              </a:rPr>
              <a:t>Printers in ODY, NCAT, GIS Lab</a:t>
            </a:r>
          </a:p>
          <a:p>
            <a:pPr eaLnBrk="1" hangingPunct="1"/>
            <a:endParaRPr lang="en-US" sz="5400" dirty="0" smtClean="0">
              <a:latin typeface="Calibri" pitchFamily="34" charset="0"/>
            </a:endParaRPr>
          </a:p>
          <a:p>
            <a:pPr eaLnBrk="1" hangingPunct="1"/>
            <a:r>
              <a:rPr lang="en-US" sz="5400" dirty="0" smtClean="0">
                <a:latin typeface="Calibri" pitchFamily="34" charset="0"/>
              </a:rPr>
              <a:t>Helpful Links:</a:t>
            </a:r>
          </a:p>
          <a:p>
            <a:pPr eaLnBrk="1" hangingPunct="1"/>
            <a:r>
              <a:rPr lang="en-US" sz="2800" dirty="0" smtClean="0"/>
              <a:t>http://www.lib.uct.ac.za/infolit/poster.htm</a:t>
            </a:r>
          </a:p>
          <a:p>
            <a:pPr eaLnBrk="1" hangingPunct="1"/>
            <a:r>
              <a:rPr lang="en-US" sz="2800" dirty="0" smtClean="0"/>
              <a:t>http://www.amstat.org/meetings/jsm/2008/pdfs/ImprovingStatisticalPosters.pdf</a:t>
            </a:r>
          </a:p>
          <a:p>
            <a:pPr eaLnBrk="1" hangingPunct="1"/>
            <a:r>
              <a:rPr lang="en-US" sz="2800" dirty="0" smtClean="0"/>
              <a:t>http://www.wpi.edu/Academics/ATC/Media/poster-tips.pdf</a:t>
            </a:r>
          </a:p>
          <a:p>
            <a:pPr eaLnBrk="1" hangingPunct="1"/>
            <a:r>
              <a:rPr lang="en-US" sz="2800" dirty="0" smtClean="0"/>
              <a:t>http://web.grinnell.edu/individuals/kuipers/stat2labs/write%20paper.html</a:t>
            </a:r>
            <a:endParaRPr lang="en-US" sz="5400" dirty="0">
              <a:latin typeface="Calibri" pitchFamily="34" charset="0"/>
            </a:endParaRPr>
          </a:p>
        </p:txBody>
      </p:sp>
      <p:sp>
        <p:nvSpPr>
          <p:cNvPr id="23" name="TextBox 5"/>
          <p:cNvSpPr txBox="1">
            <a:spLocks noChangeArrowheads="1"/>
          </p:cNvSpPr>
          <p:nvPr/>
        </p:nvSpPr>
        <p:spPr bwMode="auto">
          <a:xfrm>
            <a:off x="22402800" y="11582400"/>
            <a:ext cx="6705600" cy="24006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5400" dirty="0" smtClean="0">
                <a:latin typeface="Calibri" pitchFamily="34" charset="0"/>
              </a:rPr>
              <a:t>Font</a:t>
            </a:r>
          </a:p>
          <a:p>
            <a:pPr defTabSz="914400">
              <a:buFont typeface="Arial" pitchFamily="34" charset="0"/>
              <a:buChar char="•"/>
            </a:pPr>
            <a:r>
              <a:rPr lang="en-US" sz="3200" dirty="0" smtClean="0">
                <a:latin typeface="Calibri" pitchFamily="34" charset="0"/>
              </a:rPr>
              <a:t>	Interesting but easy to read font</a:t>
            </a:r>
          </a:p>
          <a:p>
            <a:pPr defTabSz="914400">
              <a:buFont typeface="Arial" pitchFamily="34" charset="0"/>
              <a:buChar char="•"/>
            </a:pPr>
            <a:r>
              <a:rPr lang="en-US" sz="3200" dirty="0" smtClean="0">
                <a:latin typeface="Calibri" pitchFamily="34" charset="0"/>
              </a:rPr>
              <a:t>	Appropriate sizes (See Figure )</a:t>
            </a:r>
          </a:p>
          <a:p>
            <a:pPr defTabSz="914400">
              <a:buFont typeface="Arial" pitchFamily="34" charset="0"/>
              <a:buChar char="•"/>
            </a:pPr>
            <a:r>
              <a:rPr lang="en-US" sz="3200" dirty="0" smtClean="0">
                <a:latin typeface="Calibri" pitchFamily="34" charset="0"/>
              </a:rPr>
              <a:t>	Avoid CAPS and </a:t>
            </a:r>
            <a:r>
              <a:rPr lang="en-US" sz="3200" i="1" dirty="0" smtClean="0">
                <a:latin typeface="Calibri" pitchFamily="34" charset="0"/>
              </a:rPr>
              <a:t>Italics</a:t>
            </a:r>
            <a:endParaRPr lang="en-US" sz="5400" dirty="0">
              <a:latin typeface="Calibri" pitchFamily="34" charset="0"/>
            </a:endParaRPr>
          </a:p>
        </p:txBody>
      </p:sp>
      <p:sp>
        <p:nvSpPr>
          <p:cNvPr id="24" name="TextBox 5"/>
          <p:cNvSpPr txBox="1">
            <a:spLocks noChangeArrowheads="1"/>
          </p:cNvSpPr>
          <p:nvPr/>
        </p:nvSpPr>
        <p:spPr bwMode="auto">
          <a:xfrm>
            <a:off x="22326600" y="21717000"/>
            <a:ext cx="6705600" cy="33855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5400" dirty="0" smtClean="0">
                <a:latin typeface="Calibri" pitchFamily="34" charset="0"/>
              </a:rPr>
              <a:t>Colors</a:t>
            </a:r>
            <a:endParaRPr lang="en-US" sz="3200" dirty="0" smtClean="0">
              <a:latin typeface="Calibri" pitchFamily="34" charset="0"/>
            </a:endParaRPr>
          </a:p>
          <a:p>
            <a:pPr defTabSz="914400">
              <a:buFont typeface="Arial" pitchFamily="34" charset="0"/>
              <a:buChar char="•"/>
            </a:pPr>
            <a:r>
              <a:rPr lang="en-US" sz="3200" dirty="0" smtClean="0">
                <a:latin typeface="Calibri" pitchFamily="34" charset="0"/>
              </a:rPr>
              <a:t>	Scheme for entire poster	</a:t>
            </a:r>
          </a:p>
          <a:p>
            <a:pPr defTabSz="914400">
              <a:buFont typeface="Arial" pitchFamily="34" charset="0"/>
              <a:buChar char="•"/>
            </a:pPr>
            <a:r>
              <a:rPr lang="en-US" sz="3200" dirty="0" smtClean="0">
                <a:latin typeface="Calibri" pitchFamily="34" charset="0"/>
              </a:rPr>
              <a:t>	Highlight with contrasting color</a:t>
            </a:r>
          </a:p>
          <a:p>
            <a:pPr defTabSz="914400">
              <a:buFont typeface="Arial" pitchFamily="34" charset="0"/>
              <a:buChar char="•"/>
            </a:pPr>
            <a:r>
              <a:rPr lang="en-US" sz="3200" dirty="0" smtClean="0">
                <a:latin typeface="Calibri" pitchFamily="34" charset="0"/>
              </a:rPr>
              <a:t>	Avoid too much color</a:t>
            </a:r>
          </a:p>
          <a:p>
            <a:pPr defTabSz="914400">
              <a:buFont typeface="Arial" pitchFamily="34" charset="0"/>
              <a:buChar char="•"/>
            </a:pPr>
            <a:r>
              <a:rPr lang="en-US" sz="3200" dirty="0" smtClean="0">
                <a:latin typeface="Calibri" pitchFamily="34" charset="0"/>
              </a:rPr>
              <a:t>	Avoid intensely bright colors</a:t>
            </a:r>
          </a:p>
          <a:p>
            <a:pPr defTabSz="914400">
              <a:buFont typeface="Arial" pitchFamily="34" charset="0"/>
              <a:buChar char="•"/>
            </a:pPr>
            <a:r>
              <a:rPr lang="en-US" sz="3200" dirty="0" smtClean="0">
                <a:latin typeface="Calibri" pitchFamily="34" charset="0"/>
              </a:rPr>
              <a:t>	See Figure XX</a:t>
            </a:r>
            <a:endParaRPr lang="en-US" sz="5400" dirty="0">
              <a:latin typeface="Calibri" pitchFamily="34" charset="0"/>
            </a:endParaRPr>
          </a:p>
        </p:txBody>
      </p:sp>
      <p:pic>
        <p:nvPicPr>
          <p:cNvPr id="25" name="Picture 4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33793084" y="10668001"/>
            <a:ext cx="7813732" cy="548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6" name="Picture 2" descr="T:\qrc\drop\Logos2017\Logos\JPEG\Logo Red - stacked.jpg"/>
          <p:cNvPicPr>
            <a:picLocks noChangeAspect="1" noChangeArrowheads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000"/>
          <a:stretch/>
        </p:blipFill>
        <p:spPr bwMode="auto">
          <a:xfrm>
            <a:off x="33793084" y="1295400"/>
            <a:ext cx="8839200" cy="15959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Picture 2" descr="T:\qrc\drop\Logos2017\Logos\JPEG\Logo Red - stacked.jpg"/>
          <p:cNvPicPr>
            <a:picLocks noChangeAspect="1" noChangeArrowheads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000"/>
          <a:stretch/>
        </p:blipFill>
        <p:spPr bwMode="auto">
          <a:xfrm>
            <a:off x="719889" y="1443567"/>
            <a:ext cx="8839200" cy="15959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523997" y="1828800"/>
            <a:ext cx="40903505" cy="29207996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r>
              <a:rPr lang="en-US" sz="5400" dirty="0">
                <a:latin typeface="Microsoft Sans Serif" panose="020B0604020202020204" pitchFamily="34" charset="0"/>
                <a:cs typeface="Microsoft Sans Serif" panose="020B0604020202020204" pitchFamily="34" charset="0"/>
              </a:rPr>
              <a:t>	</a:t>
            </a:r>
            <a:r>
              <a:rPr lang="en-US" sz="5400" dirty="0" smtClean="0">
                <a:latin typeface="Microsoft Sans Serif" panose="020B0604020202020204" pitchFamily="34" charset="0"/>
                <a:cs typeface="Microsoft Sans Serif" panose="020B0604020202020204" pitchFamily="34" charset="0"/>
              </a:rPr>
              <a:t>How </a:t>
            </a:r>
            <a:r>
              <a:rPr lang="en-US" sz="5400" dirty="0">
                <a:latin typeface="Microsoft Sans Serif" panose="020B0604020202020204" pitchFamily="34" charset="0"/>
                <a:cs typeface="Microsoft Sans Serif" panose="020B0604020202020204" pitchFamily="34" charset="0"/>
              </a:rPr>
              <a:t>to Make a Conference Poster using PowerPoint</a:t>
            </a:r>
          </a:p>
          <a:p>
            <a:pPr lvl="0"/>
            <a:r>
              <a:rPr lang="en-US" sz="5400" dirty="0" smtClean="0">
                <a:latin typeface="Microsoft Sans Serif" panose="020B0604020202020204" pitchFamily="34" charset="0"/>
                <a:cs typeface="Microsoft Sans Serif" panose="020B0604020202020204" pitchFamily="34" charset="0"/>
              </a:rPr>
              <a:t>I. Starting </a:t>
            </a:r>
            <a:r>
              <a:rPr lang="en-US" sz="5400" dirty="0">
                <a:latin typeface="Microsoft Sans Serif" panose="020B0604020202020204" pitchFamily="34" charset="0"/>
                <a:cs typeface="Microsoft Sans Serif" panose="020B0604020202020204" pitchFamily="34" charset="0"/>
              </a:rPr>
              <a:t>Out</a:t>
            </a:r>
          </a:p>
          <a:p>
            <a:pPr marL="1371600" lvl="1" indent="-914400">
              <a:buAutoNum type="alphaLcPeriod"/>
            </a:pPr>
            <a:r>
              <a:rPr lang="en-US" sz="5400" dirty="0" smtClean="0">
                <a:latin typeface="Microsoft Sans Serif" panose="020B0604020202020204" pitchFamily="34" charset="0"/>
                <a:cs typeface="Microsoft Sans Serif" panose="020B0604020202020204" pitchFamily="34" charset="0"/>
              </a:rPr>
              <a:t>Have </a:t>
            </a:r>
            <a:r>
              <a:rPr lang="en-US" sz="5400" dirty="0">
                <a:latin typeface="Microsoft Sans Serif" panose="020B0604020202020204" pitchFamily="34" charset="0"/>
                <a:cs typeface="Microsoft Sans Serif" panose="020B0604020202020204" pitchFamily="34" charset="0"/>
              </a:rPr>
              <a:t>an Idea of what text and images you want to put on the board, as well as what </a:t>
            </a:r>
            <a:r>
              <a:rPr lang="en-US" sz="5400" dirty="0" smtClean="0">
                <a:latin typeface="Microsoft Sans Serif" panose="020B0604020202020204" pitchFamily="34" charset="0"/>
                <a:cs typeface="Microsoft Sans Serif" panose="020B0604020202020204" pitchFamily="34" charset="0"/>
              </a:rPr>
              <a:t>they</a:t>
            </a:r>
          </a:p>
          <a:p>
            <a:pPr marL="457200" lvl="1" indent="0"/>
            <a:r>
              <a:rPr lang="en-US" sz="5400" dirty="0">
                <a:latin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lang="en-US" sz="5400" dirty="0" smtClean="0">
                <a:latin typeface="Microsoft Sans Serif" panose="020B0604020202020204" pitchFamily="34" charset="0"/>
                <a:cs typeface="Microsoft Sans Serif" panose="020B0604020202020204" pitchFamily="34" charset="0"/>
              </a:rPr>
              <a:t>    layout </a:t>
            </a:r>
            <a:r>
              <a:rPr lang="en-US" sz="5400" dirty="0">
                <a:latin typeface="Microsoft Sans Serif" panose="020B0604020202020204" pitchFamily="34" charset="0"/>
                <a:cs typeface="Microsoft Sans Serif" panose="020B0604020202020204" pitchFamily="34" charset="0"/>
              </a:rPr>
              <a:t>of the board is going to be</a:t>
            </a:r>
          </a:p>
          <a:p>
            <a:pPr marL="457200" lvl="1" indent="0"/>
            <a:r>
              <a:rPr lang="en-US" sz="5400" dirty="0" smtClean="0">
                <a:latin typeface="Microsoft Sans Serif" panose="020B0604020202020204" pitchFamily="34" charset="0"/>
                <a:cs typeface="Microsoft Sans Serif" panose="020B0604020202020204" pitchFamily="34" charset="0"/>
              </a:rPr>
              <a:t>b. Start </a:t>
            </a:r>
            <a:r>
              <a:rPr lang="en-US" sz="5400" dirty="0">
                <a:latin typeface="Microsoft Sans Serif" panose="020B0604020202020204" pitchFamily="34" charset="0"/>
                <a:cs typeface="Microsoft Sans Serif" panose="020B0604020202020204" pitchFamily="34" charset="0"/>
              </a:rPr>
              <a:t>with a Blank Document</a:t>
            </a:r>
          </a:p>
          <a:p>
            <a:pPr marL="457200" lvl="1" indent="0"/>
            <a:r>
              <a:rPr lang="en-US" sz="5400" dirty="0" smtClean="0">
                <a:latin typeface="Microsoft Sans Serif" panose="020B0604020202020204" pitchFamily="34" charset="0"/>
                <a:cs typeface="Microsoft Sans Serif" panose="020B0604020202020204" pitchFamily="34" charset="0"/>
              </a:rPr>
              <a:t>c. Change </a:t>
            </a:r>
            <a:r>
              <a:rPr lang="en-US" sz="5400" dirty="0">
                <a:latin typeface="Microsoft Sans Serif" panose="020B0604020202020204" pitchFamily="34" charset="0"/>
                <a:cs typeface="Microsoft Sans Serif" panose="020B0604020202020204" pitchFamily="34" charset="0"/>
              </a:rPr>
              <a:t>the page size from 8.5” x 11”</a:t>
            </a:r>
          </a:p>
          <a:p>
            <a:pPr marL="914400" lvl="2" indent="0"/>
            <a:r>
              <a:rPr lang="en-US" sz="5400" dirty="0" err="1" smtClean="0">
                <a:latin typeface="Microsoft Sans Serif" panose="020B0604020202020204" pitchFamily="34" charset="0"/>
                <a:cs typeface="Microsoft Sans Serif" panose="020B0604020202020204" pitchFamily="34" charset="0"/>
              </a:rPr>
              <a:t>i</a:t>
            </a:r>
            <a:r>
              <a:rPr lang="en-US" sz="5400" dirty="0" smtClean="0">
                <a:latin typeface="Microsoft Sans Serif" panose="020B0604020202020204" pitchFamily="34" charset="0"/>
                <a:cs typeface="Microsoft Sans Serif" panose="020B0604020202020204" pitchFamily="34" charset="0"/>
              </a:rPr>
              <a:t>. Design </a:t>
            </a:r>
            <a:r>
              <a:rPr lang="en-US" sz="5400" dirty="0">
                <a:latin typeface="Microsoft Sans Serif" panose="020B0604020202020204" pitchFamily="34" charset="0"/>
                <a:cs typeface="Microsoft Sans Serif" panose="020B0604020202020204" pitchFamily="34" charset="0"/>
              </a:rPr>
              <a:t>&gt; Page Setup: 48” x 36”</a:t>
            </a:r>
          </a:p>
          <a:p>
            <a:pPr marL="914400" lvl="2" indent="0"/>
            <a:r>
              <a:rPr lang="en-US" sz="5400" dirty="0" smtClean="0">
                <a:latin typeface="Microsoft Sans Serif" panose="020B0604020202020204" pitchFamily="34" charset="0"/>
                <a:cs typeface="Microsoft Sans Serif" panose="020B0604020202020204" pitchFamily="34" charset="0"/>
              </a:rPr>
              <a:t>ii. Zooming </a:t>
            </a:r>
            <a:r>
              <a:rPr lang="en-US" sz="5400" dirty="0">
                <a:latin typeface="Microsoft Sans Serif" panose="020B0604020202020204" pitchFamily="34" charset="0"/>
                <a:cs typeface="Microsoft Sans Serif" panose="020B0604020202020204" pitchFamily="34" charset="0"/>
              </a:rPr>
              <a:t>by using the control on the bottom right corner of the window or by scrolling </a:t>
            </a:r>
            <a:r>
              <a:rPr lang="en-US" sz="5400" dirty="0" smtClean="0">
                <a:latin typeface="Microsoft Sans Serif" panose="020B0604020202020204" pitchFamily="34" charset="0"/>
                <a:cs typeface="Microsoft Sans Serif" panose="020B0604020202020204" pitchFamily="34" charset="0"/>
              </a:rPr>
              <a:t>while</a:t>
            </a:r>
          </a:p>
          <a:p>
            <a:pPr marL="914400" lvl="2" indent="0"/>
            <a:r>
              <a:rPr lang="en-US" sz="5400" dirty="0" smtClean="0">
                <a:latin typeface="Microsoft Sans Serif" panose="020B0604020202020204" pitchFamily="34" charset="0"/>
                <a:cs typeface="Microsoft Sans Serif" panose="020B0604020202020204" pitchFamily="34" charset="0"/>
              </a:rPr>
              <a:t>    holding </a:t>
            </a:r>
            <a:r>
              <a:rPr lang="en-US" sz="5400" dirty="0">
                <a:latin typeface="Microsoft Sans Serif" panose="020B0604020202020204" pitchFamily="34" charset="0"/>
                <a:cs typeface="Microsoft Sans Serif" panose="020B0604020202020204" pitchFamily="34" charset="0"/>
              </a:rPr>
              <a:t>down the Ctrl key will be useful for layouts this large</a:t>
            </a:r>
          </a:p>
          <a:p>
            <a:pPr marL="457200" lvl="1" indent="0"/>
            <a:r>
              <a:rPr lang="en-US" sz="5400" dirty="0" smtClean="0">
                <a:latin typeface="Microsoft Sans Serif" panose="020B0604020202020204" pitchFamily="34" charset="0"/>
                <a:cs typeface="Microsoft Sans Serif" panose="020B0604020202020204" pitchFamily="34" charset="0"/>
              </a:rPr>
              <a:t>d. You </a:t>
            </a:r>
            <a:r>
              <a:rPr lang="en-US" sz="5400" dirty="0">
                <a:latin typeface="Microsoft Sans Serif" panose="020B0604020202020204" pitchFamily="34" charset="0"/>
                <a:cs typeface="Microsoft Sans Serif" panose="020B0604020202020204" pitchFamily="34" charset="0"/>
              </a:rPr>
              <a:t>can lay out up to 10 gridlines in each direction to align text and images more accurately</a:t>
            </a:r>
          </a:p>
          <a:p>
            <a:pPr marL="914400" lvl="2" indent="0"/>
            <a:r>
              <a:rPr lang="en-US" sz="5400" dirty="0" err="1" smtClean="0">
                <a:latin typeface="Microsoft Sans Serif" panose="020B0604020202020204" pitchFamily="34" charset="0"/>
                <a:cs typeface="Microsoft Sans Serif" panose="020B0604020202020204" pitchFamily="34" charset="0"/>
              </a:rPr>
              <a:t>i</a:t>
            </a:r>
            <a:r>
              <a:rPr lang="en-US" sz="5400" dirty="0" smtClean="0">
                <a:latin typeface="Microsoft Sans Serif" panose="020B0604020202020204" pitchFamily="34" charset="0"/>
                <a:cs typeface="Microsoft Sans Serif" panose="020B0604020202020204" pitchFamily="34" charset="0"/>
              </a:rPr>
              <a:t>. View </a:t>
            </a:r>
            <a:r>
              <a:rPr lang="en-US" sz="5400" dirty="0">
                <a:latin typeface="Microsoft Sans Serif" panose="020B0604020202020204" pitchFamily="34" charset="0"/>
                <a:cs typeface="Microsoft Sans Serif" panose="020B0604020202020204" pitchFamily="34" charset="0"/>
              </a:rPr>
              <a:t>&gt; Gridlines </a:t>
            </a:r>
          </a:p>
          <a:p>
            <a:pPr marL="457200" lvl="1" indent="0"/>
            <a:r>
              <a:rPr lang="en-US" sz="5400" dirty="0" smtClean="0">
                <a:latin typeface="Microsoft Sans Serif" panose="020B0604020202020204" pitchFamily="34" charset="0"/>
                <a:cs typeface="Microsoft Sans Serif" panose="020B0604020202020204" pitchFamily="34" charset="0"/>
              </a:rPr>
              <a:t>e. To </a:t>
            </a:r>
            <a:r>
              <a:rPr lang="en-US" sz="5400" dirty="0">
                <a:latin typeface="Microsoft Sans Serif" panose="020B0604020202020204" pitchFamily="34" charset="0"/>
                <a:cs typeface="Microsoft Sans Serif" panose="020B0604020202020204" pitchFamily="34" charset="0"/>
              </a:rPr>
              <a:t>prevent printing problems, leave at least a ½” margin on all sides</a:t>
            </a:r>
          </a:p>
          <a:p>
            <a:r>
              <a:rPr lang="en-US" sz="5400" dirty="0"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</a:p>
          <a:p>
            <a:pPr lvl="0"/>
            <a:r>
              <a:rPr lang="en-US" sz="5400" dirty="0" smtClean="0">
                <a:latin typeface="Microsoft Sans Serif" panose="020B0604020202020204" pitchFamily="34" charset="0"/>
                <a:cs typeface="Microsoft Sans Serif" panose="020B0604020202020204" pitchFamily="34" charset="0"/>
              </a:rPr>
              <a:t>II. Text</a:t>
            </a:r>
            <a:endParaRPr lang="en-US" sz="5400" dirty="0"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pPr marL="457200" lvl="1" indent="0"/>
            <a:r>
              <a:rPr lang="en-US" sz="5400" dirty="0" smtClean="0">
                <a:latin typeface="Microsoft Sans Serif" panose="020B0604020202020204" pitchFamily="34" charset="0"/>
                <a:cs typeface="Microsoft Sans Serif" panose="020B0604020202020204" pitchFamily="34" charset="0"/>
              </a:rPr>
              <a:t>a. Headings</a:t>
            </a:r>
            <a:endParaRPr lang="en-US" sz="5400" dirty="0"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pPr marL="914400" lvl="2" indent="0"/>
            <a:r>
              <a:rPr lang="en-US" sz="5400" dirty="0" err="1" smtClean="0">
                <a:latin typeface="Microsoft Sans Serif" panose="020B0604020202020204" pitchFamily="34" charset="0"/>
                <a:cs typeface="Microsoft Sans Serif" panose="020B0604020202020204" pitchFamily="34" charset="0"/>
              </a:rPr>
              <a:t>i</a:t>
            </a:r>
            <a:r>
              <a:rPr lang="en-US" sz="5400" dirty="0" smtClean="0">
                <a:latin typeface="Microsoft Sans Serif" panose="020B0604020202020204" pitchFamily="34" charset="0"/>
                <a:cs typeface="Microsoft Sans Serif" panose="020B0604020202020204" pitchFamily="34" charset="0"/>
              </a:rPr>
              <a:t>. Insert </a:t>
            </a:r>
            <a:r>
              <a:rPr lang="en-US" sz="5400" dirty="0">
                <a:latin typeface="Microsoft Sans Serif" panose="020B0604020202020204" pitchFamily="34" charset="0"/>
                <a:cs typeface="Microsoft Sans Serif" panose="020B0604020202020204" pitchFamily="34" charset="0"/>
              </a:rPr>
              <a:t>&gt; Text Box</a:t>
            </a:r>
          </a:p>
          <a:p>
            <a:pPr marL="914400" lvl="2" indent="0"/>
            <a:r>
              <a:rPr lang="en-US" sz="5400" dirty="0" smtClean="0">
                <a:latin typeface="Microsoft Sans Serif" panose="020B0604020202020204" pitchFamily="34" charset="0"/>
                <a:cs typeface="Microsoft Sans Serif" panose="020B0604020202020204" pitchFamily="34" charset="0"/>
              </a:rPr>
              <a:t>ii. Effects</a:t>
            </a:r>
            <a:r>
              <a:rPr lang="en-US" sz="5400" dirty="0">
                <a:latin typeface="Microsoft Sans Serif" panose="020B0604020202020204" pitchFamily="34" charset="0"/>
                <a:cs typeface="Microsoft Sans Serif" panose="020B0604020202020204" pitchFamily="34" charset="0"/>
              </a:rPr>
              <a:t>: Format &gt; </a:t>
            </a:r>
            <a:r>
              <a:rPr lang="en-US" sz="5400" dirty="0" err="1">
                <a:latin typeface="Microsoft Sans Serif" panose="020B0604020202020204" pitchFamily="34" charset="0"/>
                <a:cs typeface="Microsoft Sans Serif" panose="020B0604020202020204" pitchFamily="34" charset="0"/>
              </a:rPr>
              <a:t>etc</a:t>
            </a:r>
            <a:r>
              <a:rPr lang="en-US" sz="5400" dirty="0">
                <a:latin typeface="Microsoft Sans Serif" panose="020B0604020202020204" pitchFamily="34" charset="0"/>
                <a:cs typeface="Microsoft Sans Serif" panose="020B0604020202020204" pitchFamily="34" charset="0"/>
              </a:rPr>
              <a:t>… Change line color, fill, size, and font; create reflections, shadows</a:t>
            </a:r>
            <a:r>
              <a:rPr lang="en-US" sz="5400" dirty="0" smtClean="0">
                <a:latin typeface="Microsoft Sans Serif" panose="020B0604020202020204" pitchFamily="34" charset="0"/>
                <a:cs typeface="Microsoft Sans Serif" panose="020B0604020202020204" pitchFamily="34" charset="0"/>
              </a:rPr>
              <a:t>,</a:t>
            </a:r>
          </a:p>
          <a:p>
            <a:pPr marL="914400" lvl="2" indent="0"/>
            <a:r>
              <a:rPr lang="en-US" sz="5400" dirty="0" smtClean="0">
                <a:latin typeface="Microsoft Sans Serif" panose="020B0604020202020204" pitchFamily="34" charset="0"/>
                <a:cs typeface="Microsoft Sans Serif" panose="020B0604020202020204" pitchFamily="34" charset="0"/>
              </a:rPr>
              <a:t>    rotated </a:t>
            </a:r>
            <a:r>
              <a:rPr lang="en-US" sz="5400" dirty="0">
                <a:latin typeface="Microsoft Sans Serif" panose="020B0604020202020204" pitchFamily="34" charset="0"/>
                <a:cs typeface="Microsoft Sans Serif" panose="020B0604020202020204" pitchFamily="34" charset="0"/>
              </a:rPr>
              <a:t>text…</a:t>
            </a:r>
          </a:p>
          <a:p>
            <a:pPr marL="914400" lvl="2" indent="0"/>
            <a:r>
              <a:rPr lang="en-US" sz="5400" dirty="0" smtClean="0">
                <a:latin typeface="Microsoft Sans Serif" panose="020B0604020202020204" pitchFamily="34" charset="0"/>
                <a:cs typeface="Microsoft Sans Serif" panose="020B0604020202020204" pitchFamily="34" charset="0"/>
              </a:rPr>
              <a:t>iii. Right-Click </a:t>
            </a:r>
            <a:r>
              <a:rPr lang="en-US" sz="5400" dirty="0">
                <a:latin typeface="Microsoft Sans Serif" panose="020B0604020202020204" pitchFamily="34" charset="0"/>
                <a:cs typeface="Microsoft Sans Serif" panose="020B0604020202020204" pitchFamily="34" charset="0"/>
              </a:rPr>
              <a:t>&gt; Format Shape to change text box margins</a:t>
            </a:r>
          </a:p>
          <a:p>
            <a:pPr marL="457200" lvl="1" indent="0"/>
            <a:r>
              <a:rPr lang="en-US" sz="5400" dirty="0" smtClean="0">
                <a:latin typeface="Microsoft Sans Serif" panose="020B0604020202020204" pitchFamily="34" charset="0"/>
                <a:cs typeface="Microsoft Sans Serif" panose="020B0604020202020204" pitchFamily="34" charset="0"/>
              </a:rPr>
              <a:t>b. Body </a:t>
            </a:r>
            <a:r>
              <a:rPr lang="en-US" sz="5400" dirty="0">
                <a:latin typeface="Microsoft Sans Serif" panose="020B0604020202020204" pitchFamily="34" charset="0"/>
                <a:cs typeface="Microsoft Sans Serif" panose="020B0604020202020204" pitchFamily="34" charset="0"/>
              </a:rPr>
              <a:t>Text</a:t>
            </a:r>
          </a:p>
          <a:p>
            <a:pPr marL="914400" lvl="2" indent="0"/>
            <a:r>
              <a:rPr lang="en-US" sz="5400" dirty="0" err="1" smtClean="0">
                <a:latin typeface="Microsoft Sans Serif" panose="020B0604020202020204" pitchFamily="34" charset="0"/>
                <a:cs typeface="Microsoft Sans Serif" panose="020B0604020202020204" pitchFamily="34" charset="0"/>
              </a:rPr>
              <a:t>i</a:t>
            </a:r>
            <a:r>
              <a:rPr lang="en-US" sz="5400" dirty="0" smtClean="0">
                <a:latin typeface="Microsoft Sans Serif" panose="020B0604020202020204" pitchFamily="34" charset="0"/>
                <a:cs typeface="Microsoft Sans Serif" panose="020B0604020202020204" pitchFamily="34" charset="0"/>
              </a:rPr>
              <a:t>. Smaller </a:t>
            </a:r>
            <a:r>
              <a:rPr lang="en-US" sz="5400" dirty="0">
                <a:latin typeface="Microsoft Sans Serif" panose="020B0604020202020204" pitchFamily="34" charset="0"/>
                <a:cs typeface="Microsoft Sans Serif" panose="020B0604020202020204" pitchFamily="34" charset="0"/>
              </a:rPr>
              <a:t>Headings; theme colors</a:t>
            </a:r>
          </a:p>
          <a:p>
            <a:pPr marL="914400" lvl="2" indent="0"/>
            <a:r>
              <a:rPr lang="en-US" sz="5400" dirty="0" smtClean="0">
                <a:latin typeface="Microsoft Sans Serif" panose="020B0604020202020204" pitchFamily="34" charset="0"/>
                <a:cs typeface="Microsoft Sans Serif" panose="020B0604020202020204" pitchFamily="34" charset="0"/>
              </a:rPr>
              <a:t>ii. Body </a:t>
            </a:r>
            <a:r>
              <a:rPr lang="en-US" sz="5400" dirty="0">
                <a:latin typeface="Microsoft Sans Serif" panose="020B0604020202020204" pitchFamily="34" charset="0"/>
                <a:cs typeface="Microsoft Sans Serif" panose="020B0604020202020204" pitchFamily="34" charset="0"/>
              </a:rPr>
              <a:t>Text below Heading can be in the same or separate Text Boxes</a:t>
            </a:r>
          </a:p>
          <a:p>
            <a:pPr marL="914400" lvl="2" indent="0"/>
            <a:r>
              <a:rPr lang="en-US" sz="5400" dirty="0" smtClean="0">
                <a:latin typeface="Microsoft Sans Serif" panose="020B0604020202020204" pitchFamily="34" charset="0"/>
                <a:cs typeface="Microsoft Sans Serif" panose="020B0604020202020204" pitchFamily="34" charset="0"/>
              </a:rPr>
              <a:t>iii. Text </a:t>
            </a:r>
            <a:r>
              <a:rPr lang="en-US" sz="5400" dirty="0">
                <a:latin typeface="Microsoft Sans Serif" panose="020B0604020202020204" pitchFamily="34" charset="0"/>
                <a:cs typeface="Microsoft Sans Serif" panose="020B0604020202020204" pitchFamily="34" charset="0"/>
              </a:rPr>
              <a:t>can be typed in or copied in from other programs, such as MS Word</a:t>
            </a:r>
          </a:p>
          <a:p>
            <a:pPr marL="914400" lvl="2" indent="0"/>
            <a:r>
              <a:rPr lang="en-US" sz="5400" dirty="0" smtClean="0">
                <a:latin typeface="Microsoft Sans Serif" panose="020B0604020202020204" pitchFamily="34" charset="0"/>
                <a:cs typeface="Microsoft Sans Serif" panose="020B0604020202020204" pitchFamily="34" charset="0"/>
              </a:rPr>
              <a:t>iv. Formatting </a:t>
            </a:r>
            <a:r>
              <a:rPr lang="en-US" sz="5400" dirty="0">
                <a:latin typeface="Microsoft Sans Serif" panose="020B0604020202020204" pitchFamily="34" charset="0"/>
                <a:cs typeface="Microsoft Sans Serif" panose="020B0604020202020204" pitchFamily="34" charset="0"/>
              </a:rPr>
              <a:t>may not stay the same</a:t>
            </a:r>
          </a:p>
          <a:p>
            <a:pPr marL="914400" lvl="2" indent="0"/>
            <a:r>
              <a:rPr lang="en-US" sz="5400" dirty="0" smtClean="0">
                <a:latin typeface="Microsoft Sans Serif" panose="020B0604020202020204" pitchFamily="34" charset="0"/>
                <a:cs typeface="Microsoft Sans Serif" panose="020B0604020202020204" pitchFamily="34" charset="0"/>
              </a:rPr>
              <a:t>v. Use </a:t>
            </a:r>
            <a:r>
              <a:rPr lang="en-US" sz="5400" dirty="0">
                <a:latin typeface="Microsoft Sans Serif" panose="020B0604020202020204" pitchFamily="34" charset="0"/>
                <a:cs typeface="Microsoft Sans Serif" panose="020B0604020202020204" pitchFamily="34" charset="0"/>
              </a:rPr>
              <a:t>“Paste Special” ( keep source formatting) for copying and pasting equations </a:t>
            </a:r>
          </a:p>
          <a:p>
            <a:r>
              <a:rPr lang="en-US" sz="5400" dirty="0"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</a:p>
          <a:p>
            <a:pPr lvl="0"/>
            <a:r>
              <a:rPr lang="en-US" sz="5400" dirty="0" smtClean="0">
                <a:latin typeface="Microsoft Sans Serif" panose="020B0604020202020204" pitchFamily="34" charset="0"/>
                <a:cs typeface="Microsoft Sans Serif" panose="020B0604020202020204" pitchFamily="34" charset="0"/>
              </a:rPr>
              <a:t>III. Figures </a:t>
            </a:r>
            <a:r>
              <a:rPr lang="en-US" sz="5400" dirty="0">
                <a:latin typeface="Microsoft Sans Serif" panose="020B0604020202020204" pitchFamily="34" charset="0"/>
                <a:cs typeface="Microsoft Sans Serif" panose="020B0604020202020204" pitchFamily="34" charset="0"/>
              </a:rPr>
              <a:t>and Graphs</a:t>
            </a:r>
          </a:p>
          <a:p>
            <a:pPr marL="457200" lvl="1" indent="0"/>
            <a:r>
              <a:rPr lang="en-US" sz="5400" dirty="0" smtClean="0">
                <a:latin typeface="Microsoft Sans Serif" panose="020B0604020202020204" pitchFamily="34" charset="0"/>
                <a:cs typeface="Microsoft Sans Serif" panose="020B0604020202020204" pitchFamily="34" charset="0"/>
              </a:rPr>
              <a:t>a. PowerPoint </a:t>
            </a:r>
            <a:r>
              <a:rPr lang="en-US" sz="5400" dirty="0">
                <a:latin typeface="Microsoft Sans Serif" panose="020B0604020202020204" pitchFamily="34" charset="0"/>
                <a:cs typeface="Microsoft Sans Serif" panose="020B0604020202020204" pitchFamily="34" charset="0"/>
              </a:rPr>
              <a:t>can display almost all types of media (pictures, sound, video, </a:t>
            </a:r>
            <a:r>
              <a:rPr lang="en-US" sz="5400" dirty="0" err="1">
                <a:latin typeface="Microsoft Sans Serif" panose="020B0604020202020204" pitchFamily="34" charset="0"/>
                <a:cs typeface="Microsoft Sans Serif" panose="020B0604020202020204" pitchFamily="34" charset="0"/>
              </a:rPr>
              <a:t>etc</a:t>
            </a:r>
            <a:r>
              <a:rPr lang="en-US" sz="5400" dirty="0">
                <a:latin typeface="Microsoft Sans Serif" panose="020B0604020202020204" pitchFamily="34" charset="0"/>
                <a:cs typeface="Microsoft Sans Serif" panose="020B0604020202020204" pitchFamily="34" charset="0"/>
              </a:rPr>
              <a:t>)</a:t>
            </a:r>
          </a:p>
          <a:p>
            <a:pPr marL="457200" lvl="1" indent="0"/>
            <a:r>
              <a:rPr lang="en-US" sz="5400" dirty="0" smtClean="0">
                <a:latin typeface="Microsoft Sans Serif" panose="020B0604020202020204" pitchFamily="34" charset="0"/>
                <a:cs typeface="Microsoft Sans Serif" panose="020B0604020202020204" pitchFamily="34" charset="0"/>
              </a:rPr>
              <a:t>b. Pictures</a:t>
            </a:r>
            <a:r>
              <a:rPr lang="en-US" sz="5400" dirty="0">
                <a:latin typeface="Microsoft Sans Serif" panose="020B0604020202020204" pitchFamily="34" charset="0"/>
                <a:cs typeface="Microsoft Sans Serif" panose="020B0604020202020204" pitchFamily="34" charset="0"/>
              </a:rPr>
              <a:t>: Insert &gt; Picture (preserves quality) OR Copy &amp; Paste (easier, but lower quality)</a:t>
            </a:r>
          </a:p>
          <a:p>
            <a:pPr marL="457200" lvl="1" indent="0"/>
            <a:r>
              <a:rPr lang="en-US" sz="5400" dirty="0" smtClean="0">
                <a:latin typeface="Microsoft Sans Serif" panose="020B0604020202020204" pitchFamily="34" charset="0"/>
                <a:cs typeface="Microsoft Sans Serif" panose="020B0604020202020204" pitchFamily="34" charset="0"/>
              </a:rPr>
              <a:t>c. Tables</a:t>
            </a:r>
            <a:r>
              <a:rPr lang="en-US" sz="5400" dirty="0">
                <a:latin typeface="Microsoft Sans Serif" panose="020B0604020202020204" pitchFamily="34" charset="0"/>
                <a:cs typeface="Microsoft Sans Serif" panose="020B0604020202020204" pitchFamily="34" charset="0"/>
              </a:rPr>
              <a:t>: Insert an Excel Spreadsheet, or create a Table on the PowerPoint page</a:t>
            </a:r>
          </a:p>
          <a:p>
            <a:pPr marL="457200" lvl="1" indent="0"/>
            <a:r>
              <a:rPr lang="en-US" sz="5400" dirty="0" smtClean="0">
                <a:latin typeface="Microsoft Sans Serif" panose="020B0604020202020204" pitchFamily="34" charset="0"/>
                <a:cs typeface="Microsoft Sans Serif" panose="020B0604020202020204" pitchFamily="34" charset="0"/>
              </a:rPr>
              <a:t>d. Graphs</a:t>
            </a:r>
            <a:r>
              <a:rPr lang="en-US" sz="5400" dirty="0">
                <a:latin typeface="Microsoft Sans Serif" panose="020B0604020202020204" pitchFamily="34" charset="0"/>
                <a:cs typeface="Microsoft Sans Serif" panose="020B0604020202020204" pitchFamily="34" charset="0"/>
              </a:rPr>
              <a:t>: Input the data and create a graph via Excel, or Copy &amp; Paste an existing graph</a:t>
            </a:r>
          </a:p>
          <a:p>
            <a:pPr marL="457200" lvl="1" indent="0"/>
            <a:r>
              <a:rPr lang="en-US" sz="5400" dirty="0" smtClean="0">
                <a:latin typeface="Microsoft Sans Serif" panose="020B0604020202020204" pitchFamily="34" charset="0"/>
                <a:cs typeface="Microsoft Sans Serif" panose="020B0604020202020204" pitchFamily="34" charset="0"/>
              </a:rPr>
              <a:t>e. Note</a:t>
            </a:r>
            <a:r>
              <a:rPr lang="en-US" sz="5400" dirty="0">
                <a:latin typeface="Microsoft Sans Serif" panose="020B0604020202020204" pitchFamily="34" charset="0"/>
                <a:cs typeface="Microsoft Sans Serif" panose="020B0604020202020204" pitchFamily="34" charset="0"/>
              </a:rPr>
              <a:t>: If any media is inserted using copy &amp; paste, make sure it is of very high quality, </a:t>
            </a:r>
            <a:r>
              <a:rPr lang="en-US" sz="5400" dirty="0" smtClean="0">
                <a:latin typeface="Microsoft Sans Serif" panose="020B0604020202020204" pitchFamily="34" charset="0"/>
                <a:cs typeface="Microsoft Sans Serif" panose="020B0604020202020204" pitchFamily="34" charset="0"/>
              </a:rPr>
              <a:t>as</a:t>
            </a:r>
          </a:p>
          <a:p>
            <a:pPr marL="457200" lvl="1" indent="0"/>
            <a:r>
              <a:rPr lang="en-US" sz="5400" dirty="0">
                <a:latin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  <a:r>
              <a:rPr lang="en-US" sz="5400" dirty="0" smtClean="0">
                <a:latin typeface="Microsoft Sans Serif" panose="020B0604020202020204" pitchFamily="34" charset="0"/>
                <a:cs typeface="Microsoft Sans Serif" panose="020B0604020202020204" pitchFamily="34" charset="0"/>
              </a:rPr>
              <a:t>   sizing </a:t>
            </a:r>
            <a:r>
              <a:rPr lang="en-US" sz="5400" dirty="0">
                <a:latin typeface="Microsoft Sans Serif" panose="020B0604020202020204" pitchFamily="34" charset="0"/>
                <a:cs typeface="Microsoft Sans Serif" panose="020B0604020202020204" pitchFamily="34" charset="0"/>
              </a:rPr>
              <a:t>the image to fit a 48” x 36” board may not work well</a:t>
            </a:r>
          </a:p>
          <a:p>
            <a:pPr marL="457200" lvl="1" indent="0"/>
            <a:r>
              <a:rPr lang="en-US" sz="5400" dirty="0" smtClean="0">
                <a:latin typeface="Microsoft Sans Serif" panose="020B0604020202020204" pitchFamily="34" charset="0"/>
                <a:cs typeface="Microsoft Sans Serif" panose="020B0604020202020204" pitchFamily="34" charset="0"/>
              </a:rPr>
              <a:t>f. Verify </a:t>
            </a:r>
            <a:r>
              <a:rPr lang="en-US" sz="5400" dirty="0">
                <a:latin typeface="Microsoft Sans Serif" panose="020B0604020202020204" pitchFamily="34" charset="0"/>
                <a:cs typeface="Microsoft Sans Serif" panose="020B0604020202020204" pitchFamily="34" charset="0"/>
              </a:rPr>
              <a:t>Image Quality by looking at the poster via sizing 100% (using View Ribbon or Sizing </a:t>
            </a:r>
            <a:r>
              <a:rPr lang="en-US" sz="5400" dirty="0" smtClean="0">
                <a:latin typeface="Microsoft Sans Serif" panose="020B0604020202020204" pitchFamily="34" charset="0"/>
                <a:cs typeface="Microsoft Sans Serif" panose="020B0604020202020204" pitchFamily="34" charset="0"/>
              </a:rPr>
              <a:t>in</a:t>
            </a:r>
          </a:p>
          <a:p>
            <a:pPr marL="457200" lvl="1" indent="0"/>
            <a:r>
              <a:rPr lang="en-US" sz="5400" dirty="0" smtClean="0">
                <a:latin typeface="Microsoft Sans Serif" panose="020B0604020202020204" pitchFamily="34" charset="0"/>
                <a:cs typeface="Microsoft Sans Serif" panose="020B0604020202020204" pitchFamily="34" charset="0"/>
              </a:rPr>
              <a:t>   bottom </a:t>
            </a:r>
            <a:r>
              <a:rPr lang="en-US" sz="5400" dirty="0">
                <a:latin typeface="Microsoft Sans Serif" panose="020B0604020202020204" pitchFamily="34" charset="0"/>
                <a:cs typeface="Microsoft Sans Serif" panose="020B0604020202020204" pitchFamily="34" charset="0"/>
              </a:rPr>
              <a:t>right)</a:t>
            </a:r>
          </a:p>
          <a:p>
            <a:r>
              <a:rPr lang="en-US" sz="5400" dirty="0"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</a:p>
          <a:p>
            <a:pPr lvl="0"/>
            <a:r>
              <a:rPr lang="en-US" sz="5400" dirty="0" smtClean="0">
                <a:latin typeface="Microsoft Sans Serif" panose="020B0604020202020204" pitchFamily="34" charset="0"/>
                <a:cs typeface="Microsoft Sans Serif" panose="020B0604020202020204" pitchFamily="34" charset="0"/>
              </a:rPr>
              <a:t>IV. Dressing </a:t>
            </a:r>
            <a:r>
              <a:rPr lang="en-US" sz="5400" dirty="0">
                <a:latin typeface="Microsoft Sans Serif" panose="020B0604020202020204" pitchFamily="34" charset="0"/>
                <a:cs typeface="Microsoft Sans Serif" panose="020B0604020202020204" pitchFamily="34" charset="0"/>
              </a:rPr>
              <a:t>it up!</a:t>
            </a:r>
          </a:p>
          <a:p>
            <a:pPr marL="457200" lvl="1" indent="0"/>
            <a:r>
              <a:rPr lang="en-US" sz="5400" dirty="0" smtClean="0">
                <a:latin typeface="Microsoft Sans Serif" panose="020B0604020202020204" pitchFamily="34" charset="0"/>
                <a:cs typeface="Microsoft Sans Serif" panose="020B0604020202020204" pitchFamily="34" charset="0"/>
              </a:rPr>
              <a:t>a. St</a:t>
            </a:r>
            <a:r>
              <a:rPr lang="en-US" sz="5400" dirty="0">
                <a:latin typeface="Microsoft Sans Serif" panose="020B0604020202020204" pitchFamily="34" charset="0"/>
                <a:cs typeface="Microsoft Sans Serif" panose="020B0604020202020204" pitchFamily="34" charset="0"/>
              </a:rPr>
              <a:t>. Lawrence University logos can be found at T:\qrc\drop\Logos2017\Logos</a:t>
            </a:r>
          </a:p>
          <a:p>
            <a:pPr marL="457200" lvl="1" indent="0"/>
            <a:r>
              <a:rPr lang="en-US" sz="5400" dirty="0" smtClean="0">
                <a:latin typeface="Microsoft Sans Serif" panose="020B0604020202020204" pitchFamily="34" charset="0"/>
                <a:cs typeface="Microsoft Sans Serif" panose="020B0604020202020204" pitchFamily="34" charset="0"/>
              </a:rPr>
              <a:t>b. Background</a:t>
            </a:r>
            <a:r>
              <a:rPr lang="en-US" sz="5400" dirty="0">
                <a:latin typeface="Microsoft Sans Serif" panose="020B0604020202020204" pitchFamily="34" charset="0"/>
                <a:cs typeface="Microsoft Sans Serif" panose="020B0604020202020204" pitchFamily="34" charset="0"/>
              </a:rPr>
              <a:t>: Design or Design &gt; Background Styles</a:t>
            </a:r>
          </a:p>
          <a:p>
            <a:pPr marL="457200" lvl="1" indent="0"/>
            <a:r>
              <a:rPr lang="en-US" sz="5400" dirty="0" smtClean="0">
                <a:latin typeface="Microsoft Sans Serif" panose="020B0604020202020204" pitchFamily="34" charset="0"/>
                <a:cs typeface="Microsoft Sans Serif" panose="020B0604020202020204" pitchFamily="34" charset="0"/>
              </a:rPr>
              <a:t>c. Graph </a:t>
            </a:r>
            <a:r>
              <a:rPr lang="en-US" sz="5400" dirty="0">
                <a:latin typeface="Microsoft Sans Serif" panose="020B0604020202020204" pitchFamily="34" charset="0"/>
                <a:cs typeface="Microsoft Sans Serif" panose="020B0604020202020204" pitchFamily="34" charset="0"/>
              </a:rPr>
              <a:t>Styles: Select series of graph, Format &gt; Shape Fill</a:t>
            </a:r>
          </a:p>
          <a:p>
            <a:pPr marL="457200" lvl="1" indent="0"/>
            <a:r>
              <a:rPr lang="en-US" sz="5400" dirty="0" smtClean="0">
                <a:latin typeface="Microsoft Sans Serif" panose="020B0604020202020204" pitchFamily="34" charset="0"/>
                <a:cs typeface="Microsoft Sans Serif" panose="020B0604020202020204" pitchFamily="34" charset="0"/>
              </a:rPr>
              <a:t>d. Tip</a:t>
            </a:r>
            <a:r>
              <a:rPr lang="en-US" sz="5400" dirty="0">
                <a:latin typeface="Microsoft Sans Serif" panose="020B0604020202020204" pitchFamily="34" charset="0"/>
                <a:cs typeface="Microsoft Sans Serif" panose="020B0604020202020204" pitchFamily="34" charset="0"/>
              </a:rPr>
              <a:t>: Add subtle Text Effects to the sections you want to draw attention to, i.e., an abstract </a:t>
            </a:r>
            <a:r>
              <a:rPr lang="en-US" sz="5400" dirty="0" smtClean="0">
                <a:latin typeface="Microsoft Sans Serif" panose="020B0604020202020204" pitchFamily="34" charset="0"/>
                <a:cs typeface="Microsoft Sans Serif" panose="020B0604020202020204" pitchFamily="34" charset="0"/>
              </a:rPr>
              <a:t>or</a:t>
            </a:r>
          </a:p>
          <a:p>
            <a:pPr marL="457200" lvl="1" indent="0"/>
            <a:r>
              <a:rPr lang="en-US" sz="5400" smtClean="0">
                <a:latin typeface="Microsoft Sans Serif" panose="020B0604020202020204" pitchFamily="34" charset="0"/>
                <a:cs typeface="Microsoft Sans Serif" panose="020B0604020202020204" pitchFamily="34" charset="0"/>
              </a:rPr>
              <a:t>     important </a:t>
            </a:r>
            <a:r>
              <a:rPr lang="en-US" sz="5400" dirty="0">
                <a:latin typeface="Microsoft Sans Serif" panose="020B0604020202020204" pitchFamily="34" charset="0"/>
                <a:cs typeface="Microsoft Sans Serif" panose="020B0604020202020204" pitchFamily="34" charset="0"/>
              </a:rPr>
              <a:t>graph/chart</a:t>
            </a:r>
          </a:p>
          <a:p>
            <a:pPr marL="457200" lvl="1" indent="0"/>
            <a:r>
              <a:rPr lang="en-US" sz="5400" dirty="0" smtClean="0">
                <a:latin typeface="Microsoft Sans Serif" panose="020B0604020202020204" pitchFamily="34" charset="0"/>
                <a:cs typeface="Microsoft Sans Serif" panose="020B0604020202020204" pitchFamily="34" charset="0"/>
              </a:rPr>
              <a:t>e. Home </a:t>
            </a:r>
            <a:r>
              <a:rPr lang="en-US" sz="5400" dirty="0">
                <a:latin typeface="Microsoft Sans Serif" panose="020B0604020202020204" pitchFamily="34" charset="0"/>
                <a:cs typeface="Microsoft Sans Serif" panose="020B0604020202020204" pitchFamily="34" charset="0"/>
              </a:rPr>
              <a:t>&gt; Arrange to change locations of items</a:t>
            </a:r>
          </a:p>
          <a:p>
            <a:r>
              <a:rPr lang="en-US" sz="5400" dirty="0"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</a:p>
          <a:p>
            <a:pPr lvl="0"/>
            <a:r>
              <a:rPr lang="en-US" sz="5400" dirty="0" smtClean="0">
                <a:latin typeface="Microsoft Sans Serif" panose="020B0604020202020204" pitchFamily="34" charset="0"/>
                <a:cs typeface="Microsoft Sans Serif" panose="020B0604020202020204" pitchFamily="34" charset="0"/>
              </a:rPr>
              <a:t>V. Finishing </a:t>
            </a:r>
            <a:r>
              <a:rPr lang="en-US" sz="5400" dirty="0">
                <a:latin typeface="Microsoft Sans Serif" panose="020B0604020202020204" pitchFamily="34" charset="0"/>
                <a:cs typeface="Microsoft Sans Serif" panose="020B0604020202020204" pitchFamily="34" charset="0"/>
              </a:rPr>
              <a:t>up</a:t>
            </a:r>
          </a:p>
          <a:p>
            <a:pPr marL="457200" lvl="1" indent="0"/>
            <a:r>
              <a:rPr lang="en-US" sz="5400" dirty="0" smtClean="0">
                <a:latin typeface="Microsoft Sans Serif" panose="020B0604020202020204" pitchFamily="34" charset="0"/>
                <a:cs typeface="Microsoft Sans Serif" panose="020B0604020202020204" pitchFamily="34" charset="0"/>
              </a:rPr>
              <a:t>a. Save </a:t>
            </a:r>
            <a:r>
              <a:rPr lang="en-US" sz="5400" dirty="0">
                <a:latin typeface="Microsoft Sans Serif" panose="020B0604020202020204" pitchFamily="34" charset="0"/>
                <a:cs typeface="Microsoft Sans Serif" panose="020B0604020202020204" pitchFamily="34" charset="0"/>
              </a:rPr>
              <a:t>your presentation as a .</a:t>
            </a:r>
            <a:r>
              <a:rPr lang="en-US" sz="5400" dirty="0" err="1">
                <a:latin typeface="Microsoft Sans Serif" panose="020B0604020202020204" pitchFamily="34" charset="0"/>
                <a:cs typeface="Microsoft Sans Serif" panose="020B0604020202020204" pitchFamily="34" charset="0"/>
              </a:rPr>
              <a:t>ppt</a:t>
            </a:r>
            <a:r>
              <a:rPr lang="en-US" sz="5400" dirty="0">
                <a:latin typeface="Microsoft Sans Serif" panose="020B0604020202020204" pitchFamily="34" charset="0"/>
                <a:cs typeface="Microsoft Sans Serif" panose="020B0604020202020204" pitchFamily="34" charset="0"/>
              </a:rPr>
              <a:t> (PowerPoint file)</a:t>
            </a:r>
          </a:p>
          <a:p>
            <a:pPr marL="457200" lvl="1" indent="0"/>
            <a:r>
              <a:rPr lang="en-US" sz="5400" dirty="0" smtClean="0">
                <a:latin typeface="Microsoft Sans Serif" panose="020B0604020202020204" pitchFamily="34" charset="0"/>
                <a:cs typeface="Microsoft Sans Serif" panose="020B0604020202020204" pitchFamily="34" charset="0"/>
              </a:rPr>
              <a:t>b. Save </a:t>
            </a:r>
            <a:r>
              <a:rPr lang="en-US" sz="5400" dirty="0">
                <a:latin typeface="Microsoft Sans Serif" panose="020B0604020202020204" pitchFamily="34" charset="0"/>
                <a:cs typeface="Microsoft Sans Serif" panose="020B0604020202020204" pitchFamily="34" charset="0"/>
              </a:rPr>
              <a:t>As &gt; Adobe PDF</a:t>
            </a:r>
          </a:p>
          <a:p>
            <a:pPr marL="914400" lvl="2" indent="0"/>
            <a:r>
              <a:rPr lang="en-US" sz="5400" dirty="0" err="1" smtClean="0">
                <a:latin typeface="Microsoft Sans Serif" panose="020B0604020202020204" pitchFamily="34" charset="0"/>
                <a:cs typeface="Microsoft Sans Serif" panose="020B0604020202020204" pitchFamily="34" charset="0"/>
              </a:rPr>
              <a:t>i</a:t>
            </a:r>
            <a:r>
              <a:rPr lang="en-US" sz="5400" dirty="0" smtClean="0">
                <a:latin typeface="Microsoft Sans Serif" panose="020B0604020202020204" pitchFamily="34" charset="0"/>
                <a:cs typeface="Microsoft Sans Serif" panose="020B0604020202020204" pitchFamily="34" charset="0"/>
              </a:rPr>
              <a:t>. Saving </a:t>
            </a:r>
            <a:r>
              <a:rPr lang="en-US" sz="5400" dirty="0">
                <a:latin typeface="Microsoft Sans Serif" panose="020B0604020202020204" pitchFamily="34" charset="0"/>
                <a:cs typeface="Microsoft Sans Serif" panose="020B0604020202020204" pitchFamily="34" charset="0"/>
              </a:rPr>
              <a:t>as a PDF prevents you from making accidental changes later in time</a:t>
            </a:r>
          </a:p>
          <a:p>
            <a:endParaRPr lang="en-US" sz="5400" dirty="0"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24344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2937</TotalTime>
  <Words>164</Words>
  <Application>Microsoft Office PowerPoint</Application>
  <PresentationFormat>Custom</PresentationFormat>
  <Paragraphs>140</Paragraphs>
  <Slides>2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Office Theme</vt:lpstr>
      <vt:lpstr>PowerPoint Presentation</vt:lpstr>
      <vt:lpstr>PowerPoint Presentation</vt:lpstr>
    </vt:vector>
  </TitlesOfParts>
  <Company>St. Lawrence University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msch</dc:creator>
  <cp:lastModifiedBy>Mitchell Joseph</cp:lastModifiedBy>
  <cp:revision>32</cp:revision>
  <cp:lastPrinted>2018-02-28T18:04:31Z</cp:lastPrinted>
  <dcterms:created xsi:type="dcterms:W3CDTF">2008-11-17T16:35:40Z</dcterms:created>
  <dcterms:modified xsi:type="dcterms:W3CDTF">2018-04-16T17:20:15Z</dcterms:modified>
</cp:coreProperties>
</file>