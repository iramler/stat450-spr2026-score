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20" d="100"/>
          <a:sy n="20" d="100"/>
        </p:scale>
        <p:origin x="1532" y="16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9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3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2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1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6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1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4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2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4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88976-8AC5-45B1-92C8-DA5F0918D59E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2ECB4-0ABF-45B4-9DF9-E06F93A23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9144000" y="990600"/>
            <a:ext cx="25603200" cy="51821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134600" y="1219200"/>
            <a:ext cx="2369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 smtClean="0"/>
              <a:t>Profiling Character Viability Across</a:t>
            </a:r>
          </a:p>
          <a:p>
            <a:pPr algn="ctr"/>
            <a:r>
              <a:rPr lang="en-US" sz="8800" b="1" dirty="0" smtClean="0"/>
              <a:t>Player </a:t>
            </a:r>
            <a:r>
              <a:rPr lang="en-US" sz="8800" b="1" dirty="0"/>
              <a:t>Skill </a:t>
            </a:r>
            <a:r>
              <a:rPr lang="en-US" sz="8800" b="1" dirty="0" smtClean="0"/>
              <a:t>Levels </a:t>
            </a:r>
            <a:r>
              <a:rPr lang="en-US" sz="8800" b="1" dirty="0"/>
              <a:t>in </a:t>
            </a:r>
            <a:r>
              <a:rPr lang="en-US" sz="8800" b="1" dirty="0" smtClean="0"/>
              <a:t>Esports Games</a:t>
            </a:r>
          </a:p>
          <a:p>
            <a:pPr algn="ctr"/>
            <a:r>
              <a:rPr lang="en-US" sz="7200" dirty="0" smtClean="0"/>
              <a:t>Ivan </a:t>
            </a:r>
            <a:r>
              <a:rPr lang="en-US" sz="7200" dirty="0"/>
              <a:t>Ramler &amp; Choong-Soo Lee: St. Lawrence </a:t>
            </a:r>
            <a:r>
              <a:rPr lang="en-US" sz="7200" dirty="0" smtClean="0"/>
              <a:t>University</a:t>
            </a:r>
          </a:p>
          <a:p>
            <a:pPr algn="ctr"/>
            <a:r>
              <a:rPr lang="en-US" sz="7200" dirty="0" smtClean="0"/>
              <a:t>2019 Rocky Mountain Symposium on Analytics in Sports</a:t>
            </a:r>
            <a:endParaRPr lang="en-US" sz="7200" dirty="0"/>
          </a:p>
        </p:txBody>
      </p:sp>
      <p:pic>
        <p:nvPicPr>
          <p:cNvPr id="12" name="Picture 11" descr="Image result for heroes of the storm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787" y="2387116"/>
            <a:ext cx="4725013" cy="233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mage result for clash royale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3400" y="2064132"/>
            <a:ext cx="5280928" cy="266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iramler\Dropbox\Research\esports\esports_research\heroes_of_the_storm\winrates\rmsas2019\cr_qrcod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6900" y="22479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iramler\Dropbox\Research\esports\esports_research\heroes_of_the_storm\winrates\rmsas2019\hots_qrcod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/>
          <p:cNvSpPr/>
          <p:nvPr/>
        </p:nvSpPr>
        <p:spPr>
          <a:xfrm>
            <a:off x="1066800" y="6549823"/>
            <a:ext cx="13487400" cy="25603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544800" y="6549823"/>
            <a:ext cx="27279600" cy="12649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15392400" y="19688242"/>
            <a:ext cx="27279600" cy="12420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905000" y="7235623"/>
            <a:ext cx="11887200" cy="2540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7200" b="1" u="sng" dirty="0">
                <a:solidFill>
                  <a:prstClr val="black"/>
                </a:solidFill>
              </a:rPr>
              <a:t>Research Goals</a:t>
            </a:r>
          </a:p>
          <a:p>
            <a:pPr marL="742950" lvl="0" indent="-742950">
              <a:buFont typeface="+mj-lt"/>
              <a:buAutoNum type="alphaLcParenR"/>
            </a:pPr>
            <a:r>
              <a:rPr lang="en-US" sz="4400" dirty="0">
                <a:solidFill>
                  <a:prstClr val="black"/>
                </a:solidFill>
              </a:rPr>
              <a:t>Investigate </a:t>
            </a:r>
            <a:r>
              <a:rPr lang="en-US" sz="4400" dirty="0" smtClean="0">
                <a:solidFill>
                  <a:prstClr val="black"/>
                </a:solidFill>
              </a:rPr>
              <a:t>win rate profiles across skill levels for </a:t>
            </a:r>
            <a:r>
              <a:rPr lang="en-US" sz="4400" dirty="0">
                <a:solidFill>
                  <a:prstClr val="black"/>
                </a:solidFill>
              </a:rPr>
              <a:t>heroes in </a:t>
            </a:r>
            <a:r>
              <a:rPr lang="en-US" sz="4400" i="1" dirty="0">
                <a:solidFill>
                  <a:prstClr val="black"/>
                </a:solidFill>
              </a:rPr>
              <a:t>Heroes of the Storm </a:t>
            </a:r>
            <a:r>
              <a:rPr lang="en-US" sz="4400" dirty="0">
                <a:solidFill>
                  <a:prstClr val="black"/>
                </a:solidFill>
              </a:rPr>
              <a:t>and cards in </a:t>
            </a:r>
            <a:r>
              <a:rPr lang="en-US" sz="4400" i="1" dirty="0">
                <a:solidFill>
                  <a:prstClr val="black"/>
                </a:solidFill>
              </a:rPr>
              <a:t>Clash </a:t>
            </a:r>
            <a:r>
              <a:rPr lang="en-US" sz="4400" i="1" dirty="0" smtClean="0">
                <a:solidFill>
                  <a:prstClr val="black"/>
                </a:solidFill>
              </a:rPr>
              <a:t>Royale</a:t>
            </a:r>
            <a:endParaRPr lang="en-US" sz="4400" dirty="0">
              <a:solidFill>
                <a:prstClr val="black"/>
              </a:solidFill>
            </a:endParaRPr>
          </a:p>
          <a:p>
            <a:pPr marL="742950" lvl="0" indent="-742950">
              <a:buFont typeface="+mj-lt"/>
              <a:buAutoNum type="alphaLcParenR" startAt="2"/>
            </a:pPr>
            <a:r>
              <a:rPr lang="en-US" sz="4400" dirty="0">
                <a:solidFill>
                  <a:prstClr val="black"/>
                </a:solidFill>
              </a:rPr>
              <a:t>Use cluster analysis to identify heroes/cards with similar performance rates across skill </a:t>
            </a:r>
            <a:r>
              <a:rPr lang="en-US" sz="4400" dirty="0" smtClean="0">
                <a:solidFill>
                  <a:prstClr val="black"/>
                </a:solidFill>
              </a:rPr>
              <a:t>levels</a:t>
            </a:r>
          </a:p>
          <a:p>
            <a:pPr marL="742950" lvl="0" indent="-742950">
              <a:buFont typeface="+mj-lt"/>
              <a:buAutoNum type="alphaLcParenR" startAt="2"/>
            </a:pPr>
            <a:r>
              <a:rPr lang="en-US" sz="4400" dirty="0" smtClean="0">
                <a:solidFill>
                  <a:prstClr val="black"/>
                </a:solidFill>
              </a:rPr>
              <a:t>Develop </a:t>
            </a:r>
            <a:r>
              <a:rPr lang="en-US" sz="4400" dirty="0" err="1" smtClean="0">
                <a:solidFill>
                  <a:prstClr val="black"/>
                </a:solidFill>
              </a:rPr>
              <a:t>webapps</a:t>
            </a:r>
            <a:r>
              <a:rPr lang="en-US" sz="4400" dirty="0" smtClean="0">
                <a:solidFill>
                  <a:prstClr val="black"/>
                </a:solidFill>
              </a:rPr>
              <a:t> to allow players to investigate characters of interest</a:t>
            </a:r>
            <a:endParaRPr lang="en-US" sz="4400" dirty="0">
              <a:solidFill>
                <a:prstClr val="black"/>
              </a:solidFill>
            </a:endParaRPr>
          </a:p>
          <a:p>
            <a:pPr marL="1371600" indent="-1371600">
              <a:buAutoNum type="arabicPeriod"/>
            </a:pPr>
            <a:endParaRPr lang="en-US" sz="4400" b="1" dirty="0" smtClean="0"/>
          </a:p>
          <a:p>
            <a:r>
              <a:rPr lang="en-US" sz="7200" b="1" u="sng" dirty="0" smtClean="0"/>
              <a:t>Background</a:t>
            </a:r>
          </a:p>
          <a:p>
            <a:r>
              <a:rPr lang="en-US" sz="4400" b="1" dirty="0" smtClean="0"/>
              <a:t>Electronic sport</a:t>
            </a:r>
            <a:r>
              <a:rPr lang="en-US" sz="4400" b="1" dirty="0"/>
              <a:t>: </a:t>
            </a:r>
            <a:r>
              <a:rPr lang="en-US" sz="4400" dirty="0"/>
              <a:t>An </a:t>
            </a:r>
            <a:r>
              <a:rPr lang="en-US" sz="4400" b="1" dirty="0" err="1"/>
              <a:t>esport</a:t>
            </a:r>
            <a:r>
              <a:rPr lang="en-US" sz="4400" dirty="0"/>
              <a:t> is a competition with a set of rules for determining the winner, requiring physical prowess and skill to move the </a:t>
            </a:r>
            <a:r>
              <a:rPr lang="en-US" sz="4400" b="1" dirty="0"/>
              <a:t>virtual</a:t>
            </a:r>
            <a:r>
              <a:rPr lang="en-US" sz="4400" dirty="0"/>
              <a:t> competitor and/or a </a:t>
            </a:r>
            <a:r>
              <a:rPr lang="en-US" sz="4400" b="1" dirty="0"/>
              <a:t>virtual</a:t>
            </a:r>
            <a:r>
              <a:rPr lang="en-US" sz="4400" dirty="0"/>
              <a:t> object as required by the rules.</a:t>
            </a:r>
          </a:p>
          <a:p>
            <a:endParaRPr lang="en-US" sz="3200" dirty="0" smtClean="0"/>
          </a:p>
          <a:p>
            <a:r>
              <a:rPr lang="en-US" sz="4400" b="1" dirty="0"/>
              <a:t>Real Time Strategy (RTS): </a:t>
            </a:r>
            <a:r>
              <a:rPr lang="en-US" sz="4400" dirty="0"/>
              <a:t>A </a:t>
            </a:r>
            <a:r>
              <a:rPr lang="en-US" sz="4400" dirty="0" smtClean="0"/>
              <a:t>genre </a:t>
            </a:r>
            <a:r>
              <a:rPr lang="en-US" sz="4400" dirty="0"/>
              <a:t>of </a:t>
            </a:r>
            <a:r>
              <a:rPr lang="en-US" sz="4400" dirty="0" smtClean="0"/>
              <a:t>video </a:t>
            </a:r>
            <a:r>
              <a:rPr lang="en-US" sz="4400" dirty="0"/>
              <a:t>games in which the game does not progress incrementally in </a:t>
            </a:r>
            <a:r>
              <a:rPr lang="en-US" sz="4400" dirty="0" smtClean="0"/>
              <a:t>turns. Notable games include </a:t>
            </a:r>
            <a:r>
              <a:rPr lang="en-US" sz="4400" i="1" dirty="0" err="1" smtClean="0"/>
              <a:t>Starcraft</a:t>
            </a:r>
            <a:r>
              <a:rPr lang="en-US" sz="4400" i="1" dirty="0" smtClean="0"/>
              <a:t>, Warcraft,</a:t>
            </a:r>
            <a:r>
              <a:rPr lang="en-US" sz="4400" dirty="0" smtClean="0"/>
              <a:t> and </a:t>
            </a:r>
            <a:r>
              <a:rPr lang="en-US" sz="4400" i="1" dirty="0" smtClean="0"/>
              <a:t>Clash Royale.</a:t>
            </a:r>
            <a:endParaRPr lang="en-US" sz="4400" b="1" dirty="0"/>
          </a:p>
          <a:p>
            <a:endParaRPr lang="en-US" sz="3200" b="1" dirty="0" smtClean="0"/>
          </a:p>
          <a:p>
            <a:r>
              <a:rPr lang="en-US" sz="4400" b="1" dirty="0" smtClean="0"/>
              <a:t>Multiplayer Online Battle Arena (</a:t>
            </a:r>
            <a:r>
              <a:rPr lang="en-US" sz="4400" b="1" dirty="0"/>
              <a:t>MOBA</a:t>
            </a:r>
            <a:r>
              <a:rPr lang="en-US" sz="4400" b="1" dirty="0" smtClean="0"/>
              <a:t>):</a:t>
            </a:r>
            <a:r>
              <a:rPr lang="en-US" sz="4400" dirty="0" smtClean="0"/>
              <a:t> A </a:t>
            </a:r>
            <a:r>
              <a:rPr lang="en-US" sz="4400" dirty="0"/>
              <a:t>popular esports genres both casually and professionally. Notable games include </a:t>
            </a:r>
            <a:r>
              <a:rPr lang="en-US" sz="4400" i="1" dirty="0"/>
              <a:t>League of Legends, DOTA2, Heroes of the Storm, </a:t>
            </a:r>
            <a:r>
              <a:rPr lang="en-US" sz="4400" dirty="0"/>
              <a:t>and</a:t>
            </a:r>
            <a:r>
              <a:rPr lang="en-US" sz="4400" i="1" dirty="0"/>
              <a:t> Smite.</a:t>
            </a:r>
          </a:p>
          <a:p>
            <a:endParaRPr lang="en-US" sz="3200" b="1" dirty="0"/>
          </a:p>
          <a:p>
            <a:r>
              <a:rPr lang="en-US" sz="4400" b="1" dirty="0" smtClean="0"/>
              <a:t>Skill </a:t>
            </a:r>
            <a:r>
              <a:rPr lang="en-US" sz="4400" b="1" dirty="0"/>
              <a:t>Level Score: </a:t>
            </a:r>
            <a:r>
              <a:rPr lang="en-US" sz="4400" dirty="0"/>
              <a:t>Internal </a:t>
            </a:r>
            <a:r>
              <a:rPr lang="en-US" sz="4400" dirty="0" err="1"/>
              <a:t>Elo</a:t>
            </a:r>
            <a:r>
              <a:rPr lang="en-US" sz="4400" dirty="0"/>
              <a:t> based metric used to match similarly skills players with each </a:t>
            </a:r>
            <a:r>
              <a:rPr lang="en-US" sz="4400" dirty="0" smtClean="0"/>
              <a:t>other. e.g., </a:t>
            </a:r>
            <a:r>
              <a:rPr lang="en-US" sz="4400" i="1" dirty="0" smtClean="0"/>
              <a:t>Heroes of the Storm </a:t>
            </a:r>
            <a:r>
              <a:rPr lang="en-US" sz="4400" dirty="0" smtClean="0"/>
              <a:t>uses “Matchmaking Rating (MMR)” and </a:t>
            </a:r>
            <a:r>
              <a:rPr lang="en-US" sz="4400" i="1" dirty="0" smtClean="0"/>
              <a:t>Clash Royale</a:t>
            </a:r>
            <a:r>
              <a:rPr lang="en-US" sz="4400" dirty="0" smtClean="0"/>
              <a:t> uses “Trophies”.</a:t>
            </a:r>
            <a:endParaRPr lang="en-US" sz="4400" dirty="0"/>
          </a:p>
          <a:p>
            <a:endParaRPr lang="en-US" sz="3200" b="1" dirty="0" smtClean="0"/>
          </a:p>
          <a:p>
            <a:r>
              <a:rPr lang="en-US" sz="4400" b="1" dirty="0" smtClean="0"/>
              <a:t>Skill Floor</a:t>
            </a:r>
            <a:r>
              <a:rPr lang="en-US" sz="4400" dirty="0" smtClean="0"/>
              <a:t>: a </a:t>
            </a:r>
            <a:r>
              <a:rPr lang="en-US" sz="4400" dirty="0"/>
              <a:t>way of describing how difficult it is to begin the process of </a:t>
            </a:r>
            <a:r>
              <a:rPr lang="en-US" sz="4400" dirty="0" smtClean="0"/>
              <a:t>mastering a character</a:t>
            </a:r>
          </a:p>
          <a:p>
            <a:endParaRPr lang="en-US" sz="3200" b="1" dirty="0"/>
          </a:p>
          <a:p>
            <a:r>
              <a:rPr lang="en-US" sz="4400" b="1" dirty="0" smtClean="0"/>
              <a:t>Skill Ceiling</a:t>
            </a:r>
            <a:r>
              <a:rPr lang="en-US" sz="4400" b="1" dirty="0"/>
              <a:t>: </a:t>
            </a:r>
            <a:r>
              <a:rPr lang="en-US" sz="4400" dirty="0"/>
              <a:t>the level of play that’s possible with training and </a:t>
            </a:r>
            <a:r>
              <a:rPr lang="en-US" sz="4400" dirty="0" smtClean="0"/>
              <a:t>mastery</a:t>
            </a: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16306799" y="7235624"/>
            <a:ext cx="16357997" cy="1203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 smtClean="0"/>
              <a:t>Heroes of the Storm</a:t>
            </a:r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MOBA game released by Blizzard Entertainment in 2015</a:t>
            </a:r>
          </a:p>
          <a:p>
            <a:pPr marL="2187575" lvl="1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Similar games include </a:t>
            </a:r>
            <a:r>
              <a:rPr lang="en-US" sz="4400" i="1" dirty="0" smtClean="0"/>
              <a:t>League of Legends</a:t>
            </a:r>
            <a:r>
              <a:rPr lang="en-US" sz="4400" dirty="0" smtClean="0"/>
              <a:t> and </a:t>
            </a:r>
            <a:r>
              <a:rPr lang="en-US" sz="4400" i="1" dirty="0" smtClean="0"/>
              <a:t>DOTA2</a:t>
            </a:r>
            <a:endParaRPr lang="en-US" sz="4400" dirty="0" smtClean="0"/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Data on over 1,000,000 matches collected from HOTS Logs API (a popular </a:t>
            </a:r>
            <a:r>
              <a:rPr lang="en-US" sz="4400" dirty="0" err="1" smtClean="0"/>
              <a:t>fansite</a:t>
            </a:r>
            <a:r>
              <a:rPr lang="en-US" sz="4400" dirty="0" smtClean="0"/>
              <a:t>)</a:t>
            </a:r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Investigate win-rates across Matchmaking Rating (MMR) for each of the 84 available heroes. </a:t>
            </a:r>
          </a:p>
          <a:p>
            <a:pPr marL="2286000" lvl="1" indent="-849313">
              <a:buFont typeface="Arial" panose="020B0604020202020204" pitchFamily="34" charset="0"/>
              <a:buChar char="•"/>
            </a:pPr>
            <a:r>
              <a:rPr lang="en-US" sz="4400" dirty="0" smtClean="0"/>
              <a:t>Figure 1 shows an example of </a:t>
            </a:r>
            <a:r>
              <a:rPr lang="en-US" sz="4400" dirty="0" err="1" smtClean="0"/>
              <a:t>Maiev</a:t>
            </a:r>
            <a:r>
              <a:rPr lang="en-US" sz="4400" dirty="0" smtClean="0"/>
              <a:t>, a hero with a high skill floor and high skill ceiling</a:t>
            </a:r>
          </a:p>
          <a:p>
            <a:pPr marL="2286000" lvl="1" indent="-849313">
              <a:buFont typeface="Arial" panose="020B0604020202020204" pitchFamily="34" charset="0"/>
              <a:buChar char="•"/>
            </a:pPr>
            <a:r>
              <a:rPr lang="en-US" sz="4400" dirty="0" smtClean="0"/>
              <a:t>Profiles for all </a:t>
            </a:r>
            <a:r>
              <a:rPr lang="en-US" sz="4400" dirty="0" smtClean="0"/>
              <a:t>84 </a:t>
            </a:r>
            <a:r>
              <a:rPr lang="en-US" sz="4400" dirty="0" smtClean="0"/>
              <a:t>heroes available </a:t>
            </a:r>
            <a:r>
              <a:rPr lang="en-US" sz="4400" dirty="0"/>
              <a:t>at https://bit.ly/2XPhAN8 </a:t>
            </a:r>
            <a:endParaRPr lang="en-US" sz="4400" dirty="0" smtClean="0"/>
          </a:p>
          <a:p>
            <a:pPr marL="3200400" lvl="2" indent="-849313">
              <a:buFont typeface="Calibri" panose="020F0502020204030204" pitchFamily="34" charset="0"/>
              <a:buChar char="‐"/>
            </a:pPr>
            <a:r>
              <a:rPr lang="en-US" sz="4400" dirty="0" smtClean="0"/>
              <a:t>QR Code in top left corner</a:t>
            </a:r>
          </a:p>
          <a:p>
            <a:pPr marL="1371600" indent="-906463">
              <a:buFont typeface="Arial" panose="020B0604020202020204" pitchFamily="34" charset="0"/>
              <a:buChar char="•"/>
            </a:pPr>
            <a:r>
              <a:rPr lang="en-US" sz="4400" dirty="0" smtClean="0"/>
              <a:t>Figure 2 displays the three clusters identified using k-means</a:t>
            </a:r>
          </a:p>
          <a:p>
            <a:pPr marL="2293938" lvl="1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Low Skill Floor/Ceiling (left most) show little change in win rates across MMR (“easy to learn heroes”)</a:t>
            </a:r>
          </a:p>
          <a:p>
            <a:pPr marL="2293938" lvl="1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High Skill Floor/Ceiling (center) have poor win rates early and high rates for skilled players (“difficult to master heroes”)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 smtClean="0"/>
          </a:p>
        </p:txBody>
      </p:sp>
      <p:pic>
        <p:nvPicPr>
          <p:cNvPr id="23" name="Picture 22"/>
          <p:cNvPicPr/>
          <p:nvPr/>
        </p:nvPicPr>
        <p:blipFill>
          <a:blip r:embed="rId6"/>
          <a:stretch>
            <a:fillRect/>
          </a:stretch>
        </p:blipFill>
        <p:spPr>
          <a:xfrm>
            <a:off x="32969597" y="13643239"/>
            <a:ext cx="8717987" cy="3286037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7"/>
          <a:stretch>
            <a:fillRect/>
          </a:stretch>
        </p:blipFill>
        <p:spPr>
          <a:xfrm>
            <a:off x="32969596" y="8471130"/>
            <a:ext cx="8726061" cy="33846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147000" y="11855784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Figure 1: Scatterplot of Win rate vs. MMR for </a:t>
            </a:r>
            <a:r>
              <a:rPr lang="en-US" sz="4000" b="1" dirty="0" err="1"/>
              <a:t>Maiev</a:t>
            </a:r>
            <a:r>
              <a:rPr lang="en-US" sz="4000" b="1" dirty="0" smtClean="0"/>
              <a:t>.</a:t>
            </a:r>
            <a:endParaRPr lang="en-US" sz="4000" dirty="0"/>
          </a:p>
        </p:txBody>
      </p:sp>
      <p:sp>
        <p:nvSpPr>
          <p:cNvPr id="26" name="TextBox 25"/>
          <p:cNvSpPr txBox="1"/>
          <p:nvPr/>
        </p:nvSpPr>
        <p:spPr>
          <a:xfrm>
            <a:off x="33147000" y="17492947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Figure 2: Three </a:t>
            </a:r>
            <a:r>
              <a:rPr lang="en-US" sz="4000" b="1" dirty="0" smtClean="0"/>
              <a:t>shapes </a:t>
            </a:r>
            <a:r>
              <a:rPr lang="en-US" sz="4000" b="1" dirty="0"/>
              <a:t>i</a:t>
            </a:r>
            <a:r>
              <a:rPr lang="en-US" sz="4000" b="1" dirty="0" smtClean="0"/>
              <a:t>dentified </a:t>
            </a:r>
            <a:r>
              <a:rPr lang="en-US" sz="4000" b="1" dirty="0"/>
              <a:t>by the </a:t>
            </a:r>
            <a:r>
              <a:rPr lang="en-US" sz="4000" b="1" dirty="0" smtClean="0"/>
              <a:t>k-means clustering </a:t>
            </a:r>
            <a:r>
              <a:rPr lang="en-US" sz="4000" b="1" dirty="0"/>
              <a:t>a</a:t>
            </a:r>
            <a:r>
              <a:rPr lang="en-US" sz="4000" b="1" dirty="0" smtClean="0"/>
              <a:t>lgorithm</a:t>
            </a:r>
            <a:r>
              <a:rPr lang="en-US" sz="4000" b="1" dirty="0"/>
              <a:t>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6306800" y="20265823"/>
            <a:ext cx="16357997" cy="1135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 smtClean="0"/>
              <a:t>Clash Royale</a:t>
            </a:r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Released </a:t>
            </a:r>
            <a:r>
              <a:rPr lang="en-US" sz="4400" dirty="0"/>
              <a:t>by </a:t>
            </a:r>
            <a:r>
              <a:rPr lang="en-US" sz="4400" dirty="0" err="1" smtClean="0"/>
              <a:t>SuperCell</a:t>
            </a:r>
            <a:r>
              <a:rPr lang="en-US" sz="4400" dirty="0"/>
              <a:t> in </a:t>
            </a:r>
            <a:r>
              <a:rPr lang="en-US" sz="4400" dirty="0" smtClean="0"/>
              <a:t>2016 – RTS that combines elements from collectible card games, tower defense, and MOBAs</a:t>
            </a:r>
          </a:p>
          <a:p>
            <a:pPr marL="2286000" lvl="1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Players build decks of 8 cards</a:t>
            </a:r>
          </a:p>
          <a:p>
            <a:pPr marL="2286000" lvl="1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Winner of the 2016 Google Play “Best Game Award”</a:t>
            </a:r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Data on over 30 million matches collected from Clash Royale API</a:t>
            </a:r>
          </a:p>
          <a:p>
            <a:pPr marL="1371600" indent="-914400">
              <a:buFont typeface="Arial" panose="020B0604020202020204" pitchFamily="34" charset="0"/>
              <a:buChar char="•"/>
            </a:pPr>
            <a:r>
              <a:rPr lang="en-US" sz="4400" dirty="0" smtClean="0"/>
              <a:t>Investigate </a:t>
            </a:r>
            <a:r>
              <a:rPr lang="en-US" sz="4400" dirty="0"/>
              <a:t>w</a:t>
            </a:r>
            <a:r>
              <a:rPr lang="en-US" sz="4400" dirty="0" smtClean="0"/>
              <a:t>in-rates across Trophies for each of the available cards (excluding those released after June 30)</a:t>
            </a:r>
          </a:p>
          <a:p>
            <a:pPr marL="2286000" lvl="1" indent="-849313">
              <a:buFont typeface="Arial" panose="020B0604020202020204" pitchFamily="34" charset="0"/>
              <a:buChar char="•"/>
            </a:pPr>
            <a:r>
              <a:rPr lang="en-US" sz="4400" dirty="0" smtClean="0"/>
              <a:t>Figure 3 shows an example of three cards with varying profiles</a:t>
            </a:r>
          </a:p>
          <a:p>
            <a:pPr marL="2286000" lvl="1" indent="-849313">
              <a:buFont typeface="Arial" panose="020B0604020202020204" pitchFamily="34" charset="0"/>
              <a:buChar char="•"/>
            </a:pPr>
            <a:r>
              <a:rPr lang="en-US" sz="4400" dirty="0" smtClean="0"/>
              <a:t>Profiles for all  cards (released prior to June 30, 2019) available </a:t>
            </a:r>
            <a:r>
              <a:rPr lang="en-US" sz="4400" dirty="0"/>
              <a:t>at https://</a:t>
            </a:r>
            <a:r>
              <a:rPr lang="en-US" sz="4400" dirty="0" smtClean="0"/>
              <a:t>bit.ly/2FTA9Wk (QR Code in top right)</a:t>
            </a:r>
          </a:p>
          <a:p>
            <a:pPr marL="1371600" indent="-906463">
              <a:buFont typeface="Arial" panose="020B0604020202020204" pitchFamily="34" charset="0"/>
              <a:buChar char="•"/>
            </a:pPr>
            <a:r>
              <a:rPr lang="en-US" sz="4400" dirty="0" smtClean="0"/>
              <a:t>Figure 4 displays the three clusters identified using k-means</a:t>
            </a:r>
          </a:p>
          <a:p>
            <a:pPr marL="2293938" lvl="1" indent="-914400">
              <a:buFont typeface="Arial" panose="020B0604020202020204" pitchFamily="34" charset="0"/>
              <a:buChar char="•"/>
            </a:pPr>
            <a:r>
              <a:rPr lang="en-US" sz="4400" dirty="0" err="1" smtClean="0"/>
              <a:t>Webapp</a:t>
            </a:r>
            <a:r>
              <a:rPr lang="en-US" sz="4400" dirty="0" smtClean="0"/>
              <a:t>  (powered by Shiny and </a:t>
            </a:r>
            <a:r>
              <a:rPr lang="en-US" sz="4400" dirty="0" err="1" smtClean="0"/>
              <a:t>Plotly</a:t>
            </a:r>
            <a:r>
              <a:rPr lang="en-US" sz="4400" dirty="0" smtClean="0"/>
              <a:t>) allows user to change number of clusters (for a given range of trophies)  and see list of cards within each 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47001" y="24841200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Figure </a:t>
            </a:r>
            <a:r>
              <a:rPr lang="en-US" sz="4000" b="1" dirty="0" smtClean="0"/>
              <a:t>3: </a:t>
            </a:r>
            <a:r>
              <a:rPr lang="en-US" sz="4000" b="1" dirty="0" err="1" smtClean="0"/>
              <a:t>Winrates</a:t>
            </a:r>
            <a:r>
              <a:rPr lang="en-US" sz="4000" b="1" dirty="0" smtClean="0"/>
              <a:t> across trophies for Guards, Magic Archer, and Royal Giant</a:t>
            </a:r>
            <a:endParaRPr lang="en-US"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33147001" y="30523146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Figure 4</a:t>
            </a:r>
            <a:r>
              <a:rPr lang="en-US" sz="4000" b="1" dirty="0" smtClean="0"/>
              <a:t>: </a:t>
            </a:r>
            <a:r>
              <a:rPr lang="en-US" sz="4000" b="1" dirty="0"/>
              <a:t>Three shapes identified by the k-means clustering algorithm.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0" y="21482304"/>
            <a:ext cx="8715557" cy="3282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99" y="27051000"/>
            <a:ext cx="8715557" cy="328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7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582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St. Lawrence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Ramler</dc:creator>
  <cp:lastModifiedBy>Ivan Ramler</cp:lastModifiedBy>
  <cp:revision>36</cp:revision>
  <dcterms:created xsi:type="dcterms:W3CDTF">2019-07-02T19:56:22Z</dcterms:created>
  <dcterms:modified xsi:type="dcterms:W3CDTF">2019-07-31T15:22:32Z</dcterms:modified>
</cp:coreProperties>
</file>