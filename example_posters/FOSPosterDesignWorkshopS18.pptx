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69" r:id="rId5"/>
    <p:sldId id="270" r:id="rId6"/>
    <p:sldId id="272" r:id="rId7"/>
    <p:sldId id="258" r:id="rId8"/>
    <p:sldId id="268" r:id="rId9"/>
    <p:sldId id="273" r:id="rId10"/>
    <p:sldId id="259" r:id="rId11"/>
    <p:sldId id="260" r:id="rId12"/>
    <p:sldId id="274" r:id="rId13"/>
    <p:sldId id="261" r:id="rId14"/>
    <p:sldId id="276" r:id="rId15"/>
    <p:sldId id="271" r:id="rId16"/>
    <p:sldId id="262" r:id="rId17"/>
    <p:sldId id="264" r:id="rId18"/>
    <p:sldId id="284" r:id="rId19"/>
    <p:sldId id="280" r:id="rId20"/>
    <p:sldId id="279" r:id="rId21"/>
    <p:sldId id="283" r:id="rId22"/>
    <p:sldId id="263" r:id="rId2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B2B2B2"/>
    <a:srgbClr val="00CC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96" autoAdjust="0"/>
    <p:restoredTop sz="86380" autoAdjust="0"/>
  </p:normalViewPr>
  <p:slideViewPr>
    <p:cSldViewPr>
      <p:cViewPr varScale="1">
        <p:scale>
          <a:sx n="99" d="100"/>
          <a:sy n="99" d="100"/>
        </p:scale>
        <p:origin x="156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DA4C89AB-9C1C-41AE-B344-45162FBB29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7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173157D-E2DD-40C4-B1FA-E45420D739B9}" type="datetimeFigureOut">
              <a:rPr lang="en-US"/>
              <a:pPr>
                <a:defRPr/>
              </a:pPr>
              <a:t>11/14/2023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27636CC-8F5C-41AE-A5A3-E68C5110B9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554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F1319-6A4E-4286-93CD-3C10805A420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>
              <a:defRPr/>
            </a:pPr>
            <a:fld id="{9D892B8A-9B8F-4D47-BD1A-86F672768C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pPr>
              <a:defRPr/>
            </a:pPr>
            <a:fld id="{C227B7C2-2F2A-42AD-A15C-FAAFBBDCB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CF6D00-7B8C-4785-9090-8406D4CDC2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AA6D9C-D10D-4975-AC0F-BE5574AE26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pPr>
              <a:defRPr/>
            </a:pPr>
            <a:fld id="{54B44C69-0950-4381-94EA-F1EAC7EF429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EDD999-3818-449F-BD8D-AAB37D9E38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116BD0-79E8-45C8-9698-AB89C8F2401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1C08E2-B1EB-4D3B-AA1E-A56957B50B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5607F1-9FB0-4FFD-BDEE-AA929DBB0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1F2A88-122B-454E-8D9A-EFBF2C2301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6EACA-1971-49BB-8AE1-87DC3C5784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A47AF-6BEE-4606-A186-676808D98D2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FEE87-97ED-4BBE-8805-B4B3E379F5C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48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BD01D-E748-4169-9C96-47A3912EEF8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A16BC-9FFB-41AC-832A-8FBD75C680B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484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2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0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98E7-2071-4158-AFAB-7788EA89380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74F78-7EE9-446A-ADCC-0584F534BED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806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5B7F1-B349-4D4A-810B-00B49537915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DE67F-9407-4542-8674-FB322A2DA1F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655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7" indent="0">
              <a:buNone/>
              <a:defRPr sz="2000" b="1"/>
            </a:lvl2pPr>
            <a:lvl3pPr marL="914254" indent="0">
              <a:buNone/>
              <a:defRPr sz="1800" b="1"/>
            </a:lvl3pPr>
            <a:lvl4pPr marL="1371381" indent="0">
              <a:buNone/>
              <a:defRPr sz="1600" b="1"/>
            </a:lvl4pPr>
            <a:lvl5pPr marL="1828507" indent="0">
              <a:buNone/>
              <a:defRPr sz="1600" b="1"/>
            </a:lvl5pPr>
            <a:lvl6pPr marL="2285634" indent="0">
              <a:buNone/>
              <a:defRPr sz="1600" b="1"/>
            </a:lvl6pPr>
            <a:lvl7pPr marL="2742761" indent="0">
              <a:buNone/>
              <a:defRPr sz="1600" b="1"/>
            </a:lvl7pPr>
            <a:lvl8pPr marL="3199888" indent="0">
              <a:buNone/>
              <a:defRPr sz="1600" b="1"/>
            </a:lvl8pPr>
            <a:lvl9pPr marL="3657015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7" indent="0">
              <a:buNone/>
              <a:defRPr sz="2000" b="1"/>
            </a:lvl2pPr>
            <a:lvl3pPr marL="914254" indent="0">
              <a:buNone/>
              <a:defRPr sz="1800" b="1"/>
            </a:lvl3pPr>
            <a:lvl4pPr marL="1371381" indent="0">
              <a:buNone/>
              <a:defRPr sz="1600" b="1"/>
            </a:lvl4pPr>
            <a:lvl5pPr marL="1828507" indent="0">
              <a:buNone/>
              <a:defRPr sz="1600" b="1"/>
            </a:lvl5pPr>
            <a:lvl6pPr marL="2285634" indent="0">
              <a:buNone/>
              <a:defRPr sz="1600" b="1"/>
            </a:lvl6pPr>
            <a:lvl7pPr marL="2742761" indent="0">
              <a:buNone/>
              <a:defRPr sz="1600" b="1"/>
            </a:lvl7pPr>
            <a:lvl8pPr marL="3199888" indent="0">
              <a:buNone/>
              <a:defRPr sz="1600" b="1"/>
            </a:lvl8pPr>
            <a:lvl9pPr marL="3657015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0C9-3073-4D0D-8FD4-51F80C362D5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183B3-16D3-4923-B372-363E3CC0024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799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C4105-FE34-4BDC-BA66-4DD46F2AC83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6F18B-2058-44DA-8DE4-840F1B142A6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354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6CA94-3C38-429A-8498-C431CB4A6D3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7CA18-3681-49F3-A5F4-FBE87E704F6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683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27" indent="0">
              <a:buNone/>
              <a:defRPr sz="1200"/>
            </a:lvl2pPr>
            <a:lvl3pPr marL="914254" indent="0">
              <a:buNone/>
              <a:defRPr sz="1000"/>
            </a:lvl3pPr>
            <a:lvl4pPr marL="1371381" indent="0">
              <a:buNone/>
              <a:defRPr sz="900"/>
            </a:lvl4pPr>
            <a:lvl5pPr marL="1828507" indent="0">
              <a:buNone/>
              <a:defRPr sz="900"/>
            </a:lvl5pPr>
            <a:lvl6pPr marL="2285634" indent="0">
              <a:buNone/>
              <a:defRPr sz="900"/>
            </a:lvl6pPr>
            <a:lvl7pPr marL="2742761" indent="0">
              <a:buNone/>
              <a:defRPr sz="900"/>
            </a:lvl7pPr>
            <a:lvl8pPr marL="3199888" indent="0">
              <a:buNone/>
              <a:defRPr sz="900"/>
            </a:lvl8pPr>
            <a:lvl9pPr marL="3657015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424E01-6A96-47AE-A1CB-606607E92A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05AB1-D1F8-4072-A02B-EED7D167472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4950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27" indent="0">
              <a:buNone/>
              <a:defRPr sz="2800"/>
            </a:lvl2pPr>
            <a:lvl3pPr marL="914254" indent="0">
              <a:buNone/>
              <a:defRPr sz="2400"/>
            </a:lvl3pPr>
            <a:lvl4pPr marL="1371381" indent="0">
              <a:buNone/>
              <a:defRPr sz="2000"/>
            </a:lvl4pPr>
            <a:lvl5pPr marL="1828507" indent="0">
              <a:buNone/>
              <a:defRPr sz="2000"/>
            </a:lvl5pPr>
            <a:lvl6pPr marL="2285634" indent="0">
              <a:buNone/>
              <a:defRPr sz="2000"/>
            </a:lvl6pPr>
            <a:lvl7pPr marL="2742761" indent="0">
              <a:buNone/>
              <a:defRPr sz="2000"/>
            </a:lvl7pPr>
            <a:lvl8pPr marL="3199888" indent="0">
              <a:buNone/>
              <a:defRPr sz="2000"/>
            </a:lvl8pPr>
            <a:lvl9pPr marL="3657015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27" indent="0">
              <a:buNone/>
              <a:defRPr sz="1200"/>
            </a:lvl2pPr>
            <a:lvl3pPr marL="914254" indent="0">
              <a:buNone/>
              <a:defRPr sz="1000"/>
            </a:lvl3pPr>
            <a:lvl4pPr marL="1371381" indent="0">
              <a:buNone/>
              <a:defRPr sz="900"/>
            </a:lvl4pPr>
            <a:lvl5pPr marL="1828507" indent="0">
              <a:buNone/>
              <a:defRPr sz="900"/>
            </a:lvl5pPr>
            <a:lvl6pPr marL="2285634" indent="0">
              <a:buNone/>
              <a:defRPr sz="900"/>
            </a:lvl6pPr>
            <a:lvl7pPr marL="2742761" indent="0">
              <a:buNone/>
              <a:defRPr sz="900"/>
            </a:lvl7pPr>
            <a:lvl8pPr marL="3199888" indent="0">
              <a:buNone/>
              <a:defRPr sz="900"/>
            </a:lvl8pPr>
            <a:lvl9pPr marL="3657015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9F96F-9D9B-4D5F-9958-65EF2233223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BE3D6-63AD-4CD3-AA37-1EE4730BCA7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772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CD596-8B52-4917-8C8F-B468C50EE9B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14E80-F793-4170-BF3D-F89DFC35F9F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196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38F02-64E0-4C2A-A0E1-942AB5F3F32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92377-7D2E-48E2-B7E8-0B476E26C4B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4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19136D8A-932A-4FC4-8F5D-A9481B3BD9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068" y="274505"/>
            <a:ext cx="822986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45713" rIns="91425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068" y="1600068"/>
            <a:ext cx="8229865" cy="4526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068" y="6356284"/>
            <a:ext cx="2133865" cy="365125"/>
          </a:xfrm>
          <a:prstGeom prst="rect">
            <a:avLst/>
          </a:prstGeom>
        </p:spPr>
        <p:txBody>
          <a:bodyPr vert="horz" lIns="91425" tIns="45713" rIns="91425" bIns="45713" rtlCol="0" anchor="ctr"/>
          <a:lstStyle>
            <a:lvl1pPr algn="l" defTabSz="914254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F08924C-D96A-41C8-A048-30ADB230046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068" y="6356284"/>
            <a:ext cx="2895865" cy="365125"/>
          </a:xfrm>
          <a:prstGeom prst="rect">
            <a:avLst/>
          </a:prstGeom>
        </p:spPr>
        <p:txBody>
          <a:bodyPr vert="horz" lIns="91425" tIns="45713" rIns="91425" bIns="45713" rtlCol="0" anchor="ctr"/>
          <a:lstStyle>
            <a:lvl1pPr algn="ctr" defTabSz="914254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068" y="6356284"/>
            <a:ext cx="2133865" cy="365125"/>
          </a:xfrm>
          <a:prstGeom prst="rect">
            <a:avLst/>
          </a:prstGeom>
        </p:spPr>
        <p:txBody>
          <a:bodyPr vert="horz" lIns="91425" tIns="45713" rIns="91425" bIns="45713" rtlCol="0" anchor="ctr"/>
          <a:lstStyle>
            <a:lvl1pPr algn="r" defTabSz="914254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45CE867-7F42-4789-B80B-62807715CA29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73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3989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95235"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190470"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285704"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380939" algn="ctr" defTabSz="913989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581" indent="-342581" algn="l" defTabSz="913989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9" indent="-285704" algn="l" defTabSz="913989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17" indent="-228497" algn="l" defTabSz="913989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12" indent="-228497" algn="l" defTabSz="913989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06" indent="-228497" algn="l" defTabSz="913989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98" indent="-228563" algn="l" defTabSz="9142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25" indent="-228563" algn="l" defTabSz="9142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51" indent="-228563" algn="l" defTabSz="9142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78" indent="-228563" algn="l" defTabSz="9142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7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4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81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7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34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61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8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15" algn="l" defTabSz="9142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mstat.org/meetings/jsm/2008/pdfs/ImprovingStatisticalPosters.pdf" TargetMode="External"/><Relationship Id="rId2" Type="http://schemas.openxmlformats.org/officeDocument/2006/relationships/hyperlink" Target="http://www.lib.uct.ac.za/infolit/poster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hyperlink" Target="http://web.grinnell.edu/individuals/kuipers/stat2labs/write%20paper.html" TargetMode="External"/><Relationship Id="rId4" Type="http://schemas.openxmlformats.org/officeDocument/2006/relationships/hyperlink" Target="http://www.wpi.edu/Academics/ATC/Media/poster-tip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2228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8800" dirty="0" smtClean="0">
                <a:cs typeface="Aharoni" pitchFamily="2" charset="-79"/>
              </a:rPr>
              <a:t>Poster Design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latin typeface="+mj-lt"/>
                <a:cs typeface="Aharoni" pitchFamily="2" charset="-79"/>
              </a:rPr>
              <a:t>Fall 2023</a:t>
            </a:r>
            <a:endParaRPr lang="en-US" altLang="en-US" dirty="0" smtClean="0">
              <a:latin typeface="+mj-lt"/>
              <a:cs typeface="Aharoni" pitchFamily="2" charset="-79"/>
            </a:endParaRPr>
          </a:p>
          <a:p>
            <a:pPr eaLnBrk="1" hangingPunct="1"/>
            <a:r>
              <a:rPr lang="en-US" altLang="en-US" dirty="0" smtClean="0">
                <a:latin typeface="+mj-lt"/>
                <a:cs typeface="Aharoni" pitchFamily="2" charset="-79"/>
              </a:rPr>
              <a:t>PQRC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Planning</a:t>
            </a:r>
          </a:p>
          <a:p>
            <a:pPr lvl="1" eaLnBrk="1" hangingPunct="1"/>
            <a:r>
              <a:rPr lang="en-US" altLang="en-US" dirty="0" smtClean="0"/>
              <a:t>Layout</a:t>
            </a:r>
          </a:p>
          <a:p>
            <a:pPr lvl="1" eaLnBrk="1" hangingPunct="1"/>
            <a:r>
              <a:rPr lang="en-US" altLang="en-US" dirty="0" smtClean="0"/>
              <a:t>Color</a:t>
            </a:r>
          </a:p>
          <a:p>
            <a:pPr lvl="1" eaLnBrk="1" hangingPunct="1"/>
            <a:r>
              <a:rPr lang="en-US" altLang="en-US" dirty="0" smtClean="0"/>
              <a:t>Text &amp; Font</a:t>
            </a:r>
          </a:p>
          <a:p>
            <a:pPr eaLnBrk="1" hangingPunct="1"/>
            <a:r>
              <a:rPr lang="en-US" altLang="en-US" dirty="0" smtClean="0"/>
              <a:t>Visuals</a:t>
            </a:r>
          </a:p>
          <a:p>
            <a:pPr lvl="1" eaLnBrk="1" hangingPunct="1"/>
            <a:r>
              <a:rPr lang="en-US" altLang="en-US" dirty="0" smtClean="0"/>
              <a:t>Number</a:t>
            </a:r>
          </a:p>
          <a:p>
            <a:pPr lvl="1" eaLnBrk="1" hangingPunct="1"/>
            <a:r>
              <a:rPr lang="en-US" altLang="en-US" dirty="0" smtClean="0"/>
              <a:t>Familiarity vs. Surprise</a:t>
            </a:r>
          </a:p>
          <a:p>
            <a:pPr eaLnBrk="1" hangingPunct="1"/>
            <a:r>
              <a:rPr lang="en-US" altLang="en-US" dirty="0" smtClean="0"/>
              <a:t>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Planning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6962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Components of </a:t>
            </a:r>
            <a:r>
              <a:rPr lang="en-US" altLang="en-US" u="sng" smtClean="0"/>
              <a:t>any</a:t>
            </a:r>
            <a:r>
              <a:rPr lang="en-US" altLang="en-US" smtClean="0"/>
              <a:t> poster:</a:t>
            </a:r>
          </a:p>
          <a:p>
            <a:pPr lvl="1" eaLnBrk="1" hangingPunct="1"/>
            <a:r>
              <a:rPr lang="en-US" altLang="en-US" sz="2800" smtClean="0"/>
              <a:t>Title, Author(s)</a:t>
            </a:r>
          </a:p>
          <a:p>
            <a:pPr lvl="1" eaLnBrk="1" hangingPunct="1"/>
            <a:endParaRPr lang="en-US" altLang="en-US" sz="2800" smtClean="0"/>
          </a:p>
          <a:p>
            <a:pPr lvl="1" eaLnBrk="1" hangingPunct="1"/>
            <a:r>
              <a:rPr lang="en-US" altLang="en-US" sz="2800" smtClean="0"/>
              <a:t>Introduction</a:t>
            </a:r>
          </a:p>
          <a:p>
            <a:pPr lvl="1" eaLnBrk="1" hangingPunct="1"/>
            <a:endParaRPr lang="en-US" altLang="en-US" sz="2800" smtClean="0"/>
          </a:p>
          <a:p>
            <a:pPr lvl="1" eaLnBrk="1" hangingPunct="1"/>
            <a:r>
              <a:rPr lang="en-US" altLang="en-US" sz="2800" smtClean="0"/>
              <a:t>Methods/Approach</a:t>
            </a:r>
          </a:p>
          <a:p>
            <a:pPr lvl="1" eaLnBrk="1" hangingPunct="1"/>
            <a:endParaRPr lang="en-US" altLang="en-US" sz="2800" smtClean="0"/>
          </a:p>
          <a:p>
            <a:pPr lvl="1" eaLnBrk="1" hangingPunct="1"/>
            <a:r>
              <a:rPr lang="en-US" altLang="en-US" sz="2800" smtClean="0"/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Planning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6962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Components of a </a:t>
            </a:r>
            <a:r>
              <a:rPr lang="en-US" altLang="en-US" u="sng" smtClean="0">
                <a:solidFill>
                  <a:srgbClr val="B2B2B2"/>
                </a:solidFill>
              </a:rPr>
              <a:t>Science</a:t>
            </a:r>
            <a:r>
              <a:rPr lang="en-US" altLang="en-US" smtClean="0"/>
              <a:t> Poster:</a:t>
            </a:r>
          </a:p>
          <a:p>
            <a:pPr lvl="1" eaLnBrk="1" hangingPunct="1"/>
            <a:r>
              <a:rPr lang="en-US" altLang="en-US" smtClean="0"/>
              <a:t>Title, Author(s)</a:t>
            </a:r>
          </a:p>
          <a:p>
            <a:pPr lvl="1" eaLnBrk="1" hangingPunct="1"/>
            <a:r>
              <a:rPr lang="en-US" altLang="en-US" smtClean="0"/>
              <a:t>Introduction</a:t>
            </a:r>
          </a:p>
          <a:p>
            <a:pPr lvl="1" eaLnBrk="1" hangingPunct="1"/>
            <a:r>
              <a:rPr lang="en-US" altLang="en-US" smtClean="0"/>
              <a:t>Problem Statement</a:t>
            </a:r>
          </a:p>
          <a:p>
            <a:pPr lvl="1" eaLnBrk="1" hangingPunct="1"/>
            <a:r>
              <a:rPr lang="en-US" altLang="en-US" smtClean="0"/>
              <a:t>Methods</a:t>
            </a:r>
          </a:p>
          <a:p>
            <a:pPr lvl="1" eaLnBrk="1" hangingPunct="1"/>
            <a:r>
              <a:rPr lang="en-US" altLang="en-US" smtClean="0"/>
              <a:t>Results</a:t>
            </a:r>
          </a:p>
          <a:p>
            <a:pPr lvl="1" eaLnBrk="1" hangingPunct="1"/>
            <a:r>
              <a:rPr lang="en-US" altLang="en-US" smtClean="0"/>
              <a:t>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Goals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Convey the following:</a:t>
            </a:r>
          </a:p>
          <a:p>
            <a:pPr lvl="1" eaLnBrk="1" hangingPunct="1"/>
            <a:r>
              <a:rPr lang="en-US" altLang="en-US" smtClean="0"/>
              <a:t>What you did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Why you did it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How you did it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Why it is important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Planning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4676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Key Questions</a:t>
            </a:r>
          </a:p>
          <a:p>
            <a:pPr lvl="1" eaLnBrk="1" hangingPunct="1"/>
            <a:endParaRPr lang="en-US" altLang="en-US" sz="2800" smtClean="0"/>
          </a:p>
          <a:p>
            <a:pPr lvl="1" eaLnBrk="1" hangingPunct="1"/>
            <a:r>
              <a:rPr lang="en-US" altLang="en-US" sz="2800" smtClean="0"/>
              <a:t>What do I want to convey?</a:t>
            </a:r>
          </a:p>
          <a:p>
            <a:pPr lvl="1" eaLnBrk="1" hangingPunct="1"/>
            <a:endParaRPr lang="en-US" altLang="en-US" sz="2800" smtClean="0"/>
          </a:p>
          <a:p>
            <a:pPr lvl="1" eaLnBrk="1" hangingPunct="1"/>
            <a:r>
              <a:rPr lang="en-US" altLang="en-US" sz="2800" smtClean="0"/>
              <a:t>Who is my target audience?</a:t>
            </a:r>
          </a:p>
          <a:p>
            <a:pPr lvl="1" eaLnBrk="1" hangingPunct="1"/>
            <a:endParaRPr lang="en-US" altLang="en-US" sz="2800" smtClean="0"/>
          </a:p>
          <a:p>
            <a:pPr lvl="1" eaLnBrk="1" hangingPunct="1"/>
            <a:r>
              <a:rPr lang="en-US" altLang="en-US" sz="2800" smtClean="0"/>
              <a:t>Rhetorical triangle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267200"/>
            <a:ext cx="2667000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Planning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4676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Create a rough sketch</a:t>
            </a:r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2209800"/>
            <a:ext cx="5334000" cy="421163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Audience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Know your Audience</a:t>
            </a:r>
          </a:p>
          <a:p>
            <a:pPr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General audience (Mom, Grandpa)?</a:t>
            </a:r>
          </a:p>
          <a:p>
            <a:pPr lvl="2" eaLnBrk="1" hangingPunct="1"/>
            <a:r>
              <a:rPr lang="en-US" altLang="en-US" smtClean="0"/>
              <a:t> Assume little specific knowledge</a:t>
            </a:r>
          </a:p>
          <a:p>
            <a:pPr lvl="2" eaLnBrk="1" hangingPunct="1"/>
            <a:r>
              <a:rPr lang="en-US" altLang="en-US" smtClean="0"/>
              <a:t> Give sufficient background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Discipline specific audience?</a:t>
            </a:r>
          </a:p>
          <a:p>
            <a:pPr lvl="2" eaLnBrk="1" hangingPunct="1"/>
            <a:r>
              <a:rPr lang="en-US" altLang="en-US" smtClean="0"/>
              <a:t> What can you assume they know?</a:t>
            </a:r>
          </a:p>
          <a:p>
            <a:pPr lvl="2" eaLnBrk="1" hangingPunct="1"/>
            <a:r>
              <a:rPr lang="en-US" altLang="en-US" smtClean="0"/>
              <a:t> Less background necessary (don’t bore)</a:t>
            </a:r>
          </a:p>
          <a:p>
            <a:pPr lvl="2" eaLnBrk="1" hangingPunct="1">
              <a:buFont typeface="Wingdings 2" pitchFamily="18" charset="2"/>
              <a:buNone/>
            </a:pPr>
            <a:endParaRPr lang="en-US" altLang="en-US" smtClean="0"/>
          </a:p>
          <a:p>
            <a:pPr lvl="1" eaLnBrk="1" hangingPunct="1"/>
            <a:endParaRPr lang="en-US" altLang="en-US" smtClean="0"/>
          </a:p>
          <a:p>
            <a:pPr lvl="1"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Layout</a:t>
            </a:r>
          </a:p>
        </p:txBody>
      </p:sp>
      <p:pic>
        <p:nvPicPr>
          <p:cNvPr id="10244" name="Picture 7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31" y="1600200"/>
            <a:ext cx="3181738" cy="4724400"/>
          </a:xfrm>
        </p:spPr>
      </p:pic>
      <p:sp>
        <p:nvSpPr>
          <p:cNvPr id="10243" name="Rectangle 6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Information should be ordered by column (preferred) or by row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Use a numbering system (and other visual clues) to help the audience follow the flow of information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Color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6962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Choose color scheme for the entire poster</a:t>
            </a:r>
          </a:p>
          <a:p>
            <a:pPr lvl="1" eaLnBrk="1" hangingPunct="1"/>
            <a:r>
              <a:rPr lang="en-US" altLang="en-US" smtClean="0"/>
              <a:t>Use dark font for light backgrounds, </a:t>
            </a:r>
          </a:p>
          <a:p>
            <a:pPr lvl="1" eaLnBrk="1" hangingPunct="1"/>
            <a:r>
              <a:rPr lang="en-US" altLang="en-US" smtClean="0"/>
              <a:t>Use light font on dark backgrounds</a:t>
            </a:r>
          </a:p>
          <a:p>
            <a:pPr lvl="1"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Highlight with contrasting colors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Avoid using too much color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Avoid intensely bright colors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Color</a:t>
            </a:r>
          </a:p>
        </p:txBody>
      </p:sp>
      <p:pic>
        <p:nvPicPr>
          <p:cNvPr id="12291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26" y="1600200"/>
            <a:ext cx="4160547" cy="47244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Text &amp; Fonts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391400" cy="4525963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Choose interesting font that’s easy to read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Choose appropriate size for different types of information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Do not use black background (too much ink on the paper)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Avoid using all CAPS and </a:t>
            </a:r>
            <a:r>
              <a:rPr lang="en-US" altLang="en-US" i="1" dirty="0" smtClean="0"/>
              <a:t>Italics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Text &amp; Fonts</a:t>
            </a:r>
          </a:p>
        </p:txBody>
      </p:sp>
      <p:pic>
        <p:nvPicPr>
          <p:cNvPr id="14339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888695"/>
            <a:ext cx="4191000" cy="414740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Text &amp; Fonts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248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Use phrases, not sentences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Use bullets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Succinct but informative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Visuals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Graphics, diagrams, and photos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Communicate message and add interest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Avoid clutter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Label appropriately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Cite your source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Avoid scanned photos and hand-drawn graphics whenever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Familiarity vs. Surprise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 smtClean="0"/>
              <a:t>Following conventions (general)</a:t>
            </a:r>
          </a:p>
          <a:p>
            <a:pPr lvl="1" eaLnBrk="1" hangingPunct="1"/>
            <a:r>
              <a:rPr lang="en-US" altLang="en-US" dirty="0" smtClean="0"/>
              <a:t>familiarity</a:t>
            </a:r>
          </a:p>
          <a:p>
            <a:pPr lvl="1" eaLnBrk="1" hangingPunct="1"/>
            <a:r>
              <a:rPr lang="en-US" altLang="en-US" dirty="0" smtClean="0"/>
              <a:t>ease of interpretation</a:t>
            </a:r>
          </a:p>
          <a:p>
            <a:pPr lvl="1"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Breaking conventions (emphasis)</a:t>
            </a:r>
          </a:p>
          <a:p>
            <a:pPr lvl="1" eaLnBrk="1" hangingPunct="1"/>
            <a:r>
              <a:rPr lang="en-US" altLang="en-US" dirty="0" smtClean="0"/>
              <a:t>surprise </a:t>
            </a:r>
          </a:p>
          <a:p>
            <a:pPr lvl="1" eaLnBrk="1" hangingPunct="1"/>
            <a:r>
              <a:rPr lang="en-US" altLang="en-US" dirty="0" smtClean="0"/>
              <a:t>Curiosity</a:t>
            </a:r>
          </a:p>
          <a:p>
            <a:pPr eaLnBrk="1" hangingPunct="1"/>
            <a:r>
              <a:rPr lang="en-US" altLang="en-US" dirty="0" smtClean="0"/>
              <a:t>Example: Water cycle might use circular layout of the cycle for the poster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6762750" y="1412875"/>
            <a:ext cx="2095500" cy="5143500"/>
          </a:xfrm>
          <a:prstGeom prst="rect">
            <a:avLst/>
          </a:prstGeom>
          <a:solidFill>
            <a:srgbClr val="6590C3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44" tIns="9521" rIns="19044" bIns="9521" rtlCol="0" anchor="ctr"/>
          <a:lstStyle/>
          <a:p>
            <a:pPr algn="ctr" defTabSz="913843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0" y="1412875"/>
            <a:ext cx="2000250" cy="5143500"/>
          </a:xfrm>
          <a:prstGeom prst="rect">
            <a:avLst/>
          </a:prstGeom>
          <a:solidFill>
            <a:srgbClr val="6590C3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44" tIns="9521" rIns="19044" bIns="9521" rtlCol="0" anchor="ctr"/>
          <a:lstStyle/>
          <a:p>
            <a:pPr algn="ctr" defTabSz="913843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54000" y="1412875"/>
            <a:ext cx="1952625" cy="5143500"/>
          </a:xfrm>
          <a:prstGeom prst="rect">
            <a:avLst/>
          </a:prstGeom>
          <a:solidFill>
            <a:srgbClr val="C8D7EA">
              <a:alpha val="2078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44" tIns="9521" rIns="19044" bIns="9521" rtlCol="0" anchor="ctr"/>
          <a:lstStyle/>
          <a:p>
            <a:pPr algn="ctr" defTabSz="913843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317750" y="1412875"/>
            <a:ext cx="2095500" cy="5143500"/>
          </a:xfrm>
          <a:prstGeom prst="rect">
            <a:avLst/>
          </a:prstGeom>
          <a:solidFill>
            <a:srgbClr val="8AABD2">
              <a:alpha val="2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44" tIns="9521" rIns="19044" bIns="9521" rtlCol="0" anchor="ctr"/>
          <a:lstStyle/>
          <a:p>
            <a:pPr algn="ctr" defTabSz="913843"/>
            <a:endParaRPr lang="en-US">
              <a:solidFill>
                <a:prstClr val="white"/>
              </a:solidFill>
            </a:endParaRPr>
          </a:p>
        </p:txBody>
      </p:sp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333500" y="222250"/>
            <a:ext cx="6365875" cy="891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044" tIns="9521" rIns="19044" bIns="9521">
            <a:spAutoFit/>
          </a:bodyPr>
          <a:lstStyle/>
          <a:p>
            <a:pPr algn="ctr" defTabSz="913843"/>
            <a:r>
              <a:rPr lang="en-US" sz="2500" dirty="0">
                <a:solidFill>
                  <a:srgbClr val="1F497D">
                    <a:lumMod val="75000"/>
                  </a:srgbClr>
                </a:solidFill>
                <a:latin typeface="Calibri" pitchFamily="34" charset="0"/>
              </a:rPr>
              <a:t>How to Make a Quality Poster</a:t>
            </a:r>
          </a:p>
          <a:p>
            <a:pPr algn="ctr" defTabSz="913843"/>
            <a:r>
              <a:rPr lang="en-US" sz="1700" dirty="0">
                <a:solidFill>
                  <a:prstClr val="black"/>
                </a:solidFill>
                <a:latin typeface="Calibri" pitchFamily="34" charset="0"/>
              </a:rPr>
              <a:t>M. </a:t>
            </a:r>
            <a:r>
              <a:rPr lang="en-US" sz="1700" dirty="0" err="1">
                <a:solidFill>
                  <a:prstClr val="black"/>
                </a:solidFill>
                <a:latin typeface="Calibri" pitchFamily="34" charset="0"/>
              </a:rPr>
              <a:t>Schuckers</a:t>
            </a:r>
            <a:r>
              <a:rPr lang="en-US" sz="1700" dirty="0">
                <a:solidFill>
                  <a:prstClr val="black"/>
                </a:solidFill>
                <a:latin typeface="Calibri" pitchFamily="34" charset="0"/>
              </a:rPr>
              <a:t>, T. Morse, M. Joseph</a:t>
            </a:r>
          </a:p>
          <a:p>
            <a:pPr algn="ctr" defTabSz="913843"/>
            <a:r>
              <a:rPr lang="en-US" sz="1500">
                <a:solidFill>
                  <a:srgbClr val="1F497D">
                    <a:lumMod val="60000"/>
                    <a:lumOff val="40000"/>
                  </a:srgbClr>
                </a:solidFill>
                <a:latin typeface="Calibri" pitchFamily="34" charset="0"/>
              </a:rPr>
              <a:t>Peterson </a:t>
            </a:r>
            <a:r>
              <a:rPr lang="en-US" sz="1500" dirty="0">
                <a:solidFill>
                  <a:srgbClr val="1F497D">
                    <a:lumMod val="60000"/>
                    <a:lumOff val="40000"/>
                  </a:srgbClr>
                </a:solidFill>
                <a:latin typeface="Calibri" pitchFamily="34" charset="0"/>
              </a:rPr>
              <a:t>Quantitative Resource Center, St. Lawrence University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396875" y="1492250"/>
            <a:ext cx="1778000" cy="4189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marL="190440" indent="-190440" defTabSz="913843"/>
            <a:r>
              <a:rPr lang="en-US" sz="1100" dirty="0">
                <a:solidFill>
                  <a:srgbClr val="1F497D">
                    <a:lumMod val="75000"/>
                  </a:srgbClr>
                </a:solidFill>
                <a:latin typeface="Calibri" pitchFamily="34" charset="0"/>
              </a:rPr>
              <a:t>1. Planning</a:t>
            </a:r>
          </a:p>
          <a:p>
            <a:pPr marL="190440" indent="-190440"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	</a:t>
            </a:r>
          </a:p>
          <a:p>
            <a:pPr marL="190440" indent="-190440"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Components of Any Poster:</a:t>
            </a:r>
          </a:p>
          <a:p>
            <a:pPr marL="190440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Title, Author(s)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Introduction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Methods/Approach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Conclusions</a:t>
            </a: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Science Posters:</a:t>
            </a:r>
          </a:p>
          <a:p>
            <a:pPr marL="190440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Title, Author(s)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Introduction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Problem Statement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Methods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Results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Conclusions</a:t>
            </a: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Key Questions:</a:t>
            </a:r>
          </a:p>
          <a:p>
            <a:pPr marL="190440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What to convey?</a:t>
            </a:r>
          </a:p>
          <a:p>
            <a:pPr marL="647360" lvl="1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What you did</a:t>
            </a:r>
          </a:p>
          <a:p>
            <a:pPr marL="647360" lvl="1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Why you did it</a:t>
            </a:r>
          </a:p>
          <a:p>
            <a:pPr marL="647360" lvl="1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How you did it</a:t>
            </a:r>
          </a:p>
          <a:p>
            <a:pPr marL="647360" lvl="1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Why it is important</a:t>
            </a:r>
          </a:p>
          <a:p>
            <a:pPr marL="647360" lvl="1" indent="-190440" defTabSz="913843">
              <a:buFont typeface="Arial" pitchFamily="34" charset="0"/>
              <a:buChar char="•"/>
            </a:pPr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Who is my target audience?</a:t>
            </a:r>
          </a:p>
          <a:p>
            <a:pPr marL="647360" lvl="1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General, little prior knowledge</a:t>
            </a:r>
          </a:p>
          <a:p>
            <a:pPr marL="647360" lvl="1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Specific, less background needed</a:t>
            </a:r>
          </a:p>
          <a:p>
            <a:pPr marL="1104282" lvl="2" indent="-190440" defTabSz="913843">
              <a:buFont typeface="Arial" charset="0"/>
              <a:buChar char="•"/>
            </a:pPr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4683125" y="1508125"/>
            <a:ext cx="1397000" cy="85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defTabSz="913843"/>
            <a:r>
              <a:rPr lang="en-US" sz="1100" dirty="0">
                <a:solidFill>
                  <a:srgbClr val="1F497D">
                    <a:lumMod val="75000"/>
                  </a:srgbClr>
                </a:solidFill>
                <a:latin typeface="Calibri" pitchFamily="34" charset="0"/>
              </a:rPr>
              <a:t>3. Text, Font, &amp; Colors</a:t>
            </a:r>
          </a:p>
          <a:p>
            <a:pPr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defTabSz="190440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Text</a:t>
            </a:r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defTabSz="190440">
              <a:buFont typeface="Wingdings" pitchFamily="2" charset="2"/>
              <a:buChar char="§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Phrases not sentences</a:t>
            </a:r>
          </a:p>
          <a:p>
            <a:pPr defTabSz="190440">
              <a:buFont typeface="Wingdings" pitchFamily="2" charset="2"/>
              <a:buChar char="§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Use Bullets and/or numbering</a:t>
            </a:r>
          </a:p>
          <a:p>
            <a:pPr defTabSz="190440">
              <a:buFont typeface="Wingdings" pitchFamily="2" charset="2"/>
              <a:buChar char="§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Succinct but informative</a:t>
            </a:r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2055" name="TextBox 9"/>
          <p:cNvSpPr txBox="1">
            <a:spLocks noChangeArrowheads="1"/>
          </p:cNvSpPr>
          <p:nvPr/>
        </p:nvSpPr>
        <p:spPr bwMode="auto">
          <a:xfrm>
            <a:off x="6838156" y="1492250"/>
            <a:ext cx="2032000" cy="309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defTabSz="913843"/>
            <a:r>
              <a:rPr lang="en-US" sz="1100" dirty="0">
                <a:solidFill>
                  <a:srgbClr val="1F497D">
                    <a:lumMod val="75000"/>
                  </a:srgbClr>
                </a:solidFill>
                <a:latin typeface="Calibri" pitchFamily="34" charset="0"/>
              </a:rPr>
              <a:t>4. Visuals</a:t>
            </a:r>
          </a:p>
          <a:p>
            <a:pPr marL="190440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Use graphics, diagrams, and photos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Communicate message and add interest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Label appropriately and avoid clutter</a:t>
            </a: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Avoid scanned photos and hand-drawn graphics</a:t>
            </a:r>
          </a:p>
          <a:p>
            <a:pPr marL="190440" indent="-190440" defTabSz="913843"/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Familiarity vs. Surprise</a:t>
            </a:r>
          </a:p>
          <a:p>
            <a:pPr marL="190440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Following convention:</a:t>
            </a:r>
          </a:p>
          <a:p>
            <a:pPr marL="647360" lvl="1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Familiarity</a:t>
            </a:r>
          </a:p>
          <a:p>
            <a:pPr marL="647360" lvl="1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Ease of interpretation</a:t>
            </a:r>
          </a:p>
          <a:p>
            <a:pPr marL="647360" lvl="1" indent="-190440" defTabSz="913843"/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Breaking conventions:</a:t>
            </a:r>
          </a:p>
          <a:p>
            <a:pPr marL="647360" lvl="1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Surprise raises curiosity</a:t>
            </a:r>
          </a:p>
          <a:p>
            <a:pPr marL="647360" lvl="1" indent="-190440" defTabSz="913843">
              <a:buFont typeface="Arial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Emphasizes important information</a:t>
            </a:r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" y="5381625"/>
            <a:ext cx="1419977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lum contrast="21000"/>
          </a:blip>
          <a:srcRect/>
          <a:stretch>
            <a:fillRect/>
          </a:stretch>
        </p:blipFill>
        <p:spPr>
          <a:xfrm>
            <a:off x="2738439" y="2222501"/>
            <a:ext cx="1476375" cy="1165721"/>
          </a:xfrm>
          <a:prstGeom prst="rect">
            <a:avLst/>
          </a:prstGeom>
        </p:spPr>
      </p:pic>
      <p:sp>
        <p:nvSpPr>
          <p:cNvPr id="15" name="TextBox 8"/>
          <p:cNvSpPr txBox="1">
            <a:spLocks noChangeArrowheads="1"/>
          </p:cNvSpPr>
          <p:nvPr/>
        </p:nvSpPr>
        <p:spPr bwMode="auto">
          <a:xfrm>
            <a:off x="2397125" y="3730625"/>
            <a:ext cx="2016125" cy="680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marL="190440" indent="-190440"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Ordering:</a:t>
            </a:r>
          </a:p>
          <a:p>
            <a:pPr marL="190440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Organize poster by column (preferred) or by row</a:t>
            </a:r>
          </a:p>
          <a:p>
            <a:pPr marL="190440" indent="-190440" defTabSz="913843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Use numbering system or visual cues to depict flow of information</a:t>
            </a:r>
          </a:p>
          <a:p>
            <a:pPr marL="190440" indent="-190440"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</p:txBody>
      </p:sp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619375" y="4460875"/>
            <a:ext cx="1448536" cy="1885830"/>
          </a:xfrm>
          <a:prstGeom prst="rect">
            <a:avLst/>
          </a:prstGeom>
        </p:spPr>
      </p:pic>
      <p:sp>
        <p:nvSpPr>
          <p:cNvPr id="19" name="TextBox 8"/>
          <p:cNvSpPr txBox="1">
            <a:spLocks noChangeArrowheads="1"/>
          </p:cNvSpPr>
          <p:nvPr/>
        </p:nvSpPr>
        <p:spPr bwMode="auto">
          <a:xfrm>
            <a:off x="2333625" y="1492251"/>
            <a:ext cx="1920875" cy="53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defTabSz="913843"/>
            <a:r>
              <a:rPr lang="en-US" sz="1100" dirty="0">
                <a:solidFill>
                  <a:srgbClr val="1F497D">
                    <a:lumMod val="75000"/>
                  </a:srgbClr>
                </a:solidFill>
                <a:latin typeface="Calibri" pitchFamily="34" charset="0"/>
              </a:rPr>
              <a:t>2. Layout</a:t>
            </a:r>
          </a:p>
          <a:p>
            <a:pPr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marL="190440" indent="-190440"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Create a Rough sketch:</a:t>
            </a: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6">
            <a:lum contrast="20000"/>
          </a:blip>
          <a:srcRect l="5661"/>
          <a:stretch>
            <a:fillRect/>
          </a:stretch>
        </p:blipFill>
        <p:spPr>
          <a:xfrm>
            <a:off x="4907316" y="3078348"/>
            <a:ext cx="1202620" cy="1428750"/>
          </a:xfrm>
          <a:prstGeom prst="rect">
            <a:avLst/>
          </a:prstGeom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976814" y="5334920"/>
            <a:ext cx="1063625" cy="1192124"/>
          </a:xfrm>
          <a:prstGeom prst="rect">
            <a:avLst/>
          </a:prstGeom>
          <a:noFill/>
        </p:spPr>
      </p:pic>
      <p:sp>
        <p:nvSpPr>
          <p:cNvPr id="22" name="TextBox 9"/>
          <p:cNvSpPr txBox="1">
            <a:spLocks noChangeArrowheads="1"/>
          </p:cNvSpPr>
          <p:nvPr/>
        </p:nvSpPr>
        <p:spPr bwMode="auto">
          <a:xfrm>
            <a:off x="6826250" y="4700234"/>
            <a:ext cx="20320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defTabSz="913843"/>
            <a:r>
              <a:rPr lang="en-US" sz="1100" dirty="0">
                <a:solidFill>
                  <a:srgbClr val="1F497D">
                    <a:lumMod val="75000"/>
                  </a:srgbClr>
                </a:solidFill>
                <a:latin typeface="Calibri" pitchFamily="34" charset="0"/>
              </a:rPr>
              <a:t>5. Poster Resources</a:t>
            </a:r>
          </a:p>
          <a:p>
            <a:pPr marL="456922" lvl="1" indent="-361702" defTabSz="190440"/>
            <a:r>
              <a:rPr lang="en-US" sz="800" dirty="0">
                <a:solidFill>
                  <a:prstClr val="black"/>
                </a:solidFill>
                <a:latin typeface="Calibri" pitchFamily="34" charset="0"/>
              </a:rPr>
              <a:t>PQRC (Drop-in or T:\qrc\Poster Workshop)</a:t>
            </a:r>
          </a:p>
          <a:p>
            <a:pPr marL="456922" lvl="1" indent="-361702" defTabSz="190440"/>
            <a:r>
              <a:rPr lang="en-US" sz="800" dirty="0">
                <a:solidFill>
                  <a:prstClr val="black"/>
                </a:solidFill>
                <a:latin typeface="Calibri" pitchFamily="34" charset="0"/>
              </a:rPr>
              <a:t>WORD Studio</a:t>
            </a:r>
          </a:p>
          <a:p>
            <a:pPr marL="456922" lvl="1" indent="-361702" defTabSz="190440"/>
            <a:r>
              <a:rPr lang="en-US" sz="800" dirty="0" err="1">
                <a:solidFill>
                  <a:prstClr val="black"/>
                </a:solidFill>
                <a:latin typeface="Calibri" pitchFamily="34" charset="0"/>
              </a:rPr>
              <a:t>TECDesk</a:t>
            </a:r>
            <a:endParaRPr lang="en-US" sz="800" dirty="0">
              <a:solidFill>
                <a:prstClr val="black"/>
              </a:solidFill>
              <a:latin typeface="Calibri" pitchFamily="34" charset="0"/>
            </a:endParaRPr>
          </a:p>
          <a:p>
            <a:pPr marL="456922" lvl="1" indent="-361702" defTabSz="190440"/>
            <a:r>
              <a:rPr lang="en-US" sz="800" dirty="0">
                <a:solidFill>
                  <a:prstClr val="black"/>
                </a:solidFill>
                <a:latin typeface="Calibri" pitchFamily="34" charset="0"/>
              </a:rPr>
              <a:t>SLU Logos (T:\</a:t>
            </a:r>
            <a:r>
              <a:rPr lang="en-US" sz="800" dirty="0" err="1">
                <a:solidFill>
                  <a:prstClr val="black"/>
                </a:solidFill>
                <a:latin typeface="Calibri" pitchFamily="34" charset="0"/>
              </a:rPr>
              <a:t>qrc</a:t>
            </a:r>
            <a:r>
              <a:rPr lang="en-US" sz="800" dirty="0">
                <a:solidFill>
                  <a:prstClr val="black"/>
                </a:solidFill>
                <a:latin typeface="Calibri" pitchFamily="34" charset="0"/>
              </a:rPr>
              <a:t>\drop\Logos2017\Logos)</a:t>
            </a:r>
          </a:p>
          <a:p>
            <a:pPr defTabSz="913843"/>
            <a:endParaRPr lang="en-US" sz="800" dirty="0">
              <a:solidFill>
                <a:prstClr val="black"/>
              </a:solidFill>
              <a:latin typeface="Calibri" pitchFamily="34" charset="0"/>
            </a:endParaRPr>
          </a:p>
          <a:p>
            <a:pPr defTabSz="913843"/>
            <a:r>
              <a:rPr lang="en-US" sz="800" dirty="0">
                <a:solidFill>
                  <a:prstClr val="black"/>
                </a:solidFill>
                <a:latin typeface="Calibri" pitchFamily="34" charset="0"/>
              </a:rPr>
              <a:t>Printers in ODY, NCAT, GIS Lab</a:t>
            </a:r>
          </a:p>
          <a:p>
            <a:pPr defTabSz="913843"/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  <a:p>
            <a:pPr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Helpful Links:</a:t>
            </a:r>
          </a:p>
          <a:p>
            <a:pPr defTabSz="913843"/>
            <a:r>
              <a:rPr lang="en-US" sz="600" dirty="0">
                <a:solidFill>
                  <a:prstClr val="black"/>
                </a:solidFill>
              </a:rPr>
              <a:t>http://www.lib.uct.ac.za/infolit/poster.htm</a:t>
            </a:r>
          </a:p>
          <a:p>
            <a:pPr defTabSz="913843"/>
            <a:r>
              <a:rPr lang="en-US" sz="600" dirty="0">
                <a:solidFill>
                  <a:prstClr val="black"/>
                </a:solidFill>
              </a:rPr>
              <a:t>http://www.amstat.org/meetings/jsm/2008/pdfs/ImprovingStatisticalPosters.pdf</a:t>
            </a:r>
          </a:p>
          <a:p>
            <a:pPr defTabSz="913843"/>
            <a:r>
              <a:rPr lang="en-US" sz="600" dirty="0">
                <a:solidFill>
                  <a:prstClr val="black"/>
                </a:solidFill>
              </a:rPr>
              <a:t>http://www.wpi.edu/Academics/ATC/Media/poster-tips.pdf</a:t>
            </a:r>
          </a:p>
          <a:p>
            <a:pPr defTabSz="913843"/>
            <a:r>
              <a:rPr lang="en-US" sz="600" dirty="0">
                <a:solidFill>
                  <a:prstClr val="black"/>
                </a:solidFill>
              </a:rPr>
              <a:t>http://web.grinnell.edu/individuals/kuipers/stat2labs/write%20paper.html</a:t>
            </a:r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4667250" y="2413000"/>
            <a:ext cx="1397000" cy="619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Font</a:t>
            </a: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Interesting but easy to read font</a:t>
            </a: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Appropriate sizes (See Figure )</a:t>
            </a: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Avoid CAPS and </a:t>
            </a:r>
            <a:r>
              <a:rPr lang="en-US" sz="700" i="1" dirty="0">
                <a:solidFill>
                  <a:prstClr val="black"/>
                </a:solidFill>
                <a:latin typeface="Calibri" pitchFamily="34" charset="0"/>
              </a:rPr>
              <a:t>Italics</a:t>
            </a:r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4651375" y="4524375"/>
            <a:ext cx="1397000" cy="727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9044" tIns="9521" rIns="19044" bIns="9521">
            <a:spAutoFit/>
          </a:bodyPr>
          <a:lstStyle/>
          <a:p>
            <a:pPr defTabSz="913843"/>
            <a:r>
              <a:rPr lang="en-US" sz="1100" dirty="0">
                <a:solidFill>
                  <a:prstClr val="black"/>
                </a:solidFill>
                <a:latin typeface="Calibri" pitchFamily="34" charset="0"/>
              </a:rPr>
              <a:t>Colors</a:t>
            </a:r>
            <a:endParaRPr lang="en-US" sz="700" dirty="0">
              <a:solidFill>
                <a:prstClr val="black"/>
              </a:solidFill>
              <a:latin typeface="Calibri" pitchFamily="34" charset="0"/>
            </a:endParaRP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Scheme for entire poster	</a:t>
            </a: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Highlight with contrasting color</a:t>
            </a: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Avoid too much color</a:t>
            </a: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Avoid intensely bright colors</a:t>
            </a:r>
          </a:p>
          <a:p>
            <a:pPr defTabSz="190440">
              <a:buFont typeface="Arial" pitchFamily="34" charset="0"/>
              <a:buChar char="•"/>
            </a:pPr>
            <a:r>
              <a:rPr lang="en-US" sz="700" dirty="0">
                <a:solidFill>
                  <a:prstClr val="black"/>
                </a:solidFill>
                <a:latin typeface="Calibri" pitchFamily="34" charset="0"/>
              </a:rPr>
              <a:t>	See Figure XX</a:t>
            </a:r>
            <a:endParaRPr lang="en-US" sz="1100" dirty="0">
              <a:solidFill>
                <a:prstClr val="black"/>
              </a:solidFill>
              <a:latin typeface="Calibri" pitchFamily="34" charset="0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040227" y="2222500"/>
            <a:ext cx="162786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T:\qrc\drop\Logos2017\Logos\JPEG\Logo Red - stacked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7040226" y="269876"/>
            <a:ext cx="1841500" cy="33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T:\qrc\drop\Logos2017\Logos\JPEG\Logo Red - stacked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49977" y="300744"/>
            <a:ext cx="1841500" cy="33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26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z="480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0"/>
            <a:ext cx="9601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z="48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0" y="0"/>
            <a:ext cx="9982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Comment 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 If you use </a:t>
            </a:r>
            <a:r>
              <a:rPr lang="en-US" altLang="en-US" dirty="0" err="1" smtClean="0"/>
              <a:t>Powerpoint</a:t>
            </a:r>
            <a:r>
              <a:rPr lang="en-US" altLang="en-US" dirty="0" smtClean="0"/>
              <a:t>, convert to PDF before printing.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Official SLU logos can </a:t>
            </a:r>
            <a:r>
              <a:rPr lang="en-US" altLang="en-US" dirty="0"/>
              <a:t>be </a:t>
            </a:r>
            <a:r>
              <a:rPr lang="en-US" altLang="en-US" dirty="0" smtClean="0"/>
              <a:t>found on Canvas</a:t>
            </a:r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Resources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hlinkClick r:id="rId2"/>
              </a:rPr>
              <a:t>http://www.lib.uct.ac.za/infolit/poster.htm</a:t>
            </a:r>
            <a:endParaRPr lang="en-US" altLang="en-US" smtClean="0"/>
          </a:p>
          <a:p>
            <a:pPr eaLnBrk="1" hangingPunct="1"/>
            <a:r>
              <a:rPr lang="en-US" altLang="en-US" smtClean="0">
                <a:hlinkClick r:id="rId3"/>
              </a:rPr>
              <a:t>http://www.amstat.org/meetings/jsm/2008/pdfs/ImprovingStatisticalPosters.pdf</a:t>
            </a:r>
            <a:endParaRPr lang="en-US" altLang="en-US" smtClean="0"/>
          </a:p>
          <a:p>
            <a:pPr eaLnBrk="1" hangingPunct="1"/>
            <a:r>
              <a:rPr lang="en-US" altLang="en-US" smtClean="0">
                <a:hlinkClick r:id="rId4"/>
              </a:rPr>
              <a:t>http://www.wpi.edu/Academics/ATC/Media/poster-tips.pdf</a:t>
            </a:r>
            <a:endParaRPr lang="en-US" altLang="en-US" smtClean="0"/>
          </a:p>
          <a:p>
            <a:pPr eaLnBrk="1" hangingPunct="1"/>
            <a:r>
              <a:rPr lang="en-US" altLang="en-US" smtClean="0">
                <a:hlinkClick r:id="rId5"/>
              </a:rPr>
              <a:t>http://web.grinnell.edu/individuals/kuipers/stat2labs/write%20paper.html</a:t>
            </a:r>
            <a:endParaRPr lang="en-US" altLang="en-US" smtClean="0"/>
          </a:p>
          <a:p>
            <a:pPr eaLnBrk="1" hangingPunct="1">
              <a:buFont typeface="Wingdings 2" pitchFamily="18" charset="2"/>
              <a:buNone/>
            </a:pPr>
            <a:endParaRPr lang="en-US" altLang="en-US" smtClean="0"/>
          </a:p>
        </p:txBody>
      </p:sp>
      <p:pic>
        <p:nvPicPr>
          <p:cNvPr id="20483" name="Picture 3" descr="T:\qrc\drop\Logos2017\Logos\JPEG\Logo White - Wide on Brown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265" y="152400"/>
            <a:ext cx="5680812" cy="7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1020</TotalTime>
  <Words>632</Words>
  <Application>Microsoft Office PowerPoint</Application>
  <PresentationFormat>On-screen Show (4:3)</PresentationFormat>
  <Paragraphs>212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Aharoni</vt:lpstr>
      <vt:lpstr>Arial</vt:lpstr>
      <vt:lpstr>Calibri</vt:lpstr>
      <vt:lpstr>Franklin Gothic Book</vt:lpstr>
      <vt:lpstr>Franklin Gothic Medium</vt:lpstr>
      <vt:lpstr>Wingdings</vt:lpstr>
      <vt:lpstr>Wingdings 2</vt:lpstr>
      <vt:lpstr>Trek</vt:lpstr>
      <vt:lpstr>Office Theme</vt:lpstr>
      <vt:lpstr>Poster Design</vt:lpstr>
      <vt:lpstr>Outline</vt:lpstr>
      <vt:lpstr>Planning</vt:lpstr>
      <vt:lpstr>Planning</vt:lpstr>
      <vt:lpstr>Goals</vt:lpstr>
      <vt:lpstr>Planning</vt:lpstr>
      <vt:lpstr>Planning</vt:lpstr>
      <vt:lpstr>Audience</vt:lpstr>
      <vt:lpstr>Layout</vt:lpstr>
      <vt:lpstr>Color</vt:lpstr>
      <vt:lpstr>Color</vt:lpstr>
      <vt:lpstr>Text &amp; Fonts</vt:lpstr>
      <vt:lpstr>Text &amp; Fonts</vt:lpstr>
      <vt:lpstr>Text &amp; Fonts</vt:lpstr>
      <vt:lpstr>Visuals</vt:lpstr>
      <vt:lpstr>Familiarity vs. Surprise</vt:lpstr>
      <vt:lpstr>PowerPoint Presentation</vt:lpstr>
      <vt:lpstr>PowerPoint Presentation</vt:lpstr>
      <vt:lpstr>PowerPoint Presentation</vt:lpstr>
      <vt:lpstr>Comment </vt:lpstr>
      <vt:lpstr>Resources</vt:lpstr>
    </vt:vector>
  </TitlesOfParts>
  <Company>St. Lawrence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Design</dc:title>
  <dc:creator>tmorse</dc:creator>
  <cp:lastModifiedBy>AJ Dykstra</cp:lastModifiedBy>
  <cp:revision>47</cp:revision>
  <dcterms:created xsi:type="dcterms:W3CDTF">2008-04-08T18:32:30Z</dcterms:created>
  <dcterms:modified xsi:type="dcterms:W3CDTF">2023-11-14T22:07:54Z</dcterms:modified>
</cp:coreProperties>
</file>