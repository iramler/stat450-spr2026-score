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42808525" cy="30279975"/>
  <p:notesSz cx="6858000" cy="9144000"/>
  <p:defaultTextStyle>
    <a:defPPr>
      <a:defRPr lang="en-US"/>
    </a:defPPr>
    <a:lvl1pPr marL="0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8215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76431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64646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52861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41076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529292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617507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705722" algn="l" defTabSz="417643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7">
          <p15:clr>
            <a:srgbClr val="A4A3A4"/>
          </p15:clr>
        </p15:guide>
        <p15:guide id="2" pos="1348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01F"/>
    <a:srgbClr val="6BAD21"/>
    <a:srgbClr val="77B242"/>
    <a:srgbClr val="4C9537"/>
    <a:srgbClr val="FFCC00"/>
    <a:srgbClr val="C0794E"/>
    <a:srgbClr val="FFFF99"/>
    <a:srgbClr val="FFCC66"/>
    <a:srgbClr val="FFFFFF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985"/>
    <p:restoredTop sz="96143" autoAdjust="0"/>
  </p:normalViewPr>
  <p:slideViewPr>
    <p:cSldViewPr>
      <p:cViewPr>
        <p:scale>
          <a:sx n="25" d="100"/>
          <a:sy n="25" d="100"/>
        </p:scale>
        <p:origin x="2488" y="304"/>
      </p:cViewPr>
      <p:guideLst>
        <p:guide orient="horz" pos="9537"/>
        <p:guide pos="1348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32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4C5C40-2CF4-9E43-AD3B-E28128E66910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695B12-7B50-2641-8F1E-2C63C80624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10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10640" y="9406420"/>
            <a:ext cx="36387246" cy="64905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21279" y="17158652"/>
            <a:ext cx="29965968" cy="77382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882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764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2646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3528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441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5292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6175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7057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18316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6092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1579" y="19457690"/>
            <a:ext cx="36387246" cy="6013939"/>
          </a:xfrm>
        </p:spPr>
        <p:txBody>
          <a:bodyPr anchor="t"/>
          <a:lstStyle>
            <a:lvl1pPr algn="l">
              <a:defRPr sz="183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81579" y="12833948"/>
            <a:ext cx="36387246" cy="6623742"/>
          </a:xfrm>
        </p:spPr>
        <p:txBody>
          <a:bodyPr anchor="b"/>
          <a:lstStyle>
            <a:lvl1pPr marL="0" indent="0">
              <a:buNone/>
              <a:defRPr sz="9100">
                <a:solidFill>
                  <a:schemeClr val="tx1">
                    <a:tint val="75000"/>
                  </a:schemeClr>
                </a:solidFill>
              </a:defRPr>
            </a:lvl1pPr>
            <a:lvl2pPr marL="2088215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76431" indent="0">
              <a:buNone/>
              <a:defRPr sz="7300">
                <a:solidFill>
                  <a:schemeClr val="tx1">
                    <a:tint val="75000"/>
                  </a:schemeClr>
                </a:solidFill>
              </a:defRPr>
            </a:lvl3pPr>
            <a:lvl4pPr marL="6264646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4pPr>
            <a:lvl5pPr marL="8352861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5pPr>
            <a:lvl6pPr marL="10441076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6pPr>
            <a:lvl7pPr marL="12529292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7pPr>
            <a:lvl8pPr marL="14617507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8pPr>
            <a:lvl9pPr marL="16705722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7161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18386" y="31198189"/>
            <a:ext cx="89831017" cy="88232483"/>
          </a:xfr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62876" y="31198189"/>
            <a:ext cx="89831012" cy="88232483"/>
          </a:xfr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93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0426" y="1212603"/>
            <a:ext cx="38527673" cy="50466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40426" y="6777950"/>
            <a:ext cx="18914533" cy="2824727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8215" indent="0">
              <a:buNone/>
              <a:defRPr sz="9100" b="1"/>
            </a:lvl2pPr>
            <a:lvl3pPr marL="4176431" indent="0">
              <a:buNone/>
              <a:defRPr sz="8200" b="1"/>
            </a:lvl3pPr>
            <a:lvl4pPr marL="6264646" indent="0">
              <a:buNone/>
              <a:defRPr sz="7300" b="1"/>
            </a:lvl4pPr>
            <a:lvl5pPr marL="8352861" indent="0">
              <a:buNone/>
              <a:defRPr sz="7300" b="1"/>
            </a:lvl5pPr>
            <a:lvl6pPr marL="10441076" indent="0">
              <a:buNone/>
              <a:defRPr sz="7300" b="1"/>
            </a:lvl6pPr>
            <a:lvl7pPr marL="12529292" indent="0">
              <a:buNone/>
              <a:defRPr sz="7300" b="1"/>
            </a:lvl7pPr>
            <a:lvl8pPr marL="14617507" indent="0">
              <a:buNone/>
              <a:defRPr sz="7300" b="1"/>
            </a:lvl8pPr>
            <a:lvl9pPr marL="16705722" indent="0">
              <a:buNone/>
              <a:defRPr sz="7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40426" y="9602677"/>
            <a:ext cx="18914533" cy="17446034"/>
          </a:xfr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746138" y="6777950"/>
            <a:ext cx="18921963" cy="2824727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8215" indent="0">
              <a:buNone/>
              <a:defRPr sz="9100" b="1"/>
            </a:lvl2pPr>
            <a:lvl3pPr marL="4176431" indent="0">
              <a:buNone/>
              <a:defRPr sz="8200" b="1"/>
            </a:lvl3pPr>
            <a:lvl4pPr marL="6264646" indent="0">
              <a:buNone/>
              <a:defRPr sz="7300" b="1"/>
            </a:lvl4pPr>
            <a:lvl5pPr marL="8352861" indent="0">
              <a:buNone/>
              <a:defRPr sz="7300" b="1"/>
            </a:lvl5pPr>
            <a:lvl6pPr marL="10441076" indent="0">
              <a:buNone/>
              <a:defRPr sz="7300" b="1"/>
            </a:lvl6pPr>
            <a:lvl7pPr marL="12529292" indent="0">
              <a:buNone/>
              <a:defRPr sz="7300" b="1"/>
            </a:lvl7pPr>
            <a:lvl8pPr marL="14617507" indent="0">
              <a:buNone/>
              <a:defRPr sz="7300" b="1"/>
            </a:lvl8pPr>
            <a:lvl9pPr marL="16705722" indent="0">
              <a:buNone/>
              <a:defRPr sz="7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746138" y="9602677"/>
            <a:ext cx="18921963" cy="17446034"/>
          </a:xfr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106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65636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4070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0428" y="1205591"/>
            <a:ext cx="14083710" cy="5130774"/>
          </a:xfr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736944" y="1205594"/>
            <a:ext cx="23931155" cy="25843120"/>
          </a:xfrm>
        </p:spPr>
        <p:txBody>
          <a:bodyPr/>
          <a:lstStyle>
            <a:lvl1pPr>
              <a:defRPr sz="14600"/>
            </a:lvl1pPr>
            <a:lvl2pPr>
              <a:defRPr sz="12800"/>
            </a:lvl2pPr>
            <a:lvl3pPr>
              <a:defRPr sz="11000"/>
            </a:lvl3pPr>
            <a:lvl4pPr>
              <a:defRPr sz="9100"/>
            </a:lvl4pPr>
            <a:lvl5pPr>
              <a:defRPr sz="9100"/>
            </a:lvl5pPr>
            <a:lvl6pPr>
              <a:defRPr sz="9100"/>
            </a:lvl6pPr>
            <a:lvl7pPr>
              <a:defRPr sz="9100"/>
            </a:lvl7pPr>
            <a:lvl8pPr>
              <a:defRPr sz="9100"/>
            </a:lvl8pPr>
            <a:lvl9pPr>
              <a:defRPr sz="9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40428" y="6336367"/>
            <a:ext cx="14083710" cy="20712346"/>
          </a:xfrm>
        </p:spPr>
        <p:txBody>
          <a:bodyPr/>
          <a:lstStyle>
            <a:lvl1pPr marL="0" indent="0">
              <a:buNone/>
              <a:defRPr sz="6400"/>
            </a:lvl1pPr>
            <a:lvl2pPr marL="2088215" indent="0">
              <a:buNone/>
              <a:defRPr sz="5500"/>
            </a:lvl2pPr>
            <a:lvl3pPr marL="4176431" indent="0">
              <a:buNone/>
              <a:defRPr sz="4600"/>
            </a:lvl3pPr>
            <a:lvl4pPr marL="6264646" indent="0">
              <a:buNone/>
              <a:defRPr sz="4100"/>
            </a:lvl4pPr>
            <a:lvl5pPr marL="8352861" indent="0">
              <a:buNone/>
              <a:defRPr sz="4100"/>
            </a:lvl5pPr>
            <a:lvl6pPr marL="10441076" indent="0">
              <a:buNone/>
              <a:defRPr sz="4100"/>
            </a:lvl6pPr>
            <a:lvl7pPr marL="12529292" indent="0">
              <a:buNone/>
              <a:defRPr sz="4100"/>
            </a:lvl7pPr>
            <a:lvl8pPr marL="14617507" indent="0">
              <a:buNone/>
              <a:defRPr sz="4100"/>
            </a:lvl8pPr>
            <a:lvl9pPr marL="16705722" indent="0">
              <a:buNone/>
              <a:defRPr sz="4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5669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0771" y="21195982"/>
            <a:ext cx="25685115" cy="2502306"/>
          </a:xfr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390771" y="2705572"/>
            <a:ext cx="25685115" cy="18167985"/>
          </a:xfrm>
        </p:spPr>
        <p:txBody>
          <a:bodyPr/>
          <a:lstStyle>
            <a:lvl1pPr marL="0" indent="0">
              <a:buNone/>
              <a:defRPr sz="14600"/>
            </a:lvl1pPr>
            <a:lvl2pPr marL="2088215" indent="0">
              <a:buNone/>
              <a:defRPr sz="12800"/>
            </a:lvl2pPr>
            <a:lvl3pPr marL="4176431" indent="0">
              <a:buNone/>
              <a:defRPr sz="11000"/>
            </a:lvl3pPr>
            <a:lvl4pPr marL="6264646" indent="0">
              <a:buNone/>
              <a:defRPr sz="9100"/>
            </a:lvl4pPr>
            <a:lvl5pPr marL="8352861" indent="0">
              <a:buNone/>
              <a:defRPr sz="9100"/>
            </a:lvl5pPr>
            <a:lvl6pPr marL="10441076" indent="0">
              <a:buNone/>
              <a:defRPr sz="9100"/>
            </a:lvl6pPr>
            <a:lvl7pPr marL="12529292" indent="0">
              <a:buNone/>
              <a:defRPr sz="9100"/>
            </a:lvl7pPr>
            <a:lvl8pPr marL="14617507" indent="0">
              <a:buNone/>
              <a:defRPr sz="9100"/>
            </a:lvl8pPr>
            <a:lvl9pPr marL="16705722" indent="0">
              <a:buNone/>
              <a:defRPr sz="91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0771" y="23698288"/>
            <a:ext cx="25685115" cy="3553689"/>
          </a:xfrm>
        </p:spPr>
        <p:txBody>
          <a:bodyPr/>
          <a:lstStyle>
            <a:lvl1pPr marL="0" indent="0">
              <a:buNone/>
              <a:defRPr sz="6400"/>
            </a:lvl1pPr>
            <a:lvl2pPr marL="2088215" indent="0">
              <a:buNone/>
              <a:defRPr sz="5500"/>
            </a:lvl2pPr>
            <a:lvl3pPr marL="4176431" indent="0">
              <a:buNone/>
              <a:defRPr sz="4600"/>
            </a:lvl3pPr>
            <a:lvl4pPr marL="6264646" indent="0">
              <a:buNone/>
              <a:defRPr sz="4100"/>
            </a:lvl4pPr>
            <a:lvl5pPr marL="8352861" indent="0">
              <a:buNone/>
              <a:defRPr sz="4100"/>
            </a:lvl5pPr>
            <a:lvl6pPr marL="10441076" indent="0">
              <a:buNone/>
              <a:defRPr sz="4100"/>
            </a:lvl6pPr>
            <a:lvl7pPr marL="12529292" indent="0">
              <a:buNone/>
              <a:defRPr sz="4100"/>
            </a:lvl7pPr>
            <a:lvl8pPr marL="14617507" indent="0">
              <a:buNone/>
              <a:defRPr sz="4100"/>
            </a:lvl8pPr>
            <a:lvl9pPr marL="16705722" indent="0">
              <a:buNone/>
              <a:defRPr sz="4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742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512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5303730" y="5355072"/>
            <a:ext cx="45090158" cy="1140756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18386" y="5355072"/>
            <a:ext cx="134571871" cy="1140756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4522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40426" y="1212603"/>
            <a:ext cx="38527673" cy="5046663"/>
          </a:xfrm>
          <a:prstGeom prst="rect">
            <a:avLst/>
          </a:prstGeom>
        </p:spPr>
        <p:txBody>
          <a:bodyPr vert="horz" lIns="417643" tIns="208822" rIns="417643" bIns="208822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40426" y="7065330"/>
            <a:ext cx="38527673" cy="19983384"/>
          </a:xfrm>
          <a:prstGeom prst="rect">
            <a:avLst/>
          </a:prstGeom>
        </p:spPr>
        <p:txBody>
          <a:bodyPr vert="horz" lIns="417643" tIns="208822" rIns="417643" bIns="2088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40426" y="28065053"/>
            <a:ext cx="9988656" cy="1612128"/>
          </a:xfrm>
          <a:prstGeom prst="rect">
            <a:avLst/>
          </a:prstGeom>
        </p:spPr>
        <p:txBody>
          <a:bodyPr vert="horz" lIns="417643" tIns="208822" rIns="417643" bIns="208822" rtlCol="0" anchor="ctr"/>
          <a:lstStyle>
            <a:lvl1pPr algn="l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509B4A-2E11-444A-8FCE-E78873839832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626246" y="28065053"/>
            <a:ext cx="13556033" cy="1612128"/>
          </a:xfrm>
          <a:prstGeom prst="rect">
            <a:avLst/>
          </a:prstGeom>
        </p:spPr>
        <p:txBody>
          <a:bodyPr vert="horz" lIns="417643" tIns="208822" rIns="417643" bIns="208822" rtlCol="0" anchor="ctr"/>
          <a:lstStyle>
            <a:lvl1pPr algn="ct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679443" y="28065053"/>
            <a:ext cx="9988656" cy="1612128"/>
          </a:xfrm>
          <a:prstGeom prst="rect">
            <a:avLst/>
          </a:prstGeom>
        </p:spPr>
        <p:txBody>
          <a:bodyPr vert="horz" lIns="417643" tIns="208822" rIns="417643" bIns="208822" rtlCol="0" anchor="ctr"/>
          <a:lstStyle>
            <a:lvl1pPr algn="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FDB51B-AA44-4F9F-A0AA-8226646F0E0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506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76431" rtl="0" eaLnBrk="1" latinLnBrk="0" hangingPunct="1">
        <a:spcBef>
          <a:spcPct val="0"/>
        </a:spcBef>
        <a:buNone/>
        <a:defRPr sz="20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6161" indent="-1566161" algn="l" defTabSz="4176431" rtl="0" eaLnBrk="1" latinLnBrk="0" hangingPunct="1">
        <a:spcBef>
          <a:spcPct val="20000"/>
        </a:spcBef>
        <a:buFont typeface="Arial" pitchFamily="34" charset="0"/>
        <a:buChar char="•"/>
        <a:defRPr sz="14600" kern="1200">
          <a:solidFill>
            <a:schemeClr val="tx1"/>
          </a:solidFill>
          <a:latin typeface="+mn-lt"/>
          <a:ea typeface="+mn-ea"/>
          <a:cs typeface="+mn-cs"/>
        </a:defRPr>
      </a:lvl1pPr>
      <a:lvl2pPr marL="3393350" indent="-1305135" algn="l" defTabSz="4176431" rtl="0" eaLnBrk="1" latinLnBrk="0" hangingPunct="1">
        <a:spcBef>
          <a:spcPct val="20000"/>
        </a:spcBef>
        <a:buFont typeface="Arial" pitchFamily="34" charset="0"/>
        <a:buChar char="–"/>
        <a:defRPr sz="12800" kern="1200">
          <a:solidFill>
            <a:schemeClr val="tx1"/>
          </a:solidFill>
          <a:latin typeface="+mn-lt"/>
          <a:ea typeface="+mn-ea"/>
          <a:cs typeface="+mn-cs"/>
        </a:defRPr>
      </a:lvl2pPr>
      <a:lvl3pPr marL="5220538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308753" indent="-1044108" algn="l" defTabSz="4176431" rtl="0" eaLnBrk="1" latinLnBrk="0" hangingPunct="1">
        <a:spcBef>
          <a:spcPct val="20000"/>
        </a:spcBef>
        <a:buFont typeface="Arial" pitchFamily="34" charset="0"/>
        <a:buChar char="–"/>
        <a:defRPr sz="9100" kern="1200">
          <a:solidFill>
            <a:schemeClr val="tx1"/>
          </a:solidFill>
          <a:latin typeface="+mn-lt"/>
          <a:ea typeface="+mn-ea"/>
          <a:cs typeface="+mn-cs"/>
        </a:defRPr>
      </a:lvl4pPr>
      <a:lvl5pPr marL="9396969" indent="-1044108" algn="l" defTabSz="4176431" rtl="0" eaLnBrk="1" latinLnBrk="0" hangingPunct="1">
        <a:spcBef>
          <a:spcPct val="20000"/>
        </a:spcBef>
        <a:buFont typeface="Arial" pitchFamily="34" charset="0"/>
        <a:buChar char="»"/>
        <a:defRPr sz="9100" kern="1200">
          <a:solidFill>
            <a:schemeClr val="tx1"/>
          </a:solidFill>
          <a:latin typeface="+mn-lt"/>
          <a:ea typeface="+mn-ea"/>
          <a:cs typeface="+mn-cs"/>
        </a:defRPr>
      </a:lvl5pPr>
      <a:lvl6pPr marL="11485184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6pPr>
      <a:lvl7pPr marL="13573399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7pPr>
      <a:lvl8pPr marL="15661615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8pPr>
      <a:lvl9pPr marL="17749830" indent="-1044108" algn="l" defTabSz="4176431" rtl="0" eaLnBrk="1" latinLnBrk="0" hangingPunct="1">
        <a:spcBef>
          <a:spcPct val="20000"/>
        </a:spcBef>
        <a:buFont typeface="Arial" pitchFamily="34" charset="0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8215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76431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64646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52861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41076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529292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617507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705722" algn="l" defTabSz="4176431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4546601" y="25741728"/>
            <a:ext cx="13767838" cy="43921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would like to thank Dr. Ivan Ramler for his continued guidance and support of this project.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would also like to thank Dr. Cathy Crosby and the university’s IRB for their work in approving our methods of data collection.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Thank you to Josh Larson, Phoebe Jones, Cooper Olney, and Faith Rhinehart for wrangling and cleaning the powerlifting data.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Thank you to the St. Lawrence University Crew Team for their time, support, and consent to collect data from their winter training season.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94609" y="6355010"/>
            <a:ext cx="13767838" cy="153108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SCORE Network is a repository of educational materials for sports statistics and data science including access to modules and data to enhance learning and teaching.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SCORE Network is funded by the National Science Foundation (NSF).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Arial" panose="020B0604020202020204" pitchFamily="34" charset="0"/>
              </a:rPr>
              <a:t>The module repository has materials for students and teachers that are peer reviewed and published. 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2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2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Powerlifting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powerlifting module introduces a new form of nonparametric analysis that the SCORE Network was previously lacking. 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ANOVA (analysis of variance) is typically used for determining if there is a statistical discernibility between two or more groups, but can only be used when the groups are normally distributed.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In this case, the groups are not normally distributed, so the assumptions required to use ANOVA testing are violated and the Kruskal-Wallis test is used.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Rowing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The SCORE Network has a lack of modules for single proportions.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This module is aimed at filling that need for confidence intervals of proportions at an introductory level.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The data collected is a current team snapshot and can be further 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78594" y="6355012"/>
            <a:ext cx="13656134" cy="34150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Objectives </a:t>
            </a:r>
            <a:endParaRPr lang="en-US" sz="2800" dirty="0">
              <a:solidFill>
                <a:srgbClr val="000000"/>
              </a:solidFill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Determine if the lifting capacity for powerlifters is discernible between age classes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Run a test of multiple comparison (Dunn’s Test) to determine which groups are statistically discernible from each other</a:t>
            </a: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Create a visualization to easily show the trend in discernibility between age classes.</a:t>
            </a:r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0" y="16896"/>
            <a:ext cx="42808525" cy="5047536"/>
          </a:xfrm>
          <a:prstGeom prst="rect">
            <a:avLst/>
          </a:prstGeom>
          <a:solidFill>
            <a:schemeClr val="accent2">
              <a:alpha val="74902"/>
            </a:schemeClr>
          </a:solidFill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en-US" sz="9200" b="1" dirty="0">
                <a:latin typeface="Arial" panose="020B0604020202020204" pitchFamily="34" charset="0"/>
                <a:cs typeface="Arial" panose="020B0604020202020204" pitchFamily="34" charset="0"/>
              </a:rPr>
              <a:t>Nonparametric Analysis of Variance and Confidence Intervals</a:t>
            </a:r>
          </a:p>
          <a:p>
            <a:pPr algn="ctr"/>
            <a:r>
              <a:rPr lang="en-US" sz="8800" b="1" dirty="0">
                <a:latin typeface="Arial" panose="020B0604020202020204" pitchFamily="34" charset="0"/>
                <a:cs typeface="Arial" panose="020B0604020202020204" pitchFamily="34" charset="0"/>
              </a:rPr>
              <a:t>Building Modules for the SCORE Network</a:t>
            </a:r>
            <a:endParaRPr lang="en-US" sz="9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Keelin Joyce ‘26</a:t>
            </a:r>
            <a:endParaRPr lang="en-US" sz="5400" b="1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Advised by Dr. Ivan Ramler</a:t>
            </a:r>
          </a:p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Department of Mathematics, Computer Science, and Statistics at St. Lawrence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5283200"/>
            <a:ext cx="184666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157EB8-11EB-373B-133A-5D349E866D27}"/>
              </a:ext>
            </a:extLst>
          </p:cNvPr>
          <p:cNvSpPr txBox="1"/>
          <p:nvPr/>
        </p:nvSpPr>
        <p:spPr>
          <a:xfrm>
            <a:off x="369997" y="5346899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Powerlifting Analysis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AE265B-0527-AB1C-8FC4-EDE596BB452B}"/>
              </a:ext>
            </a:extLst>
          </p:cNvPr>
          <p:cNvSpPr txBox="1"/>
          <p:nvPr/>
        </p:nvSpPr>
        <p:spPr>
          <a:xfrm>
            <a:off x="14520343" y="5346899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SCORE Network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320527-904F-2BB5-627A-323165682290}"/>
              </a:ext>
            </a:extLst>
          </p:cNvPr>
          <p:cNvSpPr txBox="1"/>
          <p:nvPr/>
        </p:nvSpPr>
        <p:spPr>
          <a:xfrm>
            <a:off x="28670690" y="5346899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Rowing Analysis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92D8446-CA35-0C30-7EF1-95E552555C7F}"/>
              </a:ext>
            </a:extLst>
          </p:cNvPr>
          <p:cNvSpPr/>
          <p:nvPr/>
        </p:nvSpPr>
        <p:spPr>
          <a:xfrm>
            <a:off x="28631769" y="6501170"/>
            <a:ext cx="13767838" cy="35476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Motivation</a:t>
            </a:r>
            <a:endParaRPr lang="en-US" sz="44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During winter training, rowers practice using ergometers (ergs) to maintain and build fitness off of the water.</a:t>
            </a:r>
          </a:p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Ergs share many metrics of fitness including time and duration of th</a:t>
            </a: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 piece and instantly shares the rower’s split (time per 500 meters).</a:t>
            </a: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Rowers are encouraged to set “ambitious, yet achievable” goals before their piece, but the single proportion confidence interval tells us what proportion of athletes are setting ambitious goals.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6304A5-7E0E-AA52-BE67-F84E14139A26}"/>
              </a:ext>
            </a:extLst>
          </p:cNvPr>
          <p:cNvSpPr txBox="1"/>
          <p:nvPr/>
        </p:nvSpPr>
        <p:spPr>
          <a:xfrm>
            <a:off x="14491494" y="24873841"/>
            <a:ext cx="13751514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60" name="AutoShape 6">
            <a:extLst>
              <a:ext uri="{FF2B5EF4-FFF2-40B4-BE49-F238E27FC236}">
                <a16:creationId xmlns:a16="http://schemas.microsoft.com/office/drawing/2014/main" id="{D2761361-EC38-C617-42EB-729ADDB42C20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26915119" y="9406105"/>
            <a:ext cx="10629738" cy="1062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19FBBAEE-0F81-9248-06D6-4368D5FCE238}"/>
              </a:ext>
            </a:extLst>
          </p:cNvPr>
          <p:cNvSpPr/>
          <p:nvPr/>
        </p:nvSpPr>
        <p:spPr>
          <a:xfrm>
            <a:off x="634530" y="18358080"/>
            <a:ext cx="13656134" cy="41267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r>
              <a:rPr lang="en-US" sz="4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P-values</a:t>
            </a: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742950" lvl="1" indent="-28575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Because there are 14 groups each being compared with each other, there are too many p-values to determine whether they are statistically discernible. </a:t>
            </a:r>
          </a:p>
          <a:p>
            <a:pPr marL="742950" lvl="1" indent="-28575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easiest way to show this is using a visualization for significant vs. not significant. </a:t>
            </a:r>
          </a:p>
          <a:p>
            <a:pPr marL="742950" lvl="1" indent="-28575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heatmap of significant values show there is a general parabolic trend in lifting capacity between age classes meaning that there is a peak in performance and then a decline where older and younger groups are not discernible</a:t>
            </a:r>
            <a:endParaRPr lang="en-US" sz="300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37" name="Text Box 10">
            <a:extLst>
              <a:ext uri="{FF2B5EF4-FFF2-40B4-BE49-F238E27FC236}">
                <a16:creationId xmlns:a16="http://schemas.microsoft.com/office/drawing/2014/main" id="{86F4C3A2-B982-1848-7B3B-74713B744C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048" y="29493865"/>
            <a:ext cx="13656134" cy="4014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486" tIns="38743" rIns="77486" bIns="38743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/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Figure 1. Dunn’s Test Results Visualization</a:t>
            </a:r>
            <a:endParaRPr lang="en-CA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2" name="Text Box 10">
            <a:extLst>
              <a:ext uri="{FF2B5EF4-FFF2-40B4-BE49-F238E27FC236}">
                <a16:creationId xmlns:a16="http://schemas.microsoft.com/office/drawing/2014/main" id="{F84D52CF-18F2-68F2-B34C-3A011A10E9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32877" y="29788251"/>
            <a:ext cx="13713008" cy="4014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486" tIns="38743" rIns="77486" bIns="38743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/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Figure 2. Visualization of Goal Achievement by Split Time</a:t>
            </a:r>
            <a:endParaRPr lang="en-CA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63" name="Straight Connector 1062">
            <a:extLst>
              <a:ext uri="{FF2B5EF4-FFF2-40B4-BE49-F238E27FC236}">
                <a16:creationId xmlns:a16="http://schemas.microsoft.com/office/drawing/2014/main" id="{8FACCE2B-9310-3550-E4F7-36B854CF3AFD}"/>
              </a:ext>
            </a:extLst>
          </p:cNvPr>
          <p:cNvCxnSpPr/>
          <p:nvPr/>
        </p:nvCxnSpPr>
        <p:spPr>
          <a:xfrm>
            <a:off x="14290664" y="6430206"/>
            <a:ext cx="0" cy="23732065"/>
          </a:xfrm>
          <a:prstGeom prst="line">
            <a:avLst/>
          </a:prstGeom>
          <a:ln w="9525">
            <a:solidFill>
              <a:schemeClr val="accent3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4" name="Straight Connector 1063">
            <a:extLst>
              <a:ext uri="{FF2B5EF4-FFF2-40B4-BE49-F238E27FC236}">
                <a16:creationId xmlns:a16="http://schemas.microsoft.com/office/drawing/2014/main" id="{C0455972-CAF8-84FF-6439-FF7A2EED03F1}"/>
              </a:ext>
            </a:extLst>
          </p:cNvPr>
          <p:cNvCxnSpPr/>
          <p:nvPr/>
        </p:nvCxnSpPr>
        <p:spPr>
          <a:xfrm>
            <a:off x="28436528" y="6401801"/>
            <a:ext cx="0" cy="23732065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E4C33A6-C213-B5B0-DE57-2D913FEED203}"/>
              </a:ext>
            </a:extLst>
          </p:cNvPr>
          <p:cNvSpPr txBox="1"/>
          <p:nvPr/>
        </p:nvSpPr>
        <p:spPr>
          <a:xfrm>
            <a:off x="322307" y="17044069"/>
            <a:ext cx="13751514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Dunn’s Test and Visualization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07C826-C734-131A-6DAE-E67683469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73" y="-1925176"/>
            <a:ext cx="7511177" cy="972034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D7A72A7-E565-E4C3-4F61-F6D3BB4DF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89381" y="-1853901"/>
            <a:ext cx="7511177" cy="972034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3555E66-24E9-56BF-0EE5-A3F23CA327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2022" y="22412795"/>
            <a:ext cx="9974116" cy="7056784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775E83E-5044-91E4-9222-29FAB91AD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53156" y="21277598"/>
            <a:ext cx="12029025" cy="851065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CEB6B69-2DFF-A800-6B71-02CC2F98A849}"/>
              </a:ext>
            </a:extLst>
          </p:cNvPr>
          <p:cNvSpPr txBox="1"/>
          <p:nvPr/>
        </p:nvSpPr>
        <p:spPr>
          <a:xfrm>
            <a:off x="305983" y="9837642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Kruskal-Wallis Testing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399FE9-9C13-5581-3A68-117C7DB0B219}"/>
              </a:ext>
            </a:extLst>
          </p:cNvPr>
          <p:cNvSpPr/>
          <p:nvPr/>
        </p:nvSpPr>
        <p:spPr>
          <a:xfrm>
            <a:off x="378594" y="12264339"/>
            <a:ext cx="13656134" cy="43158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2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0000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The Kruskal-Wallis test is a nonparametric analysis of variance that determines if groups are statistically discernible. 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The hypotheses for testing are similar to those of ANOVA testing.</a:t>
            </a: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000000"/>
              </a:solidFill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30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3000" dirty="0">
              <a:solidFill>
                <a:srgbClr val="000000"/>
              </a:solidFill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  <a:p>
            <a:pPr marL="457200" indent="-457200" algn="l"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The test resulted in p-value &lt; 2.2e-16 indicating at least one group is statistically discernible from another and we should reject the null hypothesis.</a:t>
            </a:r>
          </a:p>
          <a:p>
            <a:pPr algn="l" rtl="0" fontAlgn="base"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ea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Box 10">
            <a:extLst>
              <a:ext uri="{FF2B5EF4-FFF2-40B4-BE49-F238E27FC236}">
                <a16:creationId xmlns:a16="http://schemas.microsoft.com/office/drawing/2014/main" id="{4211B928-5237-5C09-3E3E-DA13F0B4AB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6128" y="16785776"/>
            <a:ext cx="3100909" cy="4014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486" tIns="38743" rIns="77486" bIns="38743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/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QR Code for data</a:t>
            </a:r>
            <a:endParaRPr lang="en-CA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7F4ABE18-5A26-0D43-BE76-448B508327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423" y="26229219"/>
            <a:ext cx="2742807" cy="2742807"/>
          </a:xfrm>
          <a:prstGeom prst="rect">
            <a:avLst/>
          </a:prstGeom>
        </p:spPr>
      </p:pic>
      <p:sp>
        <p:nvSpPr>
          <p:cNvPr id="45" name="Text Box 10">
            <a:extLst>
              <a:ext uri="{FF2B5EF4-FFF2-40B4-BE49-F238E27FC236}">
                <a16:creationId xmlns:a16="http://schemas.microsoft.com/office/drawing/2014/main" id="{DA4BEDAA-61D6-D48D-40FE-317BD29DF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345" y="29109539"/>
            <a:ext cx="3100909" cy="7245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486" tIns="38743" rIns="77486" bIns="38743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 eaLnBrk="1" hangingPunct="1"/>
            <a:r>
              <a:rPr lang="en-US" sz="2100" b="1" dirty="0">
                <a:latin typeface="Arial" panose="020B0604020202020204" pitchFamily="34" charset="0"/>
                <a:cs typeface="Arial" panose="020B0604020202020204" pitchFamily="34" charset="0"/>
              </a:rPr>
              <a:t>QR Code for *preprint* module</a:t>
            </a:r>
            <a:endParaRPr lang="en-CA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7" name="Picture 46" descr="A gold medal with red and white stripes&#10;&#10;Description automatically generated">
            <a:extLst>
              <a:ext uri="{FF2B5EF4-FFF2-40B4-BE49-F238E27FC236}">
                <a16:creationId xmlns:a16="http://schemas.microsoft.com/office/drawing/2014/main" id="{9816EB6B-ED0D-41CA-BD23-D712B16C99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6156" y="10186119"/>
            <a:ext cx="6286500" cy="34417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C1C420E-1F55-3802-FBCE-35F97BAD616E}"/>
                  </a:ext>
                </a:extLst>
              </p:cNvPr>
              <p:cNvSpPr/>
              <p:nvPr/>
            </p:nvSpPr>
            <p:spPr>
              <a:xfrm>
                <a:off x="28677069" y="12150437"/>
                <a:ext cx="9346201" cy="176541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457200" indent="-457200" algn="l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3000" b="0" i="0" u="none" strike="noStrike" dirty="0">
                    <a:solidFill>
                      <a:srgbClr val="000000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Estimating the proportion of athletes that meet or exceed their goal for a test piece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Our parameter of interest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3000" i="1"/>
                        </m:ctrlPr>
                      </m:accPr>
                      <m:e>
                        <m:r>
                          <a:rPr lang="en-US" sz="3000" i="1"/>
                          <m:t>𝑝</m:t>
                        </m:r>
                      </m:e>
                    </m:acc>
                  </m:oMath>
                </a14:m>
                <a:r>
                  <a:rPr lang="en-US" sz="3200" dirty="0">
                    <a:effectLst/>
                  </a:rPr>
                  <a:t>) is the true proportion of rowers that meet or exceed their goal</a:t>
                </a:r>
                <a:endParaRPr lang="en-US" sz="3000" b="0" i="0" u="none" strike="noStrike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C1C420E-1F55-3802-FBCE-35F97BAD61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7069" y="12150437"/>
                <a:ext cx="9346201" cy="1765414"/>
              </a:xfrm>
              <a:prstGeom prst="rect">
                <a:avLst/>
              </a:prstGeom>
              <a:blipFill>
                <a:blip r:embed="rId7"/>
                <a:stretch>
                  <a:fillRect l="-1357" t="-10000" r="-407" b="-1714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0" name="Picture 49">
            <a:extLst>
              <a:ext uri="{FF2B5EF4-FFF2-40B4-BE49-F238E27FC236}">
                <a16:creationId xmlns:a16="http://schemas.microsoft.com/office/drawing/2014/main" id="{C687A6A8-2C0B-6F57-D6D1-17EAD1E17B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4961" y="13877926"/>
            <a:ext cx="13024661" cy="16354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0022BD-BCCE-DFF3-85A2-517B7605D9E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4842" b="11032"/>
          <a:stretch/>
        </p:blipFill>
        <p:spPr>
          <a:xfrm>
            <a:off x="2375681" y="10906355"/>
            <a:ext cx="9801166" cy="135331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0AD28F2-3FC1-BAD0-81F0-ED5FB54A760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42993" y="14190877"/>
            <a:ext cx="9946224" cy="2965334"/>
          </a:xfrm>
          <a:prstGeom prst="rect">
            <a:avLst/>
          </a:prstGeom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7ED2883E-0C25-9FDA-9F6D-9BA6F6C98F6A}"/>
              </a:ext>
            </a:extLst>
          </p:cNvPr>
          <p:cNvSpPr/>
          <p:nvPr/>
        </p:nvSpPr>
        <p:spPr>
          <a:xfrm>
            <a:off x="28558618" y="17964442"/>
            <a:ext cx="13615376" cy="37014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scatterplot shows rowers’ goals compared to the split (time per 500 meters) that they achieved on that piece.</a:t>
            </a:r>
          </a:p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confidence interval and visualization show that many athletes are meeting their goals during test pieces indicating that they should reassess how ambitious their aim is.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893A5802-7BF3-77FF-5812-1A69999519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397031" y="11188808"/>
            <a:ext cx="5379374" cy="2727043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4B9C720-9B21-F401-D74B-572E7DDE16A3}"/>
              </a:ext>
            </a:extLst>
          </p:cNvPr>
          <p:cNvSpPr txBox="1"/>
          <p:nvPr/>
        </p:nvSpPr>
        <p:spPr>
          <a:xfrm>
            <a:off x="28706059" y="10498402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Confidence Intervals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ADC2838A-C632-2154-EBE1-C88D86E8F21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866128" y="13656736"/>
            <a:ext cx="3067427" cy="3067427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0C49C76-A1A6-968A-6153-1C03F86EFB00}"/>
              </a:ext>
            </a:extLst>
          </p:cNvPr>
          <p:cNvSpPr txBox="1"/>
          <p:nvPr/>
        </p:nvSpPr>
        <p:spPr>
          <a:xfrm>
            <a:off x="28670690" y="17601033"/>
            <a:ext cx="13760147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Visualizing Results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C2E86E9-F9DB-4831-F6A7-347FAAF2069F}"/>
              </a:ext>
            </a:extLst>
          </p:cNvPr>
          <p:cNvSpPr txBox="1"/>
          <p:nvPr/>
        </p:nvSpPr>
        <p:spPr>
          <a:xfrm>
            <a:off x="14549192" y="21288539"/>
            <a:ext cx="13767838" cy="92333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Discussion</a:t>
            </a: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CF6229E9-4584-78CC-353C-1EE507E79CE6}"/>
              </a:ext>
            </a:extLst>
          </p:cNvPr>
          <p:cNvSpPr/>
          <p:nvPr/>
        </p:nvSpPr>
        <p:spPr>
          <a:xfrm>
            <a:off x="14815266" y="22236155"/>
            <a:ext cx="12774723" cy="2480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This poster explores multiple modules containing differed topics of sports statistics and their relevance in learning statistical and data science concepts.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goal is to further these repositories and continue to add statistical topics for teaching.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109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23198</TotalTime>
  <Words>742</Words>
  <Application>Microsoft Macintosh PowerPoint</Application>
  <PresentationFormat>Custom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>TOSHIBA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Mindy Pitre</dc:creator>
  <cp:keywords/>
  <dc:description/>
  <cp:lastModifiedBy>Keelin Joyce</cp:lastModifiedBy>
  <cp:revision>120</cp:revision>
  <cp:lastPrinted>2024-04-18T13:55:17Z</cp:lastPrinted>
  <dcterms:created xsi:type="dcterms:W3CDTF">2012-11-30T16:49:47Z</dcterms:created>
  <dcterms:modified xsi:type="dcterms:W3CDTF">2026-04-13T14:31:20Z</dcterms:modified>
  <cp:category/>
</cp:coreProperties>
</file>