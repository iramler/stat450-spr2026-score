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0_CAC8111D.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42808525" cy="30279975"/>
  <p:notesSz cx="6858000" cy="9144000"/>
  <p:defaultTextStyle>
    <a:defPPr>
      <a:defRPr lang="en-US"/>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7">
          <p15:clr>
            <a:srgbClr val="A4A3A4"/>
          </p15:clr>
        </p15:guide>
        <p15:guide id="2" pos="13483">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8AC820-044B-0798-D9CC-D44C4EB0E508}" name="Keelin Joyce" initials="KJ" userId="S::kjoyc22@stlawu.edu::1e767e3b-81c5-43cc-b057-c8fb551bb60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63A01F"/>
    <a:srgbClr val="6BAD21"/>
    <a:srgbClr val="77B242"/>
    <a:srgbClr val="4C9537"/>
    <a:srgbClr val="FFCC00"/>
    <a:srgbClr val="C0794E"/>
    <a:srgbClr val="FFFF99"/>
    <a:srgbClr val="FFCC66"/>
    <a:srgbClr val="FFFFFF"/>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985"/>
    <p:restoredTop sz="96143" autoAdjust="0"/>
  </p:normalViewPr>
  <p:slideViewPr>
    <p:cSldViewPr>
      <p:cViewPr>
        <p:scale>
          <a:sx n="30" d="100"/>
          <a:sy n="30" d="100"/>
        </p:scale>
        <p:origin x="1928" y="-64"/>
      </p:cViewPr>
      <p:guideLst>
        <p:guide orient="horz" pos="9537"/>
        <p:guide pos="13483"/>
      </p:guideLst>
    </p:cSldViewPr>
  </p:slideViewPr>
  <p:notesTextViewPr>
    <p:cViewPr>
      <p:scale>
        <a:sx n="1" d="1"/>
        <a:sy n="1" d="1"/>
      </p:scale>
      <p:origin x="0" y="0"/>
    </p:cViewPr>
  </p:notesTextViewPr>
  <p:sorterViewPr>
    <p:cViewPr>
      <p:scale>
        <a:sx n="200" d="100"/>
        <a:sy n="200" d="100"/>
      </p:scale>
      <p:origin x="0" y="3224"/>
    </p:cViewPr>
  </p:sorterViewPr>
  <p:gridSpacing cx="72008" cy="72008"/>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omments/modernComment_100_CAC8111D.xml><?xml version="1.0" encoding="utf-8"?>
<p188:cmLst xmlns:a="http://schemas.openxmlformats.org/drawingml/2006/main" xmlns:r="http://schemas.openxmlformats.org/officeDocument/2006/relationships" xmlns:p188="http://schemas.microsoft.com/office/powerpoint/2018/8/main">
  <p188:cm id="{93DB5D02-4641-A246-B262-68EDFDC45DF7}" authorId="{208AC820-044B-0798-D9CC-D44C4EB0E508}" created="2026-04-13T14:52:39.519">
    <ac:deMkLst xmlns:ac="http://schemas.microsoft.com/office/drawing/2013/main/command">
      <pc:docMk xmlns:pc="http://schemas.microsoft.com/office/powerpoint/2013/main/command"/>
      <pc:sldMk xmlns:pc="http://schemas.microsoft.com/office/powerpoint/2013/main/command" cId="3402109213" sldId="256"/>
      <ac:picMk id="34" creationId="{E775E83E-5044-91E4-9222-29FAB91ADB4A}"/>
    </ac:deMkLst>
    <p188:txBody>
      <a:bodyPr/>
      <a:lstStyle/>
      <a:p>
        <a:r>
          <a:rPr lang="en-US"/>
          <a:t>distance from goal</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4C5C40-2CF4-9E43-AD3B-E28128E66910}" type="datetimeFigureOut">
              <a:rPr lang="en-US" smtClean="0"/>
              <a:t>4/14/26</a:t>
            </a:fld>
            <a:endParaRPr lang="en-US"/>
          </a:p>
        </p:txBody>
      </p:sp>
      <p:sp>
        <p:nvSpPr>
          <p:cNvPr id="4" name="Slide Image Placehold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695B12-7B50-2641-8F1E-2C63C8062427}" type="slidenum">
              <a:rPr lang="en-US" smtClean="0"/>
              <a:t>‹#›</a:t>
            </a:fld>
            <a:endParaRPr lang="en-US"/>
          </a:p>
        </p:txBody>
      </p:sp>
    </p:spTree>
    <p:extLst>
      <p:ext uri="{BB962C8B-B14F-4D97-AF65-F5344CB8AC3E}">
        <p14:creationId xmlns:p14="http://schemas.microsoft.com/office/powerpoint/2010/main" val="3623910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10640" y="9406420"/>
            <a:ext cx="36387246" cy="6490569"/>
          </a:xfrm>
        </p:spPr>
        <p:txBody>
          <a:bodyPr/>
          <a:lstStyle/>
          <a:p>
            <a:r>
              <a:rPr lang="en-US"/>
              <a:t>Click to edit Master title style</a:t>
            </a:r>
            <a:endParaRPr lang="en-CA"/>
          </a:p>
        </p:txBody>
      </p:sp>
      <p:sp>
        <p:nvSpPr>
          <p:cNvPr id="3" name="Subtitle 2"/>
          <p:cNvSpPr>
            <a:spLocks noGrp="1"/>
          </p:cNvSpPr>
          <p:nvPr>
            <p:ph type="subTitle" idx="1"/>
          </p:nvPr>
        </p:nvSpPr>
        <p:spPr>
          <a:xfrm>
            <a:off x="6421279" y="17158652"/>
            <a:ext cx="29965968" cy="7738216"/>
          </a:xfrm>
        </p:spPr>
        <p:txBody>
          <a:bodyPr/>
          <a:lstStyle>
            <a:lvl1pPr marL="0" indent="0" algn="ctr">
              <a:buNone/>
              <a:defRPr>
                <a:solidFill>
                  <a:schemeClr val="tx1">
                    <a:tint val="75000"/>
                  </a:schemeClr>
                </a:solidFill>
              </a:defRPr>
            </a:lvl1pPr>
            <a:lvl2pPr marL="2088215" indent="0" algn="ctr">
              <a:buNone/>
              <a:defRPr>
                <a:solidFill>
                  <a:schemeClr val="tx1">
                    <a:tint val="75000"/>
                  </a:schemeClr>
                </a:solidFill>
              </a:defRPr>
            </a:lvl2pPr>
            <a:lvl3pPr marL="4176431" indent="0" algn="ctr">
              <a:buNone/>
              <a:defRPr>
                <a:solidFill>
                  <a:schemeClr val="tx1">
                    <a:tint val="75000"/>
                  </a:schemeClr>
                </a:solidFill>
              </a:defRPr>
            </a:lvl3pPr>
            <a:lvl4pPr marL="6264646" indent="0" algn="ctr">
              <a:buNone/>
              <a:defRPr>
                <a:solidFill>
                  <a:schemeClr val="tx1">
                    <a:tint val="75000"/>
                  </a:schemeClr>
                </a:solidFill>
              </a:defRPr>
            </a:lvl4pPr>
            <a:lvl5pPr marL="8352861" indent="0" algn="ctr">
              <a:buNone/>
              <a:defRPr>
                <a:solidFill>
                  <a:schemeClr val="tx1">
                    <a:tint val="75000"/>
                  </a:schemeClr>
                </a:solidFill>
              </a:defRPr>
            </a:lvl5pPr>
            <a:lvl6pPr marL="10441076" indent="0" algn="ctr">
              <a:buNone/>
              <a:defRPr>
                <a:solidFill>
                  <a:schemeClr val="tx1">
                    <a:tint val="75000"/>
                  </a:schemeClr>
                </a:solidFill>
              </a:defRPr>
            </a:lvl6pPr>
            <a:lvl7pPr marL="12529292" indent="0" algn="ctr">
              <a:buNone/>
              <a:defRPr>
                <a:solidFill>
                  <a:schemeClr val="tx1">
                    <a:tint val="75000"/>
                  </a:schemeClr>
                </a:solidFill>
              </a:defRPr>
            </a:lvl7pPr>
            <a:lvl8pPr marL="14617507" indent="0" algn="ctr">
              <a:buNone/>
              <a:defRPr>
                <a:solidFill>
                  <a:schemeClr val="tx1">
                    <a:tint val="75000"/>
                  </a:schemeClr>
                </a:solidFill>
              </a:defRPr>
            </a:lvl8pPr>
            <a:lvl9pPr marL="16705722"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B7509B4A-2E11-444A-8FCE-E78873839832}" type="datetimeFigureOut">
              <a:rPr lang="en-CA" smtClean="0"/>
              <a:t>2026-04-14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218316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B7509B4A-2E11-444A-8FCE-E78873839832}" type="datetimeFigureOut">
              <a:rPr lang="en-CA" smtClean="0"/>
              <a:t>2026-04-14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656092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81579" y="19457690"/>
            <a:ext cx="36387246" cy="6013939"/>
          </a:xfrm>
        </p:spPr>
        <p:txBody>
          <a:bodyPr anchor="t"/>
          <a:lstStyle>
            <a:lvl1pPr algn="l">
              <a:defRPr sz="18300" b="1" cap="all"/>
            </a:lvl1pPr>
          </a:lstStyle>
          <a:p>
            <a:r>
              <a:rPr lang="en-US"/>
              <a:t>Click to edit Master title style</a:t>
            </a:r>
            <a:endParaRPr lang="en-CA"/>
          </a:p>
        </p:txBody>
      </p:sp>
      <p:sp>
        <p:nvSpPr>
          <p:cNvPr id="3" name="Text Placeholder 2"/>
          <p:cNvSpPr>
            <a:spLocks noGrp="1"/>
          </p:cNvSpPr>
          <p:nvPr>
            <p:ph type="body" idx="1"/>
          </p:nvPr>
        </p:nvSpPr>
        <p:spPr>
          <a:xfrm>
            <a:off x="3381579" y="12833948"/>
            <a:ext cx="36387246" cy="6623742"/>
          </a:xfrm>
        </p:spPr>
        <p:txBody>
          <a:bodyPr anchor="b"/>
          <a:lstStyle>
            <a:lvl1pPr marL="0" indent="0">
              <a:buNone/>
              <a:defRPr sz="9100">
                <a:solidFill>
                  <a:schemeClr val="tx1">
                    <a:tint val="75000"/>
                  </a:schemeClr>
                </a:solidFill>
              </a:defRPr>
            </a:lvl1pPr>
            <a:lvl2pPr marL="2088215" indent="0">
              <a:buNone/>
              <a:defRPr sz="8200">
                <a:solidFill>
                  <a:schemeClr val="tx1">
                    <a:tint val="75000"/>
                  </a:schemeClr>
                </a:solidFill>
              </a:defRPr>
            </a:lvl2pPr>
            <a:lvl3pPr marL="4176431" indent="0">
              <a:buNone/>
              <a:defRPr sz="7300">
                <a:solidFill>
                  <a:schemeClr val="tx1">
                    <a:tint val="75000"/>
                  </a:schemeClr>
                </a:solidFill>
              </a:defRPr>
            </a:lvl3pPr>
            <a:lvl4pPr marL="6264646" indent="0">
              <a:buNone/>
              <a:defRPr sz="6400">
                <a:solidFill>
                  <a:schemeClr val="tx1">
                    <a:tint val="75000"/>
                  </a:schemeClr>
                </a:solidFill>
              </a:defRPr>
            </a:lvl4pPr>
            <a:lvl5pPr marL="8352861" indent="0">
              <a:buNone/>
              <a:defRPr sz="6400">
                <a:solidFill>
                  <a:schemeClr val="tx1">
                    <a:tint val="75000"/>
                  </a:schemeClr>
                </a:solidFill>
              </a:defRPr>
            </a:lvl5pPr>
            <a:lvl6pPr marL="10441076" indent="0">
              <a:buNone/>
              <a:defRPr sz="6400">
                <a:solidFill>
                  <a:schemeClr val="tx1">
                    <a:tint val="75000"/>
                  </a:schemeClr>
                </a:solidFill>
              </a:defRPr>
            </a:lvl6pPr>
            <a:lvl7pPr marL="12529292" indent="0">
              <a:buNone/>
              <a:defRPr sz="6400">
                <a:solidFill>
                  <a:schemeClr val="tx1">
                    <a:tint val="75000"/>
                  </a:schemeClr>
                </a:solidFill>
              </a:defRPr>
            </a:lvl7pPr>
            <a:lvl8pPr marL="14617507" indent="0">
              <a:buNone/>
              <a:defRPr sz="6400">
                <a:solidFill>
                  <a:schemeClr val="tx1">
                    <a:tint val="75000"/>
                  </a:schemeClr>
                </a:solidFill>
              </a:defRPr>
            </a:lvl8pPr>
            <a:lvl9pPr marL="16705722" indent="0">
              <a:buNone/>
              <a:defRPr sz="6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509B4A-2E11-444A-8FCE-E78873839832}" type="datetimeFigureOut">
              <a:rPr lang="en-CA" smtClean="0"/>
              <a:t>2026-04-14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2077161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10018386" y="31198189"/>
            <a:ext cx="89831017" cy="88232483"/>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100562876" y="31198189"/>
            <a:ext cx="89831012" cy="88232483"/>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B7509B4A-2E11-444A-8FCE-E78873839832}" type="datetimeFigureOut">
              <a:rPr lang="en-CA" smtClean="0"/>
              <a:t>2026-04-14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2493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40426" y="1212603"/>
            <a:ext cx="38527673" cy="5046663"/>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2140426" y="6777950"/>
            <a:ext cx="18914533" cy="2824727"/>
          </a:xfrm>
        </p:spPr>
        <p:txBody>
          <a:bodyPr anchor="b"/>
          <a:lstStyle>
            <a:lvl1pPr marL="0" indent="0">
              <a:buNone/>
              <a:defRPr sz="11000" b="1"/>
            </a:lvl1pPr>
            <a:lvl2pPr marL="2088215" indent="0">
              <a:buNone/>
              <a:defRPr sz="9100" b="1"/>
            </a:lvl2pPr>
            <a:lvl3pPr marL="4176431" indent="0">
              <a:buNone/>
              <a:defRPr sz="8200" b="1"/>
            </a:lvl3pPr>
            <a:lvl4pPr marL="6264646" indent="0">
              <a:buNone/>
              <a:defRPr sz="7300" b="1"/>
            </a:lvl4pPr>
            <a:lvl5pPr marL="8352861" indent="0">
              <a:buNone/>
              <a:defRPr sz="7300" b="1"/>
            </a:lvl5pPr>
            <a:lvl6pPr marL="10441076" indent="0">
              <a:buNone/>
              <a:defRPr sz="7300" b="1"/>
            </a:lvl6pPr>
            <a:lvl7pPr marL="12529292" indent="0">
              <a:buNone/>
              <a:defRPr sz="7300" b="1"/>
            </a:lvl7pPr>
            <a:lvl8pPr marL="14617507" indent="0">
              <a:buNone/>
              <a:defRPr sz="7300" b="1"/>
            </a:lvl8pPr>
            <a:lvl9pPr marL="16705722" indent="0">
              <a:buNone/>
              <a:defRPr sz="7300" b="1"/>
            </a:lvl9pPr>
          </a:lstStyle>
          <a:p>
            <a:pPr lvl="0"/>
            <a:r>
              <a:rPr lang="en-US"/>
              <a:t>Click to edit Master text styles</a:t>
            </a:r>
          </a:p>
        </p:txBody>
      </p:sp>
      <p:sp>
        <p:nvSpPr>
          <p:cNvPr id="4" name="Content Placeholder 3"/>
          <p:cNvSpPr>
            <a:spLocks noGrp="1"/>
          </p:cNvSpPr>
          <p:nvPr>
            <p:ph sz="half" idx="2"/>
          </p:nvPr>
        </p:nvSpPr>
        <p:spPr>
          <a:xfrm>
            <a:off x="2140426" y="9602677"/>
            <a:ext cx="18914533" cy="17446034"/>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21746138" y="6777950"/>
            <a:ext cx="18921963" cy="2824727"/>
          </a:xfrm>
        </p:spPr>
        <p:txBody>
          <a:bodyPr anchor="b"/>
          <a:lstStyle>
            <a:lvl1pPr marL="0" indent="0">
              <a:buNone/>
              <a:defRPr sz="11000" b="1"/>
            </a:lvl1pPr>
            <a:lvl2pPr marL="2088215" indent="0">
              <a:buNone/>
              <a:defRPr sz="9100" b="1"/>
            </a:lvl2pPr>
            <a:lvl3pPr marL="4176431" indent="0">
              <a:buNone/>
              <a:defRPr sz="8200" b="1"/>
            </a:lvl3pPr>
            <a:lvl4pPr marL="6264646" indent="0">
              <a:buNone/>
              <a:defRPr sz="7300" b="1"/>
            </a:lvl4pPr>
            <a:lvl5pPr marL="8352861" indent="0">
              <a:buNone/>
              <a:defRPr sz="7300" b="1"/>
            </a:lvl5pPr>
            <a:lvl6pPr marL="10441076" indent="0">
              <a:buNone/>
              <a:defRPr sz="7300" b="1"/>
            </a:lvl6pPr>
            <a:lvl7pPr marL="12529292" indent="0">
              <a:buNone/>
              <a:defRPr sz="7300" b="1"/>
            </a:lvl7pPr>
            <a:lvl8pPr marL="14617507" indent="0">
              <a:buNone/>
              <a:defRPr sz="7300" b="1"/>
            </a:lvl8pPr>
            <a:lvl9pPr marL="16705722" indent="0">
              <a:buNone/>
              <a:defRPr sz="7300" b="1"/>
            </a:lvl9pPr>
          </a:lstStyle>
          <a:p>
            <a:pPr lvl="0"/>
            <a:r>
              <a:rPr lang="en-US"/>
              <a:t>Click to edit Master text styles</a:t>
            </a:r>
          </a:p>
        </p:txBody>
      </p:sp>
      <p:sp>
        <p:nvSpPr>
          <p:cNvPr id="6" name="Content Placeholder 5"/>
          <p:cNvSpPr>
            <a:spLocks noGrp="1"/>
          </p:cNvSpPr>
          <p:nvPr>
            <p:ph sz="quarter" idx="4"/>
          </p:nvPr>
        </p:nvSpPr>
        <p:spPr>
          <a:xfrm>
            <a:off x="21746138" y="9602677"/>
            <a:ext cx="18921963" cy="17446034"/>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B7509B4A-2E11-444A-8FCE-E78873839832}" type="datetimeFigureOut">
              <a:rPr lang="en-CA" smtClean="0"/>
              <a:t>2026-04-14</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840106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B7509B4A-2E11-444A-8FCE-E78873839832}" type="datetimeFigureOut">
              <a:rPr lang="en-CA" smtClean="0"/>
              <a:t>2026-04-14</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165636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509B4A-2E11-444A-8FCE-E78873839832}" type="datetimeFigureOut">
              <a:rPr lang="en-CA" smtClean="0"/>
              <a:t>2026-04-14</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2044070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0428" y="1205591"/>
            <a:ext cx="14083710" cy="5130774"/>
          </a:xfrm>
        </p:spPr>
        <p:txBody>
          <a:bodyPr anchor="b"/>
          <a:lstStyle>
            <a:lvl1pPr algn="l">
              <a:defRPr sz="9100" b="1"/>
            </a:lvl1pPr>
          </a:lstStyle>
          <a:p>
            <a:r>
              <a:rPr lang="en-US"/>
              <a:t>Click to edit Master title style</a:t>
            </a:r>
            <a:endParaRPr lang="en-CA"/>
          </a:p>
        </p:txBody>
      </p:sp>
      <p:sp>
        <p:nvSpPr>
          <p:cNvPr id="3" name="Content Placeholder 2"/>
          <p:cNvSpPr>
            <a:spLocks noGrp="1"/>
          </p:cNvSpPr>
          <p:nvPr>
            <p:ph idx="1"/>
          </p:nvPr>
        </p:nvSpPr>
        <p:spPr>
          <a:xfrm>
            <a:off x="16736944" y="1205594"/>
            <a:ext cx="23931155" cy="25843120"/>
          </a:xfrm>
        </p:spPr>
        <p:txBody>
          <a:bodyPr/>
          <a:lstStyle>
            <a:lvl1pPr>
              <a:defRPr sz="14600"/>
            </a:lvl1pPr>
            <a:lvl2pPr>
              <a:defRPr sz="12800"/>
            </a:lvl2pPr>
            <a:lvl3pPr>
              <a:defRPr sz="11000"/>
            </a:lvl3pPr>
            <a:lvl4pPr>
              <a:defRPr sz="9100"/>
            </a:lvl4pPr>
            <a:lvl5pPr>
              <a:defRPr sz="9100"/>
            </a:lvl5pPr>
            <a:lvl6pPr>
              <a:defRPr sz="9100"/>
            </a:lvl6pPr>
            <a:lvl7pPr>
              <a:defRPr sz="9100"/>
            </a:lvl7pPr>
            <a:lvl8pPr>
              <a:defRPr sz="9100"/>
            </a:lvl8pPr>
            <a:lvl9pPr>
              <a:defRPr sz="9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2140428" y="6336367"/>
            <a:ext cx="14083710" cy="20712346"/>
          </a:xfrm>
        </p:spPr>
        <p:txBody>
          <a:bodyPr/>
          <a:lstStyle>
            <a:lvl1pPr marL="0" indent="0">
              <a:buNone/>
              <a:defRPr sz="6400"/>
            </a:lvl1pPr>
            <a:lvl2pPr marL="2088215" indent="0">
              <a:buNone/>
              <a:defRPr sz="5500"/>
            </a:lvl2pPr>
            <a:lvl3pPr marL="4176431" indent="0">
              <a:buNone/>
              <a:defRPr sz="4600"/>
            </a:lvl3pPr>
            <a:lvl4pPr marL="6264646" indent="0">
              <a:buNone/>
              <a:defRPr sz="4100"/>
            </a:lvl4pPr>
            <a:lvl5pPr marL="8352861" indent="0">
              <a:buNone/>
              <a:defRPr sz="4100"/>
            </a:lvl5pPr>
            <a:lvl6pPr marL="10441076" indent="0">
              <a:buNone/>
              <a:defRPr sz="4100"/>
            </a:lvl6pPr>
            <a:lvl7pPr marL="12529292" indent="0">
              <a:buNone/>
              <a:defRPr sz="4100"/>
            </a:lvl7pPr>
            <a:lvl8pPr marL="14617507" indent="0">
              <a:buNone/>
              <a:defRPr sz="4100"/>
            </a:lvl8pPr>
            <a:lvl9pPr marL="16705722" indent="0">
              <a:buNone/>
              <a:defRPr sz="4100"/>
            </a:lvl9pPr>
          </a:lstStyle>
          <a:p>
            <a:pPr lvl="0"/>
            <a:r>
              <a:rPr lang="en-US"/>
              <a:t>Click to edit Master text styles</a:t>
            </a:r>
          </a:p>
        </p:txBody>
      </p:sp>
      <p:sp>
        <p:nvSpPr>
          <p:cNvPr id="5" name="Date Placeholder 4"/>
          <p:cNvSpPr>
            <a:spLocks noGrp="1"/>
          </p:cNvSpPr>
          <p:nvPr>
            <p:ph type="dt" sz="half" idx="10"/>
          </p:nvPr>
        </p:nvSpPr>
        <p:spPr/>
        <p:txBody>
          <a:bodyPr/>
          <a:lstStyle/>
          <a:p>
            <a:fld id="{B7509B4A-2E11-444A-8FCE-E78873839832}" type="datetimeFigureOut">
              <a:rPr lang="en-CA" smtClean="0"/>
              <a:t>2026-04-14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435669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771" y="21195982"/>
            <a:ext cx="25685115" cy="2502306"/>
          </a:xfrm>
        </p:spPr>
        <p:txBody>
          <a:bodyPr anchor="b"/>
          <a:lstStyle>
            <a:lvl1pPr algn="l">
              <a:defRPr sz="9100" b="1"/>
            </a:lvl1pPr>
          </a:lstStyle>
          <a:p>
            <a:r>
              <a:rPr lang="en-US"/>
              <a:t>Click to edit Master title style</a:t>
            </a:r>
            <a:endParaRPr lang="en-CA"/>
          </a:p>
        </p:txBody>
      </p:sp>
      <p:sp>
        <p:nvSpPr>
          <p:cNvPr id="3" name="Picture Placeholder 2"/>
          <p:cNvSpPr>
            <a:spLocks noGrp="1"/>
          </p:cNvSpPr>
          <p:nvPr>
            <p:ph type="pic" idx="1"/>
          </p:nvPr>
        </p:nvSpPr>
        <p:spPr>
          <a:xfrm>
            <a:off x="8390771" y="2705572"/>
            <a:ext cx="25685115" cy="18167985"/>
          </a:xfrm>
        </p:spPr>
        <p:txBody>
          <a:bodyPr/>
          <a:lstStyle>
            <a:lvl1pPr marL="0" indent="0">
              <a:buNone/>
              <a:defRPr sz="14600"/>
            </a:lvl1pPr>
            <a:lvl2pPr marL="2088215" indent="0">
              <a:buNone/>
              <a:defRPr sz="12800"/>
            </a:lvl2pPr>
            <a:lvl3pPr marL="4176431" indent="0">
              <a:buNone/>
              <a:defRPr sz="11000"/>
            </a:lvl3pPr>
            <a:lvl4pPr marL="6264646" indent="0">
              <a:buNone/>
              <a:defRPr sz="9100"/>
            </a:lvl4pPr>
            <a:lvl5pPr marL="8352861" indent="0">
              <a:buNone/>
              <a:defRPr sz="9100"/>
            </a:lvl5pPr>
            <a:lvl6pPr marL="10441076" indent="0">
              <a:buNone/>
              <a:defRPr sz="9100"/>
            </a:lvl6pPr>
            <a:lvl7pPr marL="12529292" indent="0">
              <a:buNone/>
              <a:defRPr sz="9100"/>
            </a:lvl7pPr>
            <a:lvl8pPr marL="14617507" indent="0">
              <a:buNone/>
              <a:defRPr sz="9100"/>
            </a:lvl8pPr>
            <a:lvl9pPr marL="16705722" indent="0">
              <a:buNone/>
              <a:defRPr sz="9100"/>
            </a:lvl9pPr>
          </a:lstStyle>
          <a:p>
            <a:endParaRPr lang="en-CA"/>
          </a:p>
        </p:txBody>
      </p:sp>
      <p:sp>
        <p:nvSpPr>
          <p:cNvPr id="4" name="Text Placeholder 3"/>
          <p:cNvSpPr>
            <a:spLocks noGrp="1"/>
          </p:cNvSpPr>
          <p:nvPr>
            <p:ph type="body" sz="half" idx="2"/>
          </p:nvPr>
        </p:nvSpPr>
        <p:spPr>
          <a:xfrm>
            <a:off x="8390771" y="23698288"/>
            <a:ext cx="25685115" cy="3553689"/>
          </a:xfrm>
        </p:spPr>
        <p:txBody>
          <a:bodyPr/>
          <a:lstStyle>
            <a:lvl1pPr marL="0" indent="0">
              <a:buNone/>
              <a:defRPr sz="6400"/>
            </a:lvl1pPr>
            <a:lvl2pPr marL="2088215" indent="0">
              <a:buNone/>
              <a:defRPr sz="5500"/>
            </a:lvl2pPr>
            <a:lvl3pPr marL="4176431" indent="0">
              <a:buNone/>
              <a:defRPr sz="4600"/>
            </a:lvl3pPr>
            <a:lvl4pPr marL="6264646" indent="0">
              <a:buNone/>
              <a:defRPr sz="4100"/>
            </a:lvl4pPr>
            <a:lvl5pPr marL="8352861" indent="0">
              <a:buNone/>
              <a:defRPr sz="4100"/>
            </a:lvl5pPr>
            <a:lvl6pPr marL="10441076" indent="0">
              <a:buNone/>
              <a:defRPr sz="4100"/>
            </a:lvl6pPr>
            <a:lvl7pPr marL="12529292" indent="0">
              <a:buNone/>
              <a:defRPr sz="4100"/>
            </a:lvl7pPr>
            <a:lvl8pPr marL="14617507" indent="0">
              <a:buNone/>
              <a:defRPr sz="4100"/>
            </a:lvl8pPr>
            <a:lvl9pPr marL="16705722" indent="0">
              <a:buNone/>
              <a:defRPr sz="4100"/>
            </a:lvl9pPr>
          </a:lstStyle>
          <a:p>
            <a:pPr lvl="0"/>
            <a:r>
              <a:rPr lang="en-US"/>
              <a:t>Click to edit Master text styles</a:t>
            </a:r>
          </a:p>
        </p:txBody>
      </p:sp>
      <p:sp>
        <p:nvSpPr>
          <p:cNvPr id="5" name="Date Placeholder 4"/>
          <p:cNvSpPr>
            <a:spLocks noGrp="1"/>
          </p:cNvSpPr>
          <p:nvPr>
            <p:ph type="dt" sz="half" idx="10"/>
          </p:nvPr>
        </p:nvSpPr>
        <p:spPr/>
        <p:txBody>
          <a:bodyPr/>
          <a:lstStyle/>
          <a:p>
            <a:fld id="{B7509B4A-2E11-444A-8FCE-E78873839832}" type="datetimeFigureOut">
              <a:rPr lang="en-CA" smtClean="0"/>
              <a:t>2026-04-14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171742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B7509B4A-2E11-444A-8FCE-E78873839832}" type="datetimeFigureOut">
              <a:rPr lang="en-CA" smtClean="0"/>
              <a:t>2026-04-14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2827512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5303730" y="5355072"/>
            <a:ext cx="45090158" cy="114075602"/>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10018386" y="5355072"/>
            <a:ext cx="134571871" cy="1140756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B7509B4A-2E11-444A-8FCE-E78873839832}" type="datetimeFigureOut">
              <a:rPr lang="en-CA" smtClean="0"/>
              <a:t>2026-04-14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574522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40426" y="1212603"/>
            <a:ext cx="38527673" cy="5046663"/>
          </a:xfrm>
          <a:prstGeom prst="rect">
            <a:avLst/>
          </a:prstGeom>
        </p:spPr>
        <p:txBody>
          <a:bodyPr vert="horz" lIns="417643" tIns="208822" rIns="417643" bIns="208822"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2140426" y="7065330"/>
            <a:ext cx="38527673" cy="19983384"/>
          </a:xfrm>
          <a:prstGeom prst="rect">
            <a:avLst/>
          </a:prstGeom>
        </p:spPr>
        <p:txBody>
          <a:bodyPr vert="horz" lIns="417643" tIns="208822" rIns="417643" bIns="20882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2140426" y="28065053"/>
            <a:ext cx="9988656" cy="1612128"/>
          </a:xfrm>
          <a:prstGeom prst="rect">
            <a:avLst/>
          </a:prstGeom>
        </p:spPr>
        <p:txBody>
          <a:bodyPr vert="horz" lIns="417643" tIns="208822" rIns="417643" bIns="208822" rtlCol="0" anchor="ctr"/>
          <a:lstStyle>
            <a:lvl1pPr algn="l">
              <a:defRPr sz="5500">
                <a:solidFill>
                  <a:schemeClr val="tx1">
                    <a:tint val="75000"/>
                  </a:schemeClr>
                </a:solidFill>
              </a:defRPr>
            </a:lvl1pPr>
          </a:lstStyle>
          <a:p>
            <a:fld id="{B7509B4A-2E11-444A-8FCE-E78873839832}" type="datetimeFigureOut">
              <a:rPr lang="en-CA" smtClean="0"/>
              <a:t>2026-04-14</a:t>
            </a:fld>
            <a:endParaRPr lang="en-CA"/>
          </a:p>
        </p:txBody>
      </p:sp>
      <p:sp>
        <p:nvSpPr>
          <p:cNvPr id="5" name="Footer Placeholder 4"/>
          <p:cNvSpPr>
            <a:spLocks noGrp="1"/>
          </p:cNvSpPr>
          <p:nvPr>
            <p:ph type="ftr" sz="quarter" idx="3"/>
          </p:nvPr>
        </p:nvSpPr>
        <p:spPr>
          <a:xfrm>
            <a:off x="14626246" y="28065053"/>
            <a:ext cx="13556033" cy="1612128"/>
          </a:xfrm>
          <a:prstGeom prst="rect">
            <a:avLst/>
          </a:prstGeom>
        </p:spPr>
        <p:txBody>
          <a:bodyPr vert="horz" lIns="417643" tIns="208822" rIns="417643" bIns="208822" rtlCol="0" anchor="ctr"/>
          <a:lstStyle>
            <a:lvl1pPr algn="ctr">
              <a:defRPr sz="55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30679443" y="28065053"/>
            <a:ext cx="9988656" cy="1612128"/>
          </a:xfrm>
          <a:prstGeom prst="rect">
            <a:avLst/>
          </a:prstGeom>
        </p:spPr>
        <p:txBody>
          <a:bodyPr vert="horz" lIns="417643" tIns="208822" rIns="417643" bIns="208822" rtlCol="0" anchor="ctr"/>
          <a:lstStyle>
            <a:lvl1pPr algn="r">
              <a:defRPr sz="5500">
                <a:solidFill>
                  <a:schemeClr val="tx1">
                    <a:tint val="75000"/>
                  </a:schemeClr>
                </a:solidFill>
              </a:defRPr>
            </a:lvl1pPr>
          </a:lstStyle>
          <a:p>
            <a:fld id="{74FDB51B-AA44-4F9F-A0AA-8226646F0E0A}" type="slidenum">
              <a:rPr lang="en-CA" smtClean="0"/>
              <a:t>‹#›</a:t>
            </a:fld>
            <a:endParaRPr lang="en-CA"/>
          </a:p>
        </p:txBody>
      </p:sp>
    </p:spTree>
    <p:extLst>
      <p:ext uri="{BB962C8B-B14F-4D97-AF65-F5344CB8AC3E}">
        <p14:creationId xmlns:p14="http://schemas.microsoft.com/office/powerpoint/2010/main" val="1145061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76431" rtl="0" eaLnBrk="1" latinLnBrk="0" hangingPunct="1">
        <a:spcBef>
          <a:spcPct val="0"/>
        </a:spcBef>
        <a:buNone/>
        <a:defRPr sz="20100" kern="1200">
          <a:solidFill>
            <a:schemeClr val="tx1"/>
          </a:solidFill>
          <a:latin typeface="+mj-lt"/>
          <a:ea typeface="+mj-ea"/>
          <a:cs typeface="+mj-cs"/>
        </a:defRPr>
      </a:lvl1pPr>
    </p:titleStyle>
    <p:bodyStyle>
      <a:lvl1pPr marL="1566161" indent="-1566161" algn="l" defTabSz="4176431" rtl="0" eaLnBrk="1" latinLnBrk="0" hangingPunct="1">
        <a:spcBef>
          <a:spcPct val="20000"/>
        </a:spcBef>
        <a:buFont typeface="Arial" pitchFamily="34" charset="0"/>
        <a:buChar char="•"/>
        <a:defRPr sz="14600" kern="1200">
          <a:solidFill>
            <a:schemeClr val="tx1"/>
          </a:solidFill>
          <a:latin typeface="+mn-lt"/>
          <a:ea typeface="+mn-ea"/>
          <a:cs typeface="+mn-cs"/>
        </a:defRPr>
      </a:lvl1pPr>
      <a:lvl2pPr marL="3393350" indent="-1305135" algn="l" defTabSz="4176431" rtl="0" eaLnBrk="1" latinLnBrk="0" hangingPunct="1">
        <a:spcBef>
          <a:spcPct val="20000"/>
        </a:spcBef>
        <a:buFont typeface="Arial" pitchFamily="34" charset="0"/>
        <a:buChar char="–"/>
        <a:defRPr sz="12800" kern="1200">
          <a:solidFill>
            <a:schemeClr val="tx1"/>
          </a:solidFill>
          <a:latin typeface="+mn-lt"/>
          <a:ea typeface="+mn-ea"/>
          <a:cs typeface="+mn-cs"/>
        </a:defRPr>
      </a:lvl2pPr>
      <a:lvl3pPr marL="5220538" indent="-1044108" algn="l" defTabSz="4176431" rtl="0" eaLnBrk="1" latinLnBrk="0" hangingPunct="1">
        <a:spcBef>
          <a:spcPct val="20000"/>
        </a:spcBef>
        <a:buFont typeface="Arial" pitchFamily="34" charset="0"/>
        <a:buChar char="•"/>
        <a:defRPr sz="11000" kern="1200">
          <a:solidFill>
            <a:schemeClr val="tx1"/>
          </a:solidFill>
          <a:latin typeface="+mn-lt"/>
          <a:ea typeface="+mn-ea"/>
          <a:cs typeface="+mn-cs"/>
        </a:defRPr>
      </a:lvl3pPr>
      <a:lvl4pPr marL="7308753"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4pPr>
      <a:lvl5pPr marL="939696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p:bodyStyle>
    <p:otherStyle>
      <a:defPPr>
        <a:defRPr lang="en-US"/>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microsoft.com/office/2018/10/relationships/comments" Target="../comments/modernComment_100_CAC8111D.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p:cNvSpPr/>
          <p:nvPr/>
        </p:nvSpPr>
        <p:spPr>
          <a:xfrm>
            <a:off x="28791557" y="26983097"/>
            <a:ext cx="13767838" cy="2990538"/>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lgn="l" rtl="0" fontAlgn="base">
              <a:spcBef>
                <a:spcPts val="0"/>
              </a:spcBef>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I would like to thank Dr. Cathy Crosby and the university’s IRB for their work in approving our methods of data collection.</a:t>
            </a:r>
          </a:p>
          <a:p>
            <a:pPr marL="457200" indent="-457200" algn="l" rtl="0" fontAlgn="base">
              <a:spcBef>
                <a:spcPts val="0"/>
              </a:spcBef>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Thank you to Josh Larson, Phoebe Jones, Cooper Olney, and Faith Rhinehart for wrangling and cleaning the powerlifting data.</a:t>
            </a:r>
          </a:p>
          <a:p>
            <a:pPr marL="457200" indent="-457200" algn="l" rtl="0" fontAlgn="base">
              <a:spcBef>
                <a:spcPts val="0"/>
              </a:spcBef>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Thank you to the St. Lawrence University Crew Team for their time, support, and consent to collect data from their winter training season.</a:t>
            </a:r>
          </a:p>
        </p:txBody>
      </p:sp>
      <p:sp>
        <p:nvSpPr>
          <p:cNvPr id="24" name="Rectangle 23"/>
          <p:cNvSpPr/>
          <p:nvPr/>
        </p:nvSpPr>
        <p:spPr>
          <a:xfrm>
            <a:off x="14494609" y="6538501"/>
            <a:ext cx="13767838" cy="19939841"/>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lgn="l" rtl="0" fontAlgn="base">
              <a:spcBef>
                <a:spcPts val="0"/>
              </a:spcBef>
              <a:spcAft>
                <a:spcPts val="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rPr>
              <a:t>The SCORE Network is a repository of educational materials for sports statistics and data science including access to modules and data to enhance learning and teaching.</a:t>
            </a:r>
          </a:p>
          <a:p>
            <a:pPr marL="457200" indent="-457200" algn="l" rtl="0" fontAlgn="base">
              <a:spcBef>
                <a:spcPts val="0"/>
              </a:spcBef>
              <a:spcAft>
                <a:spcPts val="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rPr>
              <a:t>The SCORE Network is funded by the National Science Foundation (NSF).</a:t>
            </a:r>
          </a:p>
          <a:p>
            <a:pPr marL="457200" indent="-457200" algn="l" rtl="0" fontAlgn="base">
              <a:spcBef>
                <a:spcPts val="0"/>
              </a:spcBef>
              <a:spcAft>
                <a:spcPts val="0"/>
              </a:spcAft>
              <a:buFont typeface="Arial" panose="020B0604020202020204" pitchFamily="34" charset="0"/>
              <a:buChar char="•"/>
            </a:pPr>
            <a:r>
              <a:rPr lang="en-US" sz="3200" dirty="0">
                <a:solidFill>
                  <a:srgbClr val="000000"/>
                </a:solidFill>
                <a:latin typeface="Arial" panose="020B0604020202020204" pitchFamily="34" charset="0"/>
              </a:rPr>
              <a:t>The module repository has materials for students and teachers that are peer reviewed and published. </a:t>
            </a:r>
            <a:endParaRPr lang="en-US" sz="3000" b="0" i="0" u="none" strike="noStrike" dirty="0">
              <a:solidFill>
                <a:srgbClr val="000000"/>
              </a:solidFill>
              <a:effectLst/>
              <a:latin typeface="Arial" panose="020B0604020202020204"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endParaRPr lang="en-US" sz="3000" dirty="0">
              <a:solidFill>
                <a:srgbClr val="000000"/>
              </a:solidFill>
              <a:latin typeface="Arial" panose="020B0604020202020204"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endParaRPr lang="en-US" sz="3000" b="0" i="0" u="none" strike="noStrike" dirty="0">
              <a:solidFill>
                <a:srgbClr val="000000"/>
              </a:solidFill>
              <a:effectLst/>
              <a:latin typeface="Arial" panose="020B0604020202020204"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endParaRPr lang="en-US" sz="3000" dirty="0">
              <a:solidFill>
                <a:srgbClr val="000000"/>
              </a:solidFill>
              <a:latin typeface="Arial" panose="020B0604020202020204"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endParaRPr lang="en-US" sz="3000" b="0" i="0" u="none" strike="noStrike" dirty="0">
              <a:solidFill>
                <a:srgbClr val="000000"/>
              </a:solidFill>
              <a:effectLst/>
              <a:latin typeface="Arial" panose="020B0604020202020204" pitchFamily="34" charset="0"/>
              <a:cs typeface="Arial" panose="020B0604020202020204" pitchFamily="34" charset="0"/>
            </a:endParaRPr>
          </a:p>
          <a:p>
            <a:pPr algn="l" rtl="0" fontAlgn="base">
              <a:spcBef>
                <a:spcPts val="0"/>
              </a:spcBef>
              <a:spcAft>
                <a:spcPts val="0"/>
              </a:spcAft>
            </a:pPr>
            <a:endParaRPr lang="en-US" sz="2800" dirty="0">
              <a:solidFill>
                <a:srgbClr val="000000"/>
              </a:solidFill>
              <a:latin typeface="Arial" panose="020B0604020202020204" pitchFamily="34" charset="0"/>
              <a:cs typeface="Arial" panose="020B0604020202020204" pitchFamily="34" charset="0"/>
            </a:endParaRPr>
          </a:p>
          <a:p>
            <a:pPr algn="l" rtl="0">
              <a:spcBef>
                <a:spcPts val="0"/>
              </a:spcBef>
              <a:spcAft>
                <a:spcPts val="0"/>
              </a:spcAft>
            </a:pPr>
            <a:endParaRPr lang="en-US" sz="4400" b="1" i="0" u="none" strike="noStrike" dirty="0">
              <a:solidFill>
                <a:srgbClr val="000000"/>
              </a:solidFill>
              <a:effectLst/>
              <a:latin typeface="Arial" panose="020B0604020202020204" pitchFamily="34" charset="0"/>
            </a:endParaRPr>
          </a:p>
          <a:p>
            <a:pPr algn="l" rtl="0">
              <a:spcBef>
                <a:spcPts val="0"/>
              </a:spcBef>
              <a:spcAft>
                <a:spcPts val="0"/>
              </a:spcAft>
            </a:pPr>
            <a:r>
              <a:rPr lang="en-US" sz="4400" b="1" i="0" u="none" strike="noStrike" dirty="0">
                <a:solidFill>
                  <a:srgbClr val="000000"/>
                </a:solidFill>
                <a:effectLst/>
                <a:latin typeface="Arial" panose="020B0604020202020204" pitchFamily="34" charset="0"/>
              </a:rPr>
              <a:t>Powerlifting</a:t>
            </a:r>
          </a:p>
          <a:p>
            <a:pPr marL="457200" indent="-457200">
              <a:buFont typeface="Arial" panose="020B0604020202020204" pitchFamily="34" charset="0"/>
              <a:buChar char="•"/>
            </a:pPr>
            <a:r>
              <a:rPr lang="en-US" sz="3200" dirty="0">
                <a:solidFill>
                  <a:schemeClr val="tx1"/>
                </a:solidFill>
                <a:latin typeface="Arial" panose="020B0604020202020204" pitchFamily="34" charset="0"/>
                <a:cs typeface="Arial" panose="020B0604020202020204" pitchFamily="34" charset="0"/>
              </a:rPr>
              <a:t>In powerlifting competitions, athletes compete in three compound events (benching, squatting, and deadlifting) to lift as much weight as possible.</a:t>
            </a:r>
          </a:p>
          <a:p>
            <a:pPr marL="457200" indent="-457200">
              <a:buFont typeface="Arial" panose="020B0604020202020204" pitchFamily="34" charset="0"/>
              <a:buChar char="•"/>
            </a:pPr>
            <a:r>
              <a:rPr lang="en-US" sz="3200" dirty="0">
                <a:solidFill>
                  <a:schemeClr val="tx1"/>
                </a:solidFill>
                <a:latin typeface="Arial" panose="020B0604020202020204" pitchFamily="34" charset="0"/>
                <a:cs typeface="Arial" panose="020B0604020202020204" pitchFamily="34" charset="0"/>
              </a:rPr>
              <a:t>This module focuses specifically on female benching weight, but there are extensions for other exercises as well as analyses for males.</a:t>
            </a:r>
          </a:p>
          <a:p>
            <a:pPr marL="457200" indent="-457200">
              <a:buFont typeface="Arial" panose="020B0604020202020204" pitchFamily="34" charset="0"/>
              <a:buChar char="•"/>
            </a:pPr>
            <a:r>
              <a:rPr lang="en-US" sz="3200" dirty="0">
                <a:latin typeface="Arial" panose="020B0604020202020204" pitchFamily="34" charset="0"/>
                <a:cs typeface="Arial" panose="020B0604020202020204" pitchFamily="34" charset="0"/>
              </a:rPr>
              <a:t>The powerlifting module introduces a new form of nonparametric analysis that the SCORE Network was previously lacking. </a:t>
            </a:r>
            <a:endParaRPr lang="en-US" sz="32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200" dirty="0">
                <a:solidFill>
                  <a:srgbClr val="000000"/>
                </a:solidFill>
                <a:latin typeface="Arial" panose="020B0604020202020204" pitchFamily="34" charset="0"/>
                <a:ea typeface="Lato" panose="020F0502020204030203" pitchFamily="34" charset="0"/>
                <a:cs typeface="Arial" panose="020B0604020202020204" pitchFamily="34" charset="0"/>
              </a:rPr>
              <a:t>ANOVA (analysis of variance) is typically used for determining if there is a statistical discernibility between the means of two or more groups but can only be used when the groups are normally distributed. </a:t>
            </a:r>
          </a:p>
          <a:p>
            <a:pPr marL="457200" indent="-457200" algn="l" rtl="0" fontAlgn="base">
              <a:spcBef>
                <a:spcPts val="0"/>
              </a:spcBef>
              <a:spcAft>
                <a:spcPts val="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In this case, the groups are not normally distributed, so the assumptions required to use ANOVA testing are violated and the Kruskal-</a:t>
            </a:r>
            <a:r>
              <a:rPr lang="en-US" sz="3200" dirty="0">
                <a:solidFill>
                  <a:srgbClr val="000000"/>
                </a:solidFill>
                <a:latin typeface="Arial" panose="020B0604020202020204" pitchFamily="34" charset="0"/>
                <a:ea typeface="Lato" panose="020F0502020204030203" pitchFamily="34" charset="0"/>
                <a:cs typeface="Arial" panose="020B0604020202020204" pitchFamily="34" charset="0"/>
              </a:rPr>
              <a:t>W</a:t>
            </a:r>
            <a:r>
              <a:rPr lang="en-US" sz="32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allis test is used.</a:t>
            </a:r>
          </a:p>
          <a:p>
            <a:pPr marL="457200" indent="-457200" fontAlgn="base">
              <a:buFont typeface="Arial" panose="020B0604020202020204" pitchFamily="34" charset="0"/>
              <a:buChar char="•"/>
            </a:pPr>
            <a:r>
              <a:rPr lang="en-US" sz="3200" dirty="0">
                <a:solidFill>
                  <a:srgbClr val="000000"/>
                </a:solidFill>
                <a:latin typeface="Arial" panose="020B0604020202020204" pitchFamily="34" charset="0"/>
                <a:ea typeface="Lato" panose="020F0502020204030203" pitchFamily="34" charset="0"/>
                <a:cs typeface="Arial" panose="020B0604020202020204" pitchFamily="34" charset="0"/>
              </a:rPr>
              <a:t>Due to the skew in the data, the means are not the meaningful metric in this case so the Kruskal-Wallis test uses medians and the ranks of the values instead of the numeric values.</a:t>
            </a:r>
            <a:endParaRPr lang="en-US" sz="3200" dirty="0">
              <a:latin typeface="Arial" panose="020B0604020202020204" pitchFamily="34" charset="0"/>
              <a:cs typeface="Arial" panose="020B0604020202020204" pitchFamily="34" charset="0"/>
            </a:endParaRPr>
          </a:p>
          <a:p>
            <a:pPr algn="l" rtl="0">
              <a:spcBef>
                <a:spcPts val="0"/>
              </a:spcBef>
              <a:spcAft>
                <a:spcPts val="0"/>
              </a:spcAft>
            </a:pPr>
            <a:r>
              <a:rPr lang="en-US" sz="4400" b="1" i="0" u="none" strike="noStrike" dirty="0">
                <a:solidFill>
                  <a:srgbClr val="000000"/>
                </a:solidFill>
                <a:effectLst/>
                <a:latin typeface="Arial" panose="020B0604020202020204" pitchFamily="34" charset="0"/>
              </a:rPr>
              <a:t>Rowing</a:t>
            </a:r>
          </a:p>
          <a:p>
            <a:pPr marL="457200" indent="-457200" algn="l" rtl="0">
              <a:spcBef>
                <a:spcPts val="0"/>
              </a:spcBef>
              <a:spcAft>
                <a:spcPts val="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cs typeface="Arial" panose="020B0604020202020204" pitchFamily="34" charset="0"/>
              </a:rPr>
              <a:t>During winter training, rowers practice using ergometers (ergs) to maintain and build fitness off of the water.</a:t>
            </a:r>
          </a:p>
          <a:p>
            <a:pPr marL="457200" indent="-457200">
              <a:buFont typeface="Arial" panose="020B0604020202020204" pitchFamily="34" charset="0"/>
              <a:buChar char="•"/>
            </a:pPr>
            <a:r>
              <a:rPr lang="en-US" sz="3200" b="0" i="0" u="none" strike="noStrike" dirty="0">
                <a:solidFill>
                  <a:srgbClr val="000000"/>
                </a:solidFill>
                <a:effectLst/>
                <a:latin typeface="Arial" panose="020B0604020202020204" pitchFamily="34" charset="0"/>
                <a:cs typeface="Arial" panose="020B0604020202020204" pitchFamily="34" charset="0"/>
              </a:rPr>
              <a:t>Ergs share many metrics of fitness including time and duration of th</a:t>
            </a:r>
            <a:r>
              <a:rPr lang="en-US" sz="3200" dirty="0">
                <a:solidFill>
                  <a:srgbClr val="000000"/>
                </a:solidFill>
                <a:latin typeface="Arial" panose="020B0604020202020204" pitchFamily="34" charset="0"/>
                <a:cs typeface="Arial" panose="020B0604020202020204" pitchFamily="34" charset="0"/>
              </a:rPr>
              <a:t>e piece and instantly shares the rower’s split (time per 500 meters).</a:t>
            </a:r>
            <a:endParaRPr lang="en-US" sz="3200" b="0" i="0" u="none" strike="noStrike" dirty="0">
              <a:solidFill>
                <a:srgbClr val="000000"/>
              </a:solidFill>
              <a:effectLst/>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a:latin typeface="Arial" panose="020B0604020202020204" pitchFamily="34" charset="0"/>
                <a:cs typeface="Arial" panose="020B0604020202020204" pitchFamily="34" charset="0"/>
              </a:rPr>
              <a:t>The SCORE Network has a lack of modules for single proportions. </a:t>
            </a:r>
            <a:r>
              <a:rPr lang="en-US" sz="32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This module is aimed at filling that need using confidence intervals of proportions at an introductory level.</a:t>
            </a:r>
          </a:p>
          <a:p>
            <a:pPr marL="457200" indent="-457200">
              <a:buFont typeface="Arial" panose="020B0604020202020204" pitchFamily="34" charset="0"/>
              <a:buChar char="•"/>
            </a:pPr>
            <a:r>
              <a:rPr lang="en-US" sz="3200" dirty="0">
                <a:solidFill>
                  <a:srgbClr val="000000"/>
                </a:solidFill>
                <a:latin typeface="Arial" panose="020B0604020202020204" pitchFamily="34" charset="0"/>
                <a:ea typeface="Lato" panose="020F0502020204030203" pitchFamily="34" charset="0"/>
                <a:cs typeface="Arial" panose="020B0604020202020204" pitchFamily="34" charset="0"/>
              </a:rPr>
              <a:t>The data collected is a current snapshot of the St. Lawrence University rowing team and can be further analyzed with updated data in the future.</a:t>
            </a:r>
            <a:endParaRPr lang="en-US" sz="32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endParaRPr lang="en-US" sz="3000" b="0" i="0" u="none" strike="noStrike" dirty="0">
              <a:solidFill>
                <a:srgbClr val="000000"/>
              </a:solidFill>
              <a:effectLst/>
              <a:latin typeface="Arial" panose="020B0604020202020204" pitchFamily="34" charset="0"/>
            </a:endParaRPr>
          </a:p>
        </p:txBody>
      </p:sp>
      <p:sp>
        <p:nvSpPr>
          <p:cNvPr id="22" name="Rectangle 21"/>
          <p:cNvSpPr/>
          <p:nvPr/>
        </p:nvSpPr>
        <p:spPr>
          <a:xfrm>
            <a:off x="378594" y="6355012"/>
            <a:ext cx="13656134" cy="341501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l" rtl="0" fontAlgn="base">
              <a:spcBef>
                <a:spcPts val="0"/>
              </a:spcBef>
              <a:spcAft>
                <a:spcPts val="0"/>
              </a:spcAft>
            </a:pPr>
            <a:r>
              <a:rPr lang="en-US" sz="4400" b="1"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Objectives </a:t>
            </a:r>
            <a:endParaRPr lang="en-US" sz="2800" dirty="0">
              <a:solidFill>
                <a:srgbClr val="000000"/>
              </a:solidFill>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Determine if the lifting capacity for powerlifters is discernible between age classes.</a:t>
            </a:r>
          </a:p>
          <a:p>
            <a:pPr marL="457200" indent="-457200" algn="l" rtl="0" fontAlgn="base">
              <a:spcBef>
                <a:spcPts val="0"/>
              </a:spcBef>
              <a:spcAft>
                <a:spcPts val="0"/>
              </a:spcAft>
              <a:buFont typeface="Arial" panose="020B0604020202020204" pitchFamily="34" charset="0"/>
              <a:buChar char="•"/>
            </a:pPr>
            <a:r>
              <a:rPr lang="en-US" sz="3000" dirty="0">
                <a:solidFill>
                  <a:srgbClr val="000000"/>
                </a:solidFill>
                <a:latin typeface="Arial" panose="020B0604020202020204" pitchFamily="34" charset="0"/>
                <a:ea typeface="Lato" panose="020F0502020204030203" pitchFamily="34" charset="0"/>
                <a:cs typeface="Arial" panose="020B0604020202020204" pitchFamily="34" charset="0"/>
              </a:rPr>
              <a:t>Run a test of multiple comparison (Dunn’s Test) to determine which groups are statistically discernible from each other.</a:t>
            </a:r>
            <a:endPar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Create a visualization to easily show the trend in discernibility between age classes.</a:t>
            </a:r>
          </a:p>
        </p:txBody>
      </p:sp>
      <p:sp>
        <p:nvSpPr>
          <p:cNvPr id="4" name="Text Box 5"/>
          <p:cNvSpPr txBox="1">
            <a:spLocks noChangeArrowheads="1"/>
          </p:cNvSpPr>
          <p:nvPr/>
        </p:nvSpPr>
        <p:spPr bwMode="auto">
          <a:xfrm>
            <a:off x="-54122" y="-59370"/>
            <a:ext cx="42907460" cy="5123802"/>
          </a:xfrm>
          <a:prstGeom prst="rect">
            <a:avLst/>
          </a:prstGeom>
          <a:solidFill>
            <a:schemeClr val="accent2">
              <a:alpha val="74902"/>
            </a:schemeClr>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r>
              <a:rPr lang="en-US" sz="9200" b="1" dirty="0">
                <a:latin typeface="Arial" panose="020B0604020202020204" pitchFamily="34" charset="0"/>
                <a:cs typeface="Arial" panose="020B0604020202020204" pitchFamily="34" charset="0"/>
              </a:rPr>
              <a:t>Nonparametric Analysis of Variance and Confidence Intervals</a:t>
            </a:r>
          </a:p>
          <a:p>
            <a:pPr algn="ctr"/>
            <a:r>
              <a:rPr lang="en-US" sz="8800" b="1" dirty="0">
                <a:latin typeface="Arial" panose="020B0604020202020204" pitchFamily="34" charset="0"/>
                <a:cs typeface="Arial" panose="020B0604020202020204" pitchFamily="34" charset="0"/>
              </a:rPr>
              <a:t>Building Modules for the SCORE Network</a:t>
            </a:r>
            <a:endParaRPr lang="en-US" sz="9200" b="1" dirty="0">
              <a:latin typeface="Arial" panose="020B0604020202020204" pitchFamily="34" charset="0"/>
              <a:cs typeface="Arial" panose="020B0604020202020204" pitchFamily="34" charset="0"/>
            </a:endParaRPr>
          </a:p>
          <a:p>
            <a:pPr algn="ctr"/>
            <a:r>
              <a:rPr lang="en-US" sz="5400" b="1" dirty="0">
                <a:latin typeface="Arial" panose="020B0604020202020204" pitchFamily="34" charset="0"/>
                <a:cs typeface="Arial" panose="020B0604020202020204" pitchFamily="34" charset="0"/>
              </a:rPr>
              <a:t>Keelin Joyce ‘26</a:t>
            </a:r>
            <a:endParaRPr lang="en-US" sz="5400" b="1" baseline="30000" dirty="0">
              <a:latin typeface="Arial" panose="020B0604020202020204" pitchFamily="34" charset="0"/>
              <a:cs typeface="Arial" panose="020B0604020202020204" pitchFamily="34" charset="0"/>
            </a:endParaRPr>
          </a:p>
          <a:p>
            <a:pPr algn="ctr"/>
            <a:r>
              <a:rPr lang="en-US" sz="4400" b="1" dirty="0">
                <a:latin typeface="Arial" panose="020B0604020202020204" pitchFamily="34" charset="0"/>
                <a:cs typeface="Arial" panose="020B0604020202020204" pitchFamily="34" charset="0"/>
              </a:rPr>
              <a:t>Advised by Dr. Ivan Ramler</a:t>
            </a:r>
          </a:p>
          <a:p>
            <a:pPr algn="ctr"/>
            <a:r>
              <a:rPr lang="en-US" sz="4400" b="1" dirty="0">
                <a:latin typeface="Arial" panose="020B0604020202020204" pitchFamily="34" charset="0"/>
                <a:cs typeface="Arial" panose="020B0604020202020204" pitchFamily="34" charset="0"/>
              </a:rPr>
              <a:t>Department of Mathematics, Computer Science, and Statistics at St. Lawrence University</a:t>
            </a:r>
          </a:p>
        </p:txBody>
      </p:sp>
      <p:sp>
        <p:nvSpPr>
          <p:cNvPr id="7" name="TextBox 6"/>
          <p:cNvSpPr txBox="1"/>
          <p:nvPr/>
        </p:nvSpPr>
        <p:spPr>
          <a:xfrm>
            <a:off x="7772400" y="5283200"/>
            <a:ext cx="184666" cy="1354217"/>
          </a:xfrm>
          <a:prstGeom prst="rect">
            <a:avLst/>
          </a:prstGeom>
          <a:noFill/>
        </p:spPr>
        <p:txBody>
          <a:bodyPr wrap="none" rtlCol="0">
            <a:spAutoFit/>
          </a:bodyPr>
          <a:lstStyle/>
          <a:p>
            <a:endParaRPr lang="en-US" dirty="0"/>
          </a:p>
        </p:txBody>
      </p:sp>
      <p:sp>
        <p:nvSpPr>
          <p:cNvPr id="48" name="TextBox 47">
            <a:extLst>
              <a:ext uri="{FF2B5EF4-FFF2-40B4-BE49-F238E27FC236}">
                <a16:creationId xmlns:a16="http://schemas.microsoft.com/office/drawing/2014/main" id="{E6157EB8-11EB-373B-133A-5D349E866D27}"/>
              </a:ext>
            </a:extLst>
          </p:cNvPr>
          <p:cNvSpPr txBox="1"/>
          <p:nvPr/>
        </p:nvSpPr>
        <p:spPr>
          <a:xfrm>
            <a:off x="369997" y="5339348"/>
            <a:ext cx="13767838" cy="1015663"/>
          </a:xfrm>
          <a:prstGeom prst="rect">
            <a:avLst/>
          </a:prstGeom>
          <a:solidFill>
            <a:schemeClr val="accent2"/>
          </a:solidFill>
        </p:spPr>
        <p:txBody>
          <a:bodyPr wrap="square" rtlCol="0">
            <a:spAutoFit/>
          </a:bodyPr>
          <a:lstStyle/>
          <a:p>
            <a:pPr algn="ctr" eaLnBrk="1" hangingPunct="1"/>
            <a:r>
              <a:rPr lang="en-US" sz="6000" b="1" dirty="0">
                <a:latin typeface="Arial" panose="020B0604020202020204" pitchFamily="34" charset="0"/>
                <a:cs typeface="Arial" panose="020B0604020202020204" pitchFamily="34" charset="0"/>
              </a:rPr>
              <a:t>Powerlifting Analysis</a:t>
            </a:r>
          </a:p>
        </p:txBody>
      </p:sp>
      <p:sp>
        <p:nvSpPr>
          <p:cNvPr id="52" name="TextBox 51">
            <a:extLst>
              <a:ext uri="{FF2B5EF4-FFF2-40B4-BE49-F238E27FC236}">
                <a16:creationId xmlns:a16="http://schemas.microsoft.com/office/drawing/2014/main" id="{C7AE265B-0527-AB1C-8FC4-EDE596BB452B}"/>
              </a:ext>
            </a:extLst>
          </p:cNvPr>
          <p:cNvSpPr txBox="1"/>
          <p:nvPr/>
        </p:nvSpPr>
        <p:spPr>
          <a:xfrm>
            <a:off x="14520343" y="5339348"/>
            <a:ext cx="13767838" cy="1015663"/>
          </a:xfrm>
          <a:prstGeom prst="rect">
            <a:avLst/>
          </a:prstGeom>
          <a:solidFill>
            <a:schemeClr val="accent2"/>
          </a:solidFill>
        </p:spPr>
        <p:txBody>
          <a:bodyPr wrap="square" rtlCol="0">
            <a:spAutoFit/>
          </a:bodyPr>
          <a:lstStyle/>
          <a:p>
            <a:pPr algn="ctr" eaLnBrk="1" hangingPunct="1"/>
            <a:r>
              <a:rPr lang="en-US" sz="6000" b="1" dirty="0">
                <a:latin typeface="Arial" panose="020B0604020202020204" pitchFamily="34" charset="0"/>
                <a:cs typeface="Arial" panose="020B0604020202020204" pitchFamily="34" charset="0"/>
              </a:rPr>
              <a:t>SCORE Network</a:t>
            </a:r>
          </a:p>
        </p:txBody>
      </p:sp>
      <p:sp>
        <p:nvSpPr>
          <p:cNvPr id="53" name="TextBox 52">
            <a:extLst>
              <a:ext uri="{FF2B5EF4-FFF2-40B4-BE49-F238E27FC236}">
                <a16:creationId xmlns:a16="http://schemas.microsoft.com/office/drawing/2014/main" id="{AA320527-904F-2BB5-627A-323165682290}"/>
              </a:ext>
            </a:extLst>
          </p:cNvPr>
          <p:cNvSpPr txBox="1"/>
          <p:nvPr/>
        </p:nvSpPr>
        <p:spPr>
          <a:xfrm>
            <a:off x="28670690" y="5339348"/>
            <a:ext cx="13767838" cy="1015663"/>
          </a:xfrm>
          <a:prstGeom prst="rect">
            <a:avLst/>
          </a:prstGeom>
          <a:solidFill>
            <a:schemeClr val="accent2"/>
          </a:solidFill>
        </p:spPr>
        <p:txBody>
          <a:bodyPr wrap="square" rtlCol="0">
            <a:spAutoFit/>
          </a:bodyPr>
          <a:lstStyle/>
          <a:p>
            <a:pPr algn="ctr" eaLnBrk="1" hangingPunct="1"/>
            <a:r>
              <a:rPr lang="en-US" sz="6000" b="1" dirty="0">
                <a:latin typeface="Arial" panose="020B0604020202020204" pitchFamily="34" charset="0"/>
                <a:cs typeface="Arial" panose="020B0604020202020204" pitchFamily="34" charset="0"/>
              </a:rPr>
              <a:t>Rowing Analysis</a:t>
            </a:r>
          </a:p>
        </p:txBody>
      </p:sp>
      <p:sp>
        <p:nvSpPr>
          <p:cNvPr id="55" name="Rectangle 54">
            <a:extLst>
              <a:ext uri="{FF2B5EF4-FFF2-40B4-BE49-F238E27FC236}">
                <a16:creationId xmlns:a16="http://schemas.microsoft.com/office/drawing/2014/main" id="{D92D8446-CA35-0C30-7EF1-95E552555C7F}"/>
              </a:ext>
            </a:extLst>
          </p:cNvPr>
          <p:cNvSpPr/>
          <p:nvPr/>
        </p:nvSpPr>
        <p:spPr>
          <a:xfrm>
            <a:off x="28631769" y="6355011"/>
            <a:ext cx="13767838" cy="3298390"/>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r>
              <a:rPr lang="en-US" sz="4000" b="1" i="0" u="none" strike="noStrike" dirty="0">
                <a:solidFill>
                  <a:srgbClr val="000000"/>
                </a:solidFill>
                <a:effectLst/>
                <a:latin typeface="Arial" panose="020B0604020202020204" pitchFamily="34" charset="0"/>
              </a:rPr>
              <a:t>Motivation</a:t>
            </a:r>
            <a:endParaRPr lang="en-US" sz="4000" dirty="0">
              <a:solidFill>
                <a:srgbClr val="000000"/>
              </a:solidFill>
              <a:latin typeface="Arial" panose="020B0604020202020204" pitchFamily="34" charset="0"/>
              <a:cs typeface="Arial" panose="020B0604020202020204" pitchFamily="34" charset="0"/>
            </a:endParaRPr>
          </a:p>
          <a:p>
            <a:pPr marL="457200" indent="-457200" algn="l" rtl="0">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cs typeface="Arial" panose="020B0604020202020204" pitchFamily="34" charset="0"/>
              </a:rPr>
              <a:t>Prior to completing test pieces to assess their fitness at any given point in the training cycle, rowers are encouraged by their coach to set “ambitious, yet achievable” goals that they aim for </a:t>
            </a:r>
          </a:p>
          <a:p>
            <a:pPr marL="457200" indent="-457200" algn="l" rtl="0">
              <a:spcBef>
                <a:spcPts val="0"/>
              </a:spcBef>
              <a:spcAft>
                <a:spcPts val="0"/>
              </a:spcAft>
              <a:buFont typeface="Arial" panose="020B0604020202020204" pitchFamily="34" charset="0"/>
              <a:buChar char="•"/>
            </a:pPr>
            <a:r>
              <a:rPr lang="en-US" sz="3000" dirty="0">
                <a:solidFill>
                  <a:srgbClr val="000000"/>
                </a:solidFill>
                <a:latin typeface="Arial" panose="020B0604020202020204" pitchFamily="34" charset="0"/>
                <a:cs typeface="Arial" panose="020B0604020202020204" pitchFamily="34" charset="0"/>
              </a:rPr>
              <a:t>T</a:t>
            </a:r>
            <a:r>
              <a:rPr lang="en-US" sz="3000" b="0" i="0" u="none" strike="noStrike" dirty="0">
                <a:solidFill>
                  <a:srgbClr val="000000"/>
                </a:solidFill>
                <a:effectLst/>
                <a:latin typeface="Arial" panose="020B0604020202020204" pitchFamily="34" charset="0"/>
                <a:cs typeface="Arial" panose="020B0604020202020204" pitchFamily="34" charset="0"/>
              </a:rPr>
              <a:t>he single proportion confidence interval tells us what proportion of athletes are setting ambitious goals.</a:t>
            </a:r>
          </a:p>
        </p:txBody>
      </p:sp>
      <p:sp>
        <p:nvSpPr>
          <p:cNvPr id="56" name="TextBox 55">
            <a:extLst>
              <a:ext uri="{FF2B5EF4-FFF2-40B4-BE49-F238E27FC236}">
                <a16:creationId xmlns:a16="http://schemas.microsoft.com/office/drawing/2014/main" id="{F46304A5-7E0E-AA52-BE67-F84E14139A26}"/>
              </a:ext>
            </a:extLst>
          </p:cNvPr>
          <p:cNvSpPr txBox="1"/>
          <p:nvPr/>
        </p:nvSpPr>
        <p:spPr>
          <a:xfrm>
            <a:off x="28678417" y="25974286"/>
            <a:ext cx="13751514" cy="830997"/>
          </a:xfrm>
          <a:prstGeom prst="rect">
            <a:avLst/>
          </a:prstGeom>
          <a:solidFill>
            <a:schemeClr val="accent2"/>
          </a:solidFill>
        </p:spPr>
        <p:txBody>
          <a:bodyPr wrap="square" rtlCol="0">
            <a:spAutoFit/>
          </a:bodyPr>
          <a:lstStyle/>
          <a:p>
            <a:pPr algn="ctr" eaLnBrk="1" hangingPunct="1"/>
            <a:r>
              <a:rPr lang="en-US" sz="4800" b="1" dirty="0">
                <a:latin typeface="Arial" panose="020B0604020202020204" pitchFamily="34" charset="0"/>
                <a:cs typeface="Arial" panose="020B0604020202020204" pitchFamily="34" charset="0"/>
              </a:rPr>
              <a:t>Acknowledgements</a:t>
            </a:r>
          </a:p>
        </p:txBody>
      </p:sp>
      <p:sp>
        <p:nvSpPr>
          <p:cNvPr id="60" name="AutoShape 6">
            <a:extLst>
              <a:ext uri="{FF2B5EF4-FFF2-40B4-BE49-F238E27FC236}">
                <a16:creationId xmlns:a16="http://schemas.microsoft.com/office/drawing/2014/main" id="{D2761361-EC38-C617-42EB-729ADDB42C20}"/>
              </a:ext>
            </a:extLst>
          </p:cNvPr>
          <p:cNvSpPr>
            <a:spLocks noChangeAspect="1" noChangeArrowheads="1"/>
          </p:cNvSpPr>
          <p:nvPr/>
        </p:nvSpPr>
        <p:spPr bwMode="auto">
          <a:xfrm flipV="1">
            <a:off x="26915119" y="9406105"/>
            <a:ext cx="10629738" cy="106297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0" name="Rectangle 1029">
            <a:extLst>
              <a:ext uri="{FF2B5EF4-FFF2-40B4-BE49-F238E27FC236}">
                <a16:creationId xmlns:a16="http://schemas.microsoft.com/office/drawing/2014/main" id="{19FBBAEE-0F81-9248-06D6-4368D5FCE238}"/>
              </a:ext>
            </a:extLst>
          </p:cNvPr>
          <p:cNvSpPr/>
          <p:nvPr/>
        </p:nvSpPr>
        <p:spPr>
          <a:xfrm>
            <a:off x="203236" y="17961761"/>
            <a:ext cx="14290664" cy="4520362"/>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l" rtl="0" fontAlgn="base">
              <a:spcBef>
                <a:spcPts val="0"/>
              </a:spcBef>
              <a:spcAft>
                <a:spcPts val="0"/>
              </a:spcAft>
            </a:pPr>
            <a:r>
              <a:rPr lang="en-US" sz="4400" b="1"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  P-values</a:t>
            </a:r>
            <a:endPar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endParaRPr>
          </a:p>
          <a:p>
            <a:pPr marL="742950" lvl="1" indent="-285750" algn="l" rtl="0" fontAlgn="base">
              <a:spcBef>
                <a:spcPts val="0"/>
              </a:spcBef>
              <a:spcAft>
                <a:spcPts val="0"/>
              </a:spcAft>
              <a:buFont typeface="Arial" panose="020B0604020202020204" pitchFamily="34" charset="0"/>
              <a:buChar char="•"/>
            </a:pPr>
            <a:r>
              <a:rPr lang="en-US" sz="3000" dirty="0">
                <a:solidFill>
                  <a:srgbClr val="000000"/>
                </a:solidFill>
                <a:latin typeface="Arial" panose="020B0604020202020204" pitchFamily="34" charset="0"/>
                <a:cs typeface="Arial" panose="020B0604020202020204" pitchFamily="34" charset="0"/>
              </a:rPr>
              <a:t>Because there are 14 groups each being compared with each other, there are too many p-values to easily sort through individual results.</a:t>
            </a:r>
          </a:p>
          <a:p>
            <a:pPr marL="742950" lvl="1" indent="-285750" algn="l" rtl="0" fontAlgn="base">
              <a:spcBef>
                <a:spcPts val="0"/>
              </a:spcBef>
              <a:spcAft>
                <a:spcPts val="0"/>
              </a:spcAft>
              <a:buFont typeface="Arial" panose="020B0604020202020204" pitchFamily="34" charset="0"/>
              <a:buChar char="•"/>
            </a:pPr>
            <a:r>
              <a:rPr lang="en-US" sz="3000" i="0" u="none" strike="noStrike" dirty="0">
                <a:solidFill>
                  <a:srgbClr val="000000"/>
                </a:solidFill>
                <a:effectLst/>
                <a:latin typeface="Arial" panose="020B0604020202020204" pitchFamily="34" charset="0"/>
                <a:cs typeface="Arial" panose="020B0604020202020204" pitchFamily="34" charset="0"/>
              </a:rPr>
              <a:t>The boxplot and heatmap of significant values show there is a general curved trend in lifting capacity between age classes meaning that there is a peak in performance and then a decline where older and younger groups are not discernible.</a:t>
            </a:r>
            <a:endParaRPr lang="en-US" sz="3000" i="0" u="none" strike="noStrike" dirty="0">
              <a:solidFill>
                <a:srgbClr val="000000"/>
              </a:solidFill>
              <a:effectLst/>
              <a:latin typeface="Arial" panose="020B0604020202020204" pitchFamily="34" charset="0"/>
            </a:endParaRPr>
          </a:p>
        </p:txBody>
      </p:sp>
      <p:sp>
        <p:nvSpPr>
          <p:cNvPr id="1037" name="Text Box 10">
            <a:extLst>
              <a:ext uri="{FF2B5EF4-FFF2-40B4-BE49-F238E27FC236}">
                <a16:creationId xmlns:a16="http://schemas.microsoft.com/office/drawing/2014/main" id="{86F4C3A2-B982-1848-7B3B-74713B744C1E}"/>
              </a:ext>
            </a:extLst>
          </p:cNvPr>
          <p:cNvSpPr txBox="1">
            <a:spLocks noChangeArrowheads="1"/>
          </p:cNvSpPr>
          <p:nvPr/>
        </p:nvSpPr>
        <p:spPr bwMode="auto">
          <a:xfrm>
            <a:off x="7206661" y="27405807"/>
            <a:ext cx="6762291" cy="40140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sz="2100" b="1" dirty="0">
                <a:latin typeface="Arial" panose="020B0604020202020204" pitchFamily="34" charset="0"/>
                <a:cs typeface="Arial" panose="020B0604020202020204" pitchFamily="34" charset="0"/>
              </a:rPr>
              <a:t>Figure 2. Dunn’s Test Results Visualization</a:t>
            </a:r>
            <a:endParaRPr lang="en-CA" sz="2100" b="1" dirty="0">
              <a:latin typeface="Arial" panose="020B0604020202020204" pitchFamily="34" charset="0"/>
              <a:cs typeface="Arial" panose="020B0604020202020204" pitchFamily="34" charset="0"/>
            </a:endParaRPr>
          </a:p>
        </p:txBody>
      </p:sp>
      <p:sp>
        <p:nvSpPr>
          <p:cNvPr id="1052" name="Text Box 10">
            <a:extLst>
              <a:ext uri="{FF2B5EF4-FFF2-40B4-BE49-F238E27FC236}">
                <a16:creationId xmlns:a16="http://schemas.microsoft.com/office/drawing/2014/main" id="{F84D52CF-18F2-68F2-B34C-3A011A10E99F}"/>
              </a:ext>
            </a:extLst>
          </p:cNvPr>
          <p:cNvSpPr txBox="1">
            <a:spLocks noChangeArrowheads="1"/>
          </p:cNvSpPr>
          <p:nvPr/>
        </p:nvSpPr>
        <p:spPr bwMode="auto">
          <a:xfrm>
            <a:off x="28733474" y="25365123"/>
            <a:ext cx="13713008" cy="40140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sz="2100" b="1" dirty="0">
                <a:latin typeface="Arial" panose="020B0604020202020204" pitchFamily="34" charset="0"/>
                <a:cs typeface="Arial" panose="020B0604020202020204" pitchFamily="34" charset="0"/>
              </a:rPr>
              <a:t>Figure 3. Visualization of Distance from Goal Achieved</a:t>
            </a:r>
            <a:endParaRPr lang="en-CA" sz="2100" b="1" dirty="0">
              <a:latin typeface="Arial" panose="020B0604020202020204" pitchFamily="34" charset="0"/>
              <a:cs typeface="Arial" panose="020B0604020202020204" pitchFamily="34" charset="0"/>
            </a:endParaRPr>
          </a:p>
        </p:txBody>
      </p:sp>
      <p:cxnSp>
        <p:nvCxnSpPr>
          <p:cNvPr id="1063" name="Straight Connector 1062">
            <a:extLst>
              <a:ext uri="{FF2B5EF4-FFF2-40B4-BE49-F238E27FC236}">
                <a16:creationId xmlns:a16="http://schemas.microsoft.com/office/drawing/2014/main" id="{8FACCE2B-9310-3550-E4F7-36B854CF3AFD}"/>
              </a:ext>
            </a:extLst>
          </p:cNvPr>
          <p:cNvCxnSpPr/>
          <p:nvPr/>
        </p:nvCxnSpPr>
        <p:spPr>
          <a:xfrm>
            <a:off x="14290664" y="6430206"/>
            <a:ext cx="0" cy="23732065"/>
          </a:xfrm>
          <a:prstGeom prst="line">
            <a:avLst/>
          </a:prstGeom>
          <a:ln w="9525">
            <a:solidFill>
              <a:schemeClr val="accent3">
                <a:lumMod val="50000"/>
              </a:schemeClr>
            </a:solidFill>
          </a:ln>
        </p:spPr>
        <p:style>
          <a:lnRef idx="1">
            <a:schemeClr val="dk1"/>
          </a:lnRef>
          <a:fillRef idx="0">
            <a:schemeClr val="dk1"/>
          </a:fillRef>
          <a:effectRef idx="0">
            <a:schemeClr val="dk1"/>
          </a:effectRef>
          <a:fontRef idx="minor">
            <a:schemeClr val="tx1"/>
          </a:fontRef>
        </p:style>
      </p:cxnSp>
      <p:cxnSp>
        <p:nvCxnSpPr>
          <p:cNvPr id="1064" name="Straight Connector 1063">
            <a:extLst>
              <a:ext uri="{FF2B5EF4-FFF2-40B4-BE49-F238E27FC236}">
                <a16:creationId xmlns:a16="http://schemas.microsoft.com/office/drawing/2014/main" id="{C0455972-CAF8-84FF-6439-FF7A2EED03F1}"/>
              </a:ext>
            </a:extLst>
          </p:cNvPr>
          <p:cNvCxnSpPr/>
          <p:nvPr/>
        </p:nvCxnSpPr>
        <p:spPr>
          <a:xfrm>
            <a:off x="28436528" y="6401801"/>
            <a:ext cx="0" cy="23732065"/>
          </a:xfrm>
          <a:prstGeom prst="line">
            <a:avLst/>
          </a:prstGeom>
          <a:ln>
            <a:solidFill>
              <a:schemeClr val="accent3">
                <a:lumMod val="50000"/>
              </a:schemeClr>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6E4C33A6-C213-B5B0-DE57-2D913FEED203}"/>
              </a:ext>
            </a:extLst>
          </p:cNvPr>
          <p:cNvSpPr txBox="1"/>
          <p:nvPr/>
        </p:nvSpPr>
        <p:spPr>
          <a:xfrm>
            <a:off x="324262" y="17405334"/>
            <a:ext cx="13751514" cy="830997"/>
          </a:xfrm>
          <a:prstGeom prst="rect">
            <a:avLst/>
          </a:prstGeom>
          <a:solidFill>
            <a:schemeClr val="accent2"/>
          </a:solidFill>
        </p:spPr>
        <p:txBody>
          <a:bodyPr wrap="square" rtlCol="0">
            <a:spAutoFit/>
          </a:bodyPr>
          <a:lstStyle/>
          <a:p>
            <a:pPr algn="ctr" eaLnBrk="1" hangingPunct="1"/>
            <a:r>
              <a:rPr lang="en-US" sz="4800" b="1" dirty="0">
                <a:latin typeface="Arial" panose="020B0604020202020204" pitchFamily="34" charset="0"/>
                <a:cs typeface="Arial" panose="020B0604020202020204" pitchFamily="34" charset="0"/>
              </a:rPr>
              <a:t>Dunn’s Multiple Comparison Test</a:t>
            </a:r>
          </a:p>
        </p:txBody>
      </p:sp>
      <p:pic>
        <p:nvPicPr>
          <p:cNvPr id="30" name="Picture 29">
            <a:extLst>
              <a:ext uri="{FF2B5EF4-FFF2-40B4-BE49-F238E27FC236}">
                <a16:creationId xmlns:a16="http://schemas.microsoft.com/office/drawing/2014/main" id="{B3555E66-24E9-56BF-0EE5-A3F23CA327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4368" y="22268779"/>
            <a:ext cx="7153871" cy="5061433"/>
          </a:xfrm>
          <a:prstGeom prst="rect">
            <a:avLst/>
          </a:prstGeom>
        </p:spPr>
      </p:pic>
      <p:sp>
        <p:nvSpPr>
          <p:cNvPr id="35" name="TextBox 34">
            <a:extLst>
              <a:ext uri="{FF2B5EF4-FFF2-40B4-BE49-F238E27FC236}">
                <a16:creationId xmlns:a16="http://schemas.microsoft.com/office/drawing/2014/main" id="{FCEB6B69-2DFF-A800-6B71-02CC2F98A849}"/>
              </a:ext>
            </a:extLst>
          </p:cNvPr>
          <p:cNvSpPr txBox="1"/>
          <p:nvPr/>
        </p:nvSpPr>
        <p:spPr>
          <a:xfrm>
            <a:off x="305983" y="9837642"/>
            <a:ext cx="13767838" cy="830997"/>
          </a:xfrm>
          <a:prstGeom prst="rect">
            <a:avLst/>
          </a:prstGeom>
          <a:solidFill>
            <a:schemeClr val="accent2"/>
          </a:solidFill>
        </p:spPr>
        <p:txBody>
          <a:bodyPr wrap="square" rtlCol="0">
            <a:spAutoFit/>
          </a:bodyPr>
          <a:lstStyle/>
          <a:p>
            <a:pPr algn="ctr" eaLnBrk="1" hangingPunct="1"/>
            <a:r>
              <a:rPr lang="en-US" sz="4800" b="1" dirty="0">
                <a:latin typeface="Arial" panose="020B0604020202020204" pitchFamily="34" charset="0"/>
                <a:cs typeface="Arial" panose="020B0604020202020204" pitchFamily="34" charset="0"/>
              </a:rPr>
              <a:t>Kruskal-Wallis Testing</a:t>
            </a:r>
          </a:p>
        </p:txBody>
      </p:sp>
      <mc:AlternateContent xmlns:mc="http://schemas.openxmlformats.org/markup-compatibility/2006">
        <mc:Choice xmlns:a14="http://schemas.microsoft.com/office/drawing/2010/main" Requires="a14">
          <p:sp>
            <p:nvSpPr>
              <p:cNvPr id="36" name="Rectangle 35">
                <a:extLst>
                  <a:ext uri="{FF2B5EF4-FFF2-40B4-BE49-F238E27FC236}">
                    <a16:creationId xmlns:a16="http://schemas.microsoft.com/office/drawing/2014/main" id="{7A399FE9-9C13-5581-3A68-117C7DB0B219}"/>
                  </a:ext>
                </a:extLst>
              </p:cNvPr>
              <p:cNvSpPr/>
              <p:nvPr/>
            </p:nvSpPr>
            <p:spPr>
              <a:xfrm>
                <a:off x="378594" y="10662030"/>
                <a:ext cx="13656134" cy="6401120"/>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l" rtl="0" fontAlgn="base">
                  <a:spcBef>
                    <a:spcPts val="0"/>
                  </a:spcBef>
                  <a:spcAft>
                    <a:spcPts val="0"/>
                  </a:spcAft>
                </a:pPr>
                <a:endParaRPr lang="en-US" sz="28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dirty="0">
                    <a:solidFill>
                      <a:srgbClr val="000000"/>
                    </a:solidFill>
                    <a:latin typeface="Arial" panose="020B0604020202020204" pitchFamily="34" charset="0"/>
                    <a:ea typeface="Lato" panose="020F0502020204030203" pitchFamily="34" charset="0"/>
                    <a:cs typeface="Arial" panose="020B0604020202020204" pitchFamily="34" charset="0"/>
                  </a:rPr>
                  <a:t>The Kruskal-Wallis test is a nonparametric analysis of variance that determines if the medians of groups are statistically discernible. </a:t>
                </a: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The hypotheses for testing are similar to those of ANOVA testing.</a:t>
                </a:r>
              </a:p>
              <a:p>
                <a:pPr marL="457200" indent="-457200" algn="l" rtl="0" fontAlgn="base">
                  <a:spcBef>
                    <a:spcPts val="0"/>
                  </a:spcBef>
                  <a:spcAft>
                    <a:spcPts val="0"/>
                  </a:spcAft>
                  <a:buFont typeface="Arial" panose="020B0604020202020204" pitchFamily="34" charset="0"/>
                  <a:buChar char="•"/>
                </a:pPr>
                <a:endParaRPr lang="en-US" sz="3000" i="1" dirty="0">
                  <a:solidFill>
                    <a:srgbClr val="000000"/>
                  </a:solidFill>
                  <a:latin typeface="Cambria Math" panose="02040503050406030204" pitchFamily="18" charset="0"/>
                  <a:ea typeface="Lato" panose="020F0502020204030203" pitchFamily="34" charset="0"/>
                  <a:cs typeface="Arial" panose="020B0604020202020204" pitchFamily="34" charset="0"/>
                </a:endParaRPr>
              </a:p>
              <a:p>
                <a:pPr algn="l" rtl="0" fontAlgn="base">
                  <a:spcBef>
                    <a:spcPts val="0"/>
                  </a:spcBef>
                  <a:spcAft>
                    <a:spcPts val="0"/>
                  </a:spcAft>
                </a:pPr>
                <a:endParaRPr lang="en-US" sz="3000" i="1" dirty="0">
                  <a:solidFill>
                    <a:srgbClr val="000000"/>
                  </a:solidFill>
                  <a:latin typeface="Cambria Math" panose="02040503050406030204" pitchFamily="18" charset="0"/>
                  <a:ea typeface="Lato" panose="020F0502020204030203" pitchFamily="34" charset="0"/>
                  <a:cs typeface="Arial" panose="020B0604020202020204" pitchFamily="34" charset="0"/>
                </a:endParaRPr>
              </a:p>
              <a:p>
                <a:pPr algn="l" rtl="0" fontAlgn="base">
                  <a:spcBef>
                    <a:spcPts val="0"/>
                  </a:spcBef>
                  <a:spcAft>
                    <a:spcPts val="0"/>
                  </a:spcAft>
                </a:pPr>
                <a:endParaRPr lang="en-US" sz="3000" i="1" dirty="0">
                  <a:solidFill>
                    <a:srgbClr val="000000"/>
                  </a:solidFill>
                  <a:latin typeface="Cambria Math" panose="02040503050406030204" pitchFamily="18" charset="0"/>
                  <a:ea typeface="Lato" panose="020F0502020204030203" pitchFamily="34" charset="0"/>
                  <a:cs typeface="Arial" panose="020B0604020202020204" pitchFamily="34" charset="0"/>
                </a:endParaRPr>
              </a:p>
              <a:p>
                <a:pPr algn="l" rtl="0" fontAlgn="base">
                  <a:spcBef>
                    <a:spcPts val="0"/>
                  </a:spcBef>
                  <a:spcAft>
                    <a:spcPts val="0"/>
                  </a:spcAft>
                </a:pPr>
                <a:endParaRPr lang="en-US" sz="3000" i="1" dirty="0">
                  <a:solidFill>
                    <a:srgbClr val="000000"/>
                  </a:solidFill>
                  <a:latin typeface="Cambria Math" panose="02040503050406030204" pitchFamily="18"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b="0" u="none" strike="noStrike" dirty="0">
                    <a:solidFill>
                      <a:srgbClr val="000000"/>
                    </a:solidFill>
                    <a:effectLst/>
                    <a:ea typeface="Lato" panose="020F0502020204030203" pitchFamily="34" charset="0"/>
                    <a:cs typeface="Arial" panose="020B0604020202020204" pitchFamily="34" charset="0"/>
                  </a:rPr>
                  <a:t>The test statistic is</a:t>
                </a:r>
                <a:r>
                  <a:rPr lang="en-US" sz="3600" b="0" u="none" strike="noStrike" dirty="0">
                    <a:solidFill>
                      <a:srgbClr val="000000"/>
                    </a:solidFill>
                    <a:effectLst/>
                    <a:ea typeface="Lato" panose="020F0502020204030203" pitchFamily="34" charset="0"/>
                    <a:cs typeface="Arial" panose="020B0604020202020204" pitchFamily="34" charset="0"/>
                  </a:rPr>
                  <a:t>:     </a:t>
                </a:r>
              </a:p>
              <a:p>
                <a:pPr marL="457200" indent="-457200" algn="l" rtl="0" fontAlgn="base">
                  <a:spcBef>
                    <a:spcPts val="0"/>
                  </a:spcBef>
                  <a:spcAft>
                    <a:spcPts val="0"/>
                  </a:spcAft>
                  <a:buFont typeface="Arial" panose="020B0604020202020204" pitchFamily="34" charset="0"/>
                  <a:buChar char="•"/>
                </a:pPr>
                <a:endParaRPr lang="en-US" sz="3600" b="0" u="none" strike="noStrike" dirty="0">
                  <a:solidFill>
                    <a:srgbClr val="000000"/>
                  </a:solidFill>
                  <a:effectLst/>
                  <a:ea typeface="Lato" panose="020F0502020204030203" pitchFamily="34" charset="0"/>
                  <a:cs typeface="Arial" panose="020B0604020202020204" pitchFamily="34" charset="0"/>
                </a:endParaRPr>
              </a:p>
              <a:p>
                <a:pPr algn="l" rtl="0" fontAlgn="base">
                  <a:spcBef>
                    <a:spcPts val="0"/>
                  </a:spcBef>
                  <a:spcAft>
                    <a:spcPts val="0"/>
                  </a:spcAft>
                </a:pPr>
                <a:r>
                  <a:rPr lang="en-US" sz="3600" b="0" u="none" strike="noStrike" dirty="0">
                    <a:solidFill>
                      <a:srgbClr val="000000"/>
                    </a:solidFill>
                    <a:effectLst/>
                    <a:ea typeface="Lato" panose="020F0502020204030203" pitchFamily="34" charset="0"/>
                    <a:cs typeface="Arial" panose="020B0604020202020204" pitchFamily="34" charset="0"/>
                  </a:rPr>
                  <a:t>		                                       </a:t>
                </a:r>
                <a:r>
                  <a:rPr lang="en-US" sz="3000" dirty="0">
                    <a:solidFill>
                      <a:srgbClr val="000000"/>
                    </a:solidFill>
                    <a:latin typeface="Arial" panose="020B0604020202020204" pitchFamily="34" charset="0"/>
                    <a:ea typeface="Lato" panose="020F0502020204030203" pitchFamily="34" charset="0"/>
                    <a:cs typeface="Arial" panose="020B0604020202020204" pitchFamily="34" charset="0"/>
                  </a:rPr>
                  <a:t>Where </a:t>
                </a:r>
                <a14:m>
                  <m:oMath xmlns:m="http://schemas.openxmlformats.org/officeDocument/2006/math">
                    <m:sSubSup>
                      <m:sSubSupPr>
                        <m:ctrlPr>
                          <a:rPr lang="en-US" sz="30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ctrlPr>
                      </m:sSubSupPr>
                      <m:e>
                        <m:r>
                          <a:rPr lang="en-US" sz="30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𝑅</m:t>
                        </m:r>
                      </m:e>
                      <m:sub>
                        <m:r>
                          <a:rPr lang="en-US" sz="30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𝑖</m:t>
                        </m:r>
                      </m:sub>
                      <m:sup>
                        <m:r>
                          <a:rPr lang="en-US" sz="30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2</m:t>
                        </m:r>
                      </m:sup>
                    </m:sSubSup>
                  </m:oMath>
                </a14:m>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is the sum of ranks in the </a:t>
                </a:r>
                <a:r>
                  <a:rPr lang="en-US" sz="3000" b="0" i="0" u="none" strike="noStrike" dirty="0" err="1">
                    <a:solidFill>
                      <a:srgbClr val="000000"/>
                    </a:solidFill>
                    <a:effectLst/>
                    <a:latin typeface="Arial" panose="020B0604020202020204" pitchFamily="34" charset="0"/>
                    <a:ea typeface="Lato" panose="020F0502020204030203" pitchFamily="34" charset="0"/>
                    <a:cs typeface="Arial" panose="020B0604020202020204" pitchFamily="34" charset="0"/>
                  </a:rPr>
                  <a:t>i-th</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group and k is the number of groups.</a:t>
                </a:r>
                <a:endParaRPr lang="en-US" sz="3000" dirty="0">
                  <a:solidFill>
                    <a:srgbClr val="000000"/>
                  </a:solidFill>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The test resulted in p-value &lt; </a:t>
                </a:r>
                <a:r>
                  <a:rPr lang="en-US" sz="3000" dirty="0">
                    <a:solidFill>
                      <a:srgbClr val="000000"/>
                    </a:solidFill>
                    <a:latin typeface="Arial" panose="020B0604020202020204" pitchFamily="34" charset="0"/>
                    <a:ea typeface="Lato" panose="020F0502020204030203" pitchFamily="34" charset="0"/>
                    <a:cs typeface="Arial" panose="020B0604020202020204" pitchFamily="34" charset="0"/>
                  </a:rPr>
                  <a:t>0.001</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indicating at least one group is statistically discernible from another and we should reject the null hypothesis.</a:t>
                </a:r>
              </a:p>
            </p:txBody>
          </p:sp>
        </mc:Choice>
        <mc:Fallback>
          <p:sp>
            <p:nvSpPr>
              <p:cNvPr id="36" name="Rectangle 35">
                <a:extLst>
                  <a:ext uri="{FF2B5EF4-FFF2-40B4-BE49-F238E27FC236}">
                    <a16:creationId xmlns:a16="http://schemas.microsoft.com/office/drawing/2014/main" id="{7A399FE9-9C13-5581-3A68-117C7DB0B219}"/>
                  </a:ext>
                </a:extLst>
              </p:cNvPr>
              <p:cNvSpPr>
                <a:spLocks noRot="1" noChangeAspect="1" noMove="1" noResize="1" noEditPoints="1" noAdjustHandles="1" noChangeArrowheads="1" noChangeShapeType="1" noTextEdit="1"/>
              </p:cNvSpPr>
              <p:nvPr/>
            </p:nvSpPr>
            <p:spPr>
              <a:xfrm>
                <a:off x="378594" y="10662030"/>
                <a:ext cx="13656134" cy="6401120"/>
              </a:xfrm>
              <a:prstGeom prst="rect">
                <a:avLst/>
              </a:prstGeom>
              <a:blipFill>
                <a:blip r:embed="rId4"/>
                <a:stretch>
                  <a:fillRect l="-1022" r="-836" b="-5743"/>
                </a:stretch>
              </a:blipFill>
              <a:ln>
                <a:noFill/>
              </a:ln>
            </p:spPr>
            <p:txBody>
              <a:bodyPr/>
              <a:lstStyle/>
              <a:p>
                <a:r>
                  <a:rPr lang="en-US">
                    <a:noFill/>
                  </a:rPr>
                  <a:t> </a:t>
                </a:r>
              </a:p>
            </p:txBody>
          </p:sp>
        </mc:Fallback>
      </mc:AlternateContent>
      <p:sp>
        <p:nvSpPr>
          <p:cNvPr id="43" name="Text Box 10">
            <a:extLst>
              <a:ext uri="{FF2B5EF4-FFF2-40B4-BE49-F238E27FC236}">
                <a16:creationId xmlns:a16="http://schemas.microsoft.com/office/drawing/2014/main" id="{4211B928-5237-5C09-3E3E-DA13F0B4AB76}"/>
              </a:ext>
            </a:extLst>
          </p:cNvPr>
          <p:cNvSpPr txBox="1">
            <a:spLocks noChangeArrowheads="1"/>
          </p:cNvSpPr>
          <p:nvPr/>
        </p:nvSpPr>
        <p:spPr bwMode="auto">
          <a:xfrm>
            <a:off x="40048544" y="14491848"/>
            <a:ext cx="3100909" cy="3860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b="1" dirty="0">
                <a:latin typeface="Arial" panose="020B0604020202020204" pitchFamily="34" charset="0"/>
                <a:cs typeface="Arial" panose="020B0604020202020204" pitchFamily="34" charset="0"/>
              </a:rPr>
              <a:t>QR Code for data</a:t>
            </a:r>
            <a:endParaRPr lang="en-CA" b="1" dirty="0">
              <a:latin typeface="Arial" panose="020B0604020202020204" pitchFamily="34" charset="0"/>
              <a:cs typeface="Arial" panose="020B0604020202020204" pitchFamily="34" charset="0"/>
            </a:endParaRPr>
          </a:p>
        </p:txBody>
      </p:sp>
      <p:pic>
        <p:nvPicPr>
          <p:cNvPr id="44" name="Picture 43">
            <a:extLst>
              <a:ext uri="{FF2B5EF4-FFF2-40B4-BE49-F238E27FC236}">
                <a16:creationId xmlns:a16="http://schemas.microsoft.com/office/drawing/2014/main" id="{7F4ABE18-5A26-0D43-BE76-448B50832790}"/>
              </a:ext>
            </a:extLst>
          </p:cNvPr>
          <p:cNvPicPr>
            <a:picLocks noChangeAspect="1"/>
          </p:cNvPicPr>
          <p:nvPr/>
        </p:nvPicPr>
        <p:blipFill>
          <a:blip r:embed="rId5"/>
          <a:stretch>
            <a:fillRect/>
          </a:stretch>
        </p:blipFill>
        <p:spPr>
          <a:xfrm>
            <a:off x="249131" y="27885403"/>
            <a:ext cx="2443178" cy="2443178"/>
          </a:xfrm>
          <a:prstGeom prst="rect">
            <a:avLst/>
          </a:prstGeom>
        </p:spPr>
      </p:pic>
      <p:pic>
        <p:nvPicPr>
          <p:cNvPr id="47" name="Picture 46" descr="A gold medal with red and white stripes&#10;&#10;Description automatically generated">
            <a:extLst>
              <a:ext uri="{FF2B5EF4-FFF2-40B4-BE49-F238E27FC236}">
                <a16:creationId xmlns:a16="http://schemas.microsoft.com/office/drawing/2014/main" id="{9816EB6B-ED0D-41CA-BD23-D712B16C99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852886" y="10186119"/>
            <a:ext cx="5102752" cy="2793628"/>
          </a:xfrm>
          <a:prstGeom prst="rect">
            <a:avLst/>
          </a:prstGeom>
        </p:spPr>
      </p:pic>
      <p:sp>
        <p:nvSpPr>
          <p:cNvPr id="59" name="Rectangle 58">
            <a:extLst>
              <a:ext uri="{FF2B5EF4-FFF2-40B4-BE49-F238E27FC236}">
                <a16:creationId xmlns:a16="http://schemas.microsoft.com/office/drawing/2014/main" id="{7ED2883E-0C25-9FDA-9F6D-9BA6F6C98F6A}"/>
              </a:ext>
            </a:extLst>
          </p:cNvPr>
          <p:cNvSpPr/>
          <p:nvPr/>
        </p:nvSpPr>
        <p:spPr>
          <a:xfrm>
            <a:off x="28558618" y="15860067"/>
            <a:ext cx="13615376" cy="2920368"/>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buFont typeface="Arial" panose="020B0604020202020204" pitchFamily="34" charset="0"/>
              <a:buChar char="•"/>
            </a:pPr>
            <a:r>
              <a:rPr lang="en-US" sz="3000" b="0" i="0" u="none" strike="noStrike" dirty="0">
                <a:solidFill>
                  <a:srgbClr val="000000"/>
                </a:solidFill>
                <a:effectLst/>
                <a:latin typeface="Arial" panose="020B0604020202020204" pitchFamily="34" charset="0"/>
                <a:cs typeface="Arial" panose="020B0604020202020204" pitchFamily="34" charset="0"/>
              </a:rPr>
              <a:t>The scatterplot shows rowers’ goals compared to how far from their goal (rounded in seconds) they achieved on that piece.</a:t>
            </a:r>
          </a:p>
          <a:p>
            <a:pPr marL="457200" indent="-457200" algn="l" rtl="0">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cs typeface="Arial" panose="020B0604020202020204" pitchFamily="34" charset="0"/>
              </a:rPr>
              <a:t>The confidence interval and visualization show that many athletes are meeting or exceeding their goals during test pieces, indicating that they should reassess how ambitious their aim is.</a:t>
            </a:r>
          </a:p>
          <a:p>
            <a:pPr marL="457200" indent="-457200" algn="l" rtl="0">
              <a:spcBef>
                <a:spcPts val="0"/>
              </a:spcBef>
              <a:spcAft>
                <a:spcPts val="0"/>
              </a:spcAft>
              <a:buFont typeface="Arial" panose="020B0604020202020204" pitchFamily="34" charset="0"/>
              <a:buChar char="•"/>
            </a:pPr>
            <a:r>
              <a:rPr lang="en-US" sz="3000" b="0" i="0" u="none" strike="noStrike" dirty="0">
                <a:solidFill>
                  <a:schemeClr val="tx1"/>
                </a:solidFill>
                <a:effectLst/>
                <a:latin typeface="Arial" panose="020B0604020202020204" pitchFamily="34" charset="0"/>
                <a:cs typeface="Arial" panose="020B0604020202020204" pitchFamily="34" charset="0"/>
              </a:rPr>
              <a:t>We can extend this module to explore more about the </a:t>
            </a:r>
            <a:r>
              <a:rPr lang="en-US" sz="3000" dirty="0">
                <a:solidFill>
                  <a:schemeClr val="tx1"/>
                </a:solidFill>
                <a:latin typeface="Arial" panose="020B0604020202020204" pitchFamily="34" charset="0"/>
                <a:cs typeface="Arial" panose="020B0604020202020204" pitchFamily="34" charset="0"/>
              </a:rPr>
              <a:t>type of goal being set.</a:t>
            </a:r>
            <a:endParaRPr lang="en-US" sz="3000" b="0" i="0" u="none" strike="noStrike" dirty="0">
              <a:solidFill>
                <a:schemeClr val="tx1"/>
              </a:solidFill>
              <a:effectLst/>
              <a:latin typeface="Arial" panose="020B0604020202020204" pitchFamily="34" charset="0"/>
              <a:cs typeface="Arial" panose="020B0604020202020204" pitchFamily="34" charset="0"/>
            </a:endParaRPr>
          </a:p>
        </p:txBody>
      </p:sp>
      <p:pic>
        <p:nvPicPr>
          <p:cNvPr id="41" name="Picture 40">
            <a:extLst>
              <a:ext uri="{FF2B5EF4-FFF2-40B4-BE49-F238E27FC236}">
                <a16:creationId xmlns:a16="http://schemas.microsoft.com/office/drawing/2014/main" id="{893A5802-7BF3-77FF-5812-1A69999519CE}"/>
              </a:ext>
            </a:extLst>
          </p:cNvPr>
          <p:cNvPicPr>
            <a:picLocks noChangeAspect="1"/>
          </p:cNvPicPr>
          <p:nvPr/>
        </p:nvPicPr>
        <p:blipFill>
          <a:blip r:embed="rId7"/>
          <a:stretch>
            <a:fillRect/>
          </a:stretch>
        </p:blipFill>
        <p:spPr>
          <a:xfrm>
            <a:off x="37391434" y="10523642"/>
            <a:ext cx="5379374" cy="2727043"/>
          </a:xfrm>
          <a:prstGeom prst="rect">
            <a:avLst/>
          </a:prstGeom>
        </p:spPr>
      </p:pic>
      <p:sp>
        <p:nvSpPr>
          <p:cNvPr id="37" name="TextBox 36">
            <a:extLst>
              <a:ext uri="{FF2B5EF4-FFF2-40B4-BE49-F238E27FC236}">
                <a16:creationId xmlns:a16="http://schemas.microsoft.com/office/drawing/2014/main" id="{B4B9C720-9B21-F401-D74B-572E7DDE16A3}"/>
              </a:ext>
            </a:extLst>
          </p:cNvPr>
          <p:cNvSpPr txBox="1"/>
          <p:nvPr/>
        </p:nvSpPr>
        <p:spPr>
          <a:xfrm>
            <a:off x="28706059" y="9844494"/>
            <a:ext cx="13767838" cy="830997"/>
          </a:xfrm>
          <a:prstGeom prst="rect">
            <a:avLst/>
          </a:prstGeom>
          <a:solidFill>
            <a:schemeClr val="accent2"/>
          </a:solidFill>
        </p:spPr>
        <p:txBody>
          <a:bodyPr wrap="square" rtlCol="0">
            <a:spAutoFit/>
          </a:bodyPr>
          <a:lstStyle/>
          <a:p>
            <a:pPr algn="ctr" eaLnBrk="1" hangingPunct="1"/>
            <a:r>
              <a:rPr lang="en-US" sz="4800" b="1" dirty="0">
                <a:latin typeface="Arial" panose="020B0604020202020204" pitchFamily="34" charset="0"/>
                <a:cs typeface="Arial" panose="020B0604020202020204" pitchFamily="34" charset="0"/>
              </a:rPr>
              <a:t>Confidence Intervals</a:t>
            </a:r>
          </a:p>
        </p:txBody>
      </p:sp>
      <p:pic>
        <p:nvPicPr>
          <p:cNvPr id="42" name="Picture 41">
            <a:extLst>
              <a:ext uri="{FF2B5EF4-FFF2-40B4-BE49-F238E27FC236}">
                <a16:creationId xmlns:a16="http://schemas.microsoft.com/office/drawing/2014/main" id="{ADC2838A-C632-2154-EBE1-C88D86E8F219}"/>
              </a:ext>
            </a:extLst>
          </p:cNvPr>
          <p:cNvPicPr>
            <a:picLocks noChangeAspect="1"/>
          </p:cNvPicPr>
          <p:nvPr/>
        </p:nvPicPr>
        <p:blipFill>
          <a:blip r:embed="rId8"/>
          <a:stretch>
            <a:fillRect/>
          </a:stretch>
        </p:blipFill>
        <p:spPr>
          <a:xfrm>
            <a:off x="40767401" y="12979747"/>
            <a:ext cx="1663197" cy="1663197"/>
          </a:xfrm>
          <a:prstGeom prst="rect">
            <a:avLst/>
          </a:prstGeom>
        </p:spPr>
      </p:pic>
      <p:sp>
        <p:nvSpPr>
          <p:cNvPr id="57" name="TextBox 56">
            <a:extLst>
              <a:ext uri="{FF2B5EF4-FFF2-40B4-BE49-F238E27FC236}">
                <a16:creationId xmlns:a16="http://schemas.microsoft.com/office/drawing/2014/main" id="{50C49C76-A1A6-968A-6153-1C03F86EFB00}"/>
              </a:ext>
            </a:extLst>
          </p:cNvPr>
          <p:cNvSpPr txBox="1"/>
          <p:nvPr/>
        </p:nvSpPr>
        <p:spPr>
          <a:xfrm>
            <a:off x="28669784" y="14995971"/>
            <a:ext cx="13760147" cy="830997"/>
          </a:xfrm>
          <a:prstGeom prst="rect">
            <a:avLst/>
          </a:prstGeom>
          <a:solidFill>
            <a:schemeClr val="accent2"/>
          </a:solidFill>
        </p:spPr>
        <p:txBody>
          <a:bodyPr wrap="square" rtlCol="0">
            <a:spAutoFit/>
          </a:bodyPr>
          <a:lstStyle/>
          <a:p>
            <a:pPr algn="ctr" eaLnBrk="1" hangingPunct="1"/>
            <a:r>
              <a:rPr lang="en-US" sz="4800" b="1" dirty="0">
                <a:latin typeface="Arial" panose="020B0604020202020204" pitchFamily="34" charset="0"/>
                <a:cs typeface="Arial" panose="020B0604020202020204" pitchFamily="34" charset="0"/>
              </a:rPr>
              <a:t>Module Extensions</a:t>
            </a:r>
          </a:p>
        </p:txBody>
      </p:sp>
      <p:sp>
        <p:nvSpPr>
          <p:cNvPr id="61" name="TextBox 60">
            <a:extLst>
              <a:ext uri="{FF2B5EF4-FFF2-40B4-BE49-F238E27FC236}">
                <a16:creationId xmlns:a16="http://schemas.microsoft.com/office/drawing/2014/main" id="{0C2E86E9-F9DB-4831-F6A7-347FAAF2069F}"/>
              </a:ext>
            </a:extLst>
          </p:cNvPr>
          <p:cNvSpPr txBox="1"/>
          <p:nvPr/>
        </p:nvSpPr>
        <p:spPr>
          <a:xfrm>
            <a:off x="14465455" y="26478342"/>
            <a:ext cx="13767838" cy="830997"/>
          </a:xfrm>
          <a:prstGeom prst="rect">
            <a:avLst/>
          </a:prstGeom>
          <a:solidFill>
            <a:schemeClr val="accent2"/>
          </a:solidFill>
        </p:spPr>
        <p:txBody>
          <a:bodyPr wrap="square" rtlCol="0">
            <a:spAutoFit/>
          </a:bodyPr>
          <a:lstStyle/>
          <a:p>
            <a:pPr algn="ctr" eaLnBrk="1" hangingPunct="1"/>
            <a:r>
              <a:rPr lang="en-US" sz="4800" b="1" dirty="0">
                <a:latin typeface="Arial" panose="020B0604020202020204" pitchFamily="34" charset="0"/>
                <a:cs typeface="Arial" panose="020B0604020202020204" pitchFamily="34" charset="0"/>
              </a:rPr>
              <a:t>Discussion</a:t>
            </a:r>
          </a:p>
        </p:txBody>
      </p:sp>
      <p:sp>
        <p:nvSpPr>
          <p:cNvPr id="1033" name="Rectangle 1032">
            <a:extLst>
              <a:ext uri="{FF2B5EF4-FFF2-40B4-BE49-F238E27FC236}">
                <a16:creationId xmlns:a16="http://schemas.microsoft.com/office/drawing/2014/main" id="{CF6229E9-4584-78CC-353C-1EE507E79CE6}"/>
              </a:ext>
            </a:extLst>
          </p:cNvPr>
          <p:cNvSpPr/>
          <p:nvPr/>
        </p:nvSpPr>
        <p:spPr>
          <a:xfrm>
            <a:off x="14670005" y="27492829"/>
            <a:ext cx="13043388" cy="2480806"/>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lgn="l" rtl="0">
              <a:spcBef>
                <a:spcPts val="0"/>
              </a:spcBef>
              <a:spcAft>
                <a:spcPts val="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cs typeface="Arial" panose="020B0604020202020204" pitchFamily="34" charset="0"/>
              </a:rPr>
              <a:t>This poster explores multiple modules containing different topics of sports statistics and their relevance in learning statistical and data science concepts.</a:t>
            </a:r>
          </a:p>
          <a:p>
            <a:pPr marL="457200" indent="-457200">
              <a:buFont typeface="Arial" panose="020B0604020202020204" pitchFamily="34" charset="0"/>
              <a:buChar char="•"/>
            </a:pPr>
            <a:r>
              <a:rPr lang="en-US" sz="3200" b="0" i="0" u="none" strike="noStrike" dirty="0">
                <a:solidFill>
                  <a:srgbClr val="000000"/>
                </a:solidFill>
                <a:effectLst/>
                <a:latin typeface="Arial" panose="020B0604020202020204" pitchFamily="34" charset="0"/>
                <a:cs typeface="Arial" panose="020B0604020202020204" pitchFamily="34" charset="0"/>
              </a:rPr>
              <a:t>The goal is to design modules on statistical topics that</a:t>
            </a:r>
            <a:r>
              <a:rPr lang="en-US" sz="3200" dirty="0">
                <a:solidFill>
                  <a:srgbClr val="000000"/>
                </a:solidFill>
                <a:latin typeface="Arial" panose="020B0604020202020204" pitchFamily="34" charset="0"/>
                <a:cs typeface="Arial" panose="020B0604020202020204" pitchFamily="34" charset="0"/>
              </a:rPr>
              <a:t> there is a current need for in the network.</a:t>
            </a:r>
            <a:endParaRPr lang="en-US" sz="3200" b="0" i="0" u="none" strike="noStrike" dirty="0">
              <a:solidFill>
                <a:srgbClr val="000000"/>
              </a:solidFill>
              <a:effectLst/>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9" name="Rectangle 48">
                <a:extLst>
                  <a:ext uri="{FF2B5EF4-FFF2-40B4-BE49-F238E27FC236}">
                    <a16:creationId xmlns:a16="http://schemas.microsoft.com/office/drawing/2014/main" id="{CC1C420E-1F55-3802-FBCE-35F97BAD616E}"/>
                  </a:ext>
                </a:extLst>
              </p:cNvPr>
              <p:cNvSpPr/>
              <p:nvPr/>
            </p:nvSpPr>
            <p:spPr>
              <a:xfrm>
                <a:off x="28677070" y="10936252"/>
                <a:ext cx="9041868" cy="3627671"/>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lgn="l" rtl="0">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cs typeface="Arial" panose="020B0604020202020204" pitchFamily="34" charset="0"/>
                  </a:rPr>
                  <a:t>Estimating the proportion of athletes that meet or exceed their goal for a test piece.</a:t>
                </a:r>
              </a:p>
              <a:p>
                <a:pPr marL="457200" indent="-457200">
                  <a:buFont typeface="Arial" panose="020B0604020202020204" pitchFamily="34" charset="0"/>
                  <a:buChar char="•"/>
                </a:pPr>
                <a:r>
                  <a:rPr lang="en-US" sz="3000" dirty="0">
                    <a:solidFill>
                      <a:srgbClr val="000000"/>
                    </a:solidFill>
                    <a:latin typeface="Arial" panose="020B0604020202020204" pitchFamily="34" charset="0"/>
                    <a:cs typeface="Arial" panose="020B0604020202020204" pitchFamily="34" charset="0"/>
                  </a:rPr>
                  <a:t>Our parameter of interest (</a:t>
                </a:r>
                <a14:m>
                  <m:oMath xmlns:m="http://schemas.openxmlformats.org/officeDocument/2006/math">
                    <m:acc>
                      <m:accPr>
                        <m:chr m:val="̂"/>
                        <m:ctrlPr>
                          <a:rPr lang="en-US" sz="3000" i="1">
                            <a:latin typeface="Cambria Math" panose="02040503050406030204" pitchFamily="18" charset="0"/>
                          </a:rPr>
                        </m:ctrlPr>
                      </m:accPr>
                      <m:e>
                        <m:r>
                          <a:rPr lang="en-US" sz="3000" i="1">
                            <a:latin typeface="Cambria Math" panose="02040503050406030204" pitchFamily="18" charset="0"/>
                          </a:rPr>
                          <m:t>𝑝</m:t>
                        </m:r>
                      </m:e>
                    </m:acc>
                  </m:oMath>
                </a14:m>
                <a:r>
                  <a:rPr lang="en-US" sz="3000" dirty="0">
                    <a:effectLst/>
                    <a:latin typeface="Arial" panose="020B0604020202020204" pitchFamily="34" charset="0"/>
                    <a:cs typeface="Arial" panose="020B0604020202020204" pitchFamily="34" charset="0"/>
                  </a:rPr>
                  <a:t>) is the true proportion of rowers that meet or exceed their goal.</a:t>
                </a:r>
              </a:p>
              <a:p>
                <a:pPr marL="457200" indent="-457200">
                  <a:buFont typeface="Arial" panose="020B0604020202020204" pitchFamily="34" charset="0"/>
                  <a:buChar char="•"/>
                </a:pPr>
                <a:r>
                  <a:rPr lang="en-US" sz="3000" b="0" i="0" u="none" strike="noStrike" dirty="0">
                    <a:solidFill>
                      <a:schemeClr val="tx1"/>
                    </a:solidFill>
                    <a:latin typeface="Arial" panose="020B0604020202020204" pitchFamily="34" charset="0"/>
                    <a:cs typeface="Arial" panose="020B0604020202020204" pitchFamily="34" charset="0"/>
                  </a:rPr>
                  <a:t>Students work through a single proportion test and get a result of: </a:t>
                </a:r>
              </a:p>
              <a:p>
                <a:pPr marL="457200" indent="-457200">
                  <a:buFont typeface="Arial" panose="020B0604020202020204" pitchFamily="34" charset="0"/>
                  <a:buChar char="•"/>
                </a:pPr>
                <a:r>
                  <a:rPr lang="en-US" sz="3000" dirty="0">
                    <a:solidFill>
                      <a:schemeClr val="tx1"/>
                    </a:solidFill>
                    <a:effectLst/>
                    <a:latin typeface="Arial" panose="020B0604020202020204" pitchFamily="34" charset="0"/>
                    <a:cs typeface="Arial" panose="020B0604020202020204" pitchFamily="34" charset="0"/>
                  </a:rPr>
                  <a:t>Confidence Interval = (0.59</a:t>
                </a:r>
                <a:r>
                  <a:rPr lang="en-US" sz="3000" dirty="0">
                    <a:solidFill>
                      <a:schemeClr val="tx1"/>
                    </a:solidFill>
                    <a:latin typeface="Arial" panose="020B0604020202020204" pitchFamily="34" charset="0"/>
                    <a:cs typeface="Arial" panose="020B0604020202020204" pitchFamily="34" charset="0"/>
                  </a:rPr>
                  <a:t>15, 0.6005)</a:t>
                </a:r>
                <a:endParaRPr lang="en-US" sz="3000" b="0" i="0" u="none" strike="noStrike" dirty="0">
                  <a:solidFill>
                    <a:schemeClr val="tx1"/>
                  </a:solidFill>
                  <a:effectLst/>
                  <a:latin typeface="Arial" panose="020B0604020202020204" pitchFamily="34" charset="0"/>
                  <a:cs typeface="Arial" panose="020B0604020202020204" pitchFamily="34" charset="0"/>
                </a:endParaRPr>
              </a:p>
            </p:txBody>
          </p:sp>
        </mc:Choice>
        <mc:Fallback>
          <p:sp>
            <p:nvSpPr>
              <p:cNvPr id="49" name="Rectangle 48">
                <a:extLst>
                  <a:ext uri="{FF2B5EF4-FFF2-40B4-BE49-F238E27FC236}">
                    <a16:creationId xmlns:a16="http://schemas.microsoft.com/office/drawing/2014/main" id="{CC1C420E-1F55-3802-FBCE-35F97BAD616E}"/>
                  </a:ext>
                </a:extLst>
              </p:cNvPr>
              <p:cNvSpPr>
                <a:spLocks noRot="1" noChangeAspect="1" noMove="1" noResize="1" noEditPoints="1" noAdjustHandles="1" noChangeArrowheads="1" noChangeShapeType="1" noTextEdit="1"/>
              </p:cNvSpPr>
              <p:nvPr/>
            </p:nvSpPr>
            <p:spPr>
              <a:xfrm>
                <a:off x="28677070" y="10936252"/>
                <a:ext cx="9041868" cy="3627671"/>
              </a:xfrm>
              <a:prstGeom prst="rect">
                <a:avLst/>
              </a:prstGeom>
              <a:blipFill>
                <a:blip r:embed="rId9"/>
                <a:stretch>
                  <a:fillRect l="-1403" t="-3846" r="-842" b="-6993"/>
                </a:stretch>
              </a:blipFill>
              <a:ln>
                <a:noFill/>
              </a:ln>
            </p:spPr>
            <p:txBody>
              <a:bodyPr/>
              <a:lstStyle/>
              <a:p>
                <a:r>
                  <a:rPr lang="en-US">
                    <a:noFill/>
                  </a:rPr>
                  <a:t> </a:t>
                </a:r>
              </a:p>
            </p:txBody>
          </p:sp>
        </mc:Fallback>
      </mc:AlternateContent>
      <p:pic>
        <p:nvPicPr>
          <p:cNvPr id="1043" name="Picture 1042" descr="A graph of a graph of a graph&#10;&#10;Description automatically generated with medium confidence">
            <a:extLst>
              <a:ext uri="{FF2B5EF4-FFF2-40B4-BE49-F238E27FC236}">
                <a16:creationId xmlns:a16="http://schemas.microsoft.com/office/drawing/2014/main" id="{B97298BB-4DAA-1644-BEE2-984977B5F05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4801" y="22268779"/>
            <a:ext cx="6959470" cy="5061433"/>
          </a:xfrm>
          <a:prstGeom prst="rect">
            <a:avLst/>
          </a:prstGeom>
        </p:spPr>
      </p:pic>
      <p:sp>
        <p:nvSpPr>
          <p:cNvPr id="1044" name="Text Box 10">
            <a:extLst>
              <a:ext uri="{FF2B5EF4-FFF2-40B4-BE49-F238E27FC236}">
                <a16:creationId xmlns:a16="http://schemas.microsoft.com/office/drawing/2014/main" id="{BD7FE81A-168D-6C3F-6CDD-508CB71FAD85}"/>
              </a:ext>
            </a:extLst>
          </p:cNvPr>
          <p:cNvSpPr txBox="1">
            <a:spLocks noChangeArrowheads="1"/>
          </p:cNvSpPr>
          <p:nvPr/>
        </p:nvSpPr>
        <p:spPr bwMode="auto">
          <a:xfrm>
            <a:off x="249130" y="27405807"/>
            <a:ext cx="6762291" cy="40140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sz="2100" b="1" dirty="0">
                <a:latin typeface="Arial" panose="020B0604020202020204" pitchFamily="34" charset="0"/>
                <a:cs typeface="Arial" panose="020B0604020202020204" pitchFamily="34" charset="0"/>
              </a:rPr>
              <a:t>Figure 1. Boxplot of Benching Weight by Age Class</a:t>
            </a:r>
            <a:endParaRPr lang="en-CA" sz="2100" b="1" dirty="0">
              <a:latin typeface="Arial" panose="020B0604020202020204" pitchFamily="34" charset="0"/>
              <a:cs typeface="Arial" panose="020B0604020202020204" pitchFamily="34" charset="0"/>
            </a:endParaRPr>
          </a:p>
        </p:txBody>
      </p:sp>
      <p:sp>
        <p:nvSpPr>
          <p:cNvPr id="1046" name="TextBox 1045">
            <a:extLst>
              <a:ext uri="{FF2B5EF4-FFF2-40B4-BE49-F238E27FC236}">
                <a16:creationId xmlns:a16="http://schemas.microsoft.com/office/drawing/2014/main" id="{6F4E8EEE-AEF5-6758-A24E-9EFE932813B2}"/>
              </a:ext>
            </a:extLst>
          </p:cNvPr>
          <p:cNvSpPr txBox="1"/>
          <p:nvPr/>
        </p:nvSpPr>
        <p:spPr>
          <a:xfrm>
            <a:off x="899193" y="12418779"/>
            <a:ext cx="13092777" cy="954107"/>
          </a:xfrm>
          <a:prstGeom prst="rect">
            <a:avLst/>
          </a:prstGeom>
          <a:noFill/>
        </p:spPr>
        <p:txBody>
          <a:bodyPr wrap="square" rtlCol="0">
            <a:spAutoFit/>
          </a:bodyPr>
          <a:lstStyle/>
          <a:p>
            <a:r>
              <a:rPr lang="en-US" sz="2800" i="1" dirty="0">
                <a:latin typeface="Arial" panose="020B0604020202020204" pitchFamily="34" charset="0"/>
                <a:cs typeface="Arial" panose="020B0604020202020204" pitchFamily="34" charset="0"/>
              </a:rPr>
              <a:t>H</a:t>
            </a:r>
            <a:r>
              <a:rPr lang="en-US" sz="2800" i="1" baseline="-25000" dirty="0">
                <a:latin typeface="Arial" panose="020B0604020202020204" pitchFamily="34" charset="0"/>
                <a:cs typeface="Arial" panose="020B0604020202020204" pitchFamily="34" charset="0"/>
              </a:rPr>
              <a:t>0</a:t>
            </a:r>
            <a:r>
              <a:rPr lang="en-US" sz="2800" i="1" dirty="0">
                <a:latin typeface="Arial" panose="020B0604020202020204" pitchFamily="34" charset="0"/>
                <a:cs typeface="Arial" panose="020B0604020202020204" pitchFamily="34" charset="0"/>
              </a:rPr>
              <a:t>= there is no difference in the median powerlifting weight between age classes.</a:t>
            </a:r>
          </a:p>
          <a:p>
            <a:r>
              <a:rPr lang="en-US" sz="2800" i="1" dirty="0">
                <a:latin typeface="Arial" panose="020B0604020202020204" pitchFamily="34" charset="0"/>
                <a:cs typeface="Arial" panose="020B0604020202020204" pitchFamily="34" charset="0"/>
              </a:rPr>
              <a:t>H</a:t>
            </a:r>
            <a:r>
              <a:rPr lang="en-US" sz="2800" i="1" baseline="-25000" dirty="0">
                <a:latin typeface="Arial" panose="020B0604020202020204" pitchFamily="34" charset="0"/>
                <a:cs typeface="Arial" panose="020B0604020202020204" pitchFamily="34" charset="0"/>
              </a:rPr>
              <a:t>a </a:t>
            </a:r>
            <a:r>
              <a:rPr lang="en-US" sz="2800" i="1" dirty="0">
                <a:latin typeface="Arial" panose="020B0604020202020204" pitchFamily="34" charset="0"/>
                <a:cs typeface="Arial" panose="020B0604020202020204" pitchFamily="34" charset="0"/>
              </a:rPr>
              <a:t>= at least one group differs from another.</a:t>
            </a:r>
          </a:p>
        </p:txBody>
      </p:sp>
      <mc:AlternateContent xmlns:mc="http://schemas.openxmlformats.org/markup-compatibility/2006">
        <mc:Choice xmlns:a14="http://schemas.microsoft.com/office/drawing/2010/main" Requires="a14">
          <p:sp>
            <p:nvSpPr>
              <p:cNvPr id="1047" name="TextBox 1046">
                <a:extLst>
                  <a:ext uri="{FF2B5EF4-FFF2-40B4-BE49-F238E27FC236}">
                    <a16:creationId xmlns:a16="http://schemas.microsoft.com/office/drawing/2014/main" id="{916C0D3D-F044-D54B-CD11-61C3CD3FD552}"/>
                  </a:ext>
                </a:extLst>
              </p:cNvPr>
              <p:cNvSpPr txBox="1"/>
              <p:nvPr/>
            </p:nvSpPr>
            <p:spPr>
              <a:xfrm>
                <a:off x="3978326" y="13627819"/>
                <a:ext cx="6929120" cy="15740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𝐻</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 </m:t>
                      </m:r>
                      <m:f>
                        <m:fPr>
                          <m:ctrlP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ctrlPr>
                        </m:fPr>
                        <m:num>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12</m:t>
                          </m:r>
                        </m:num>
                        <m:den>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𝑁</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𝑁</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+1)</m:t>
                          </m:r>
                        </m:den>
                      </m:f>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 </m:t>
                      </m:r>
                      <m:nary>
                        <m:naryPr>
                          <m:chr m:val="∑"/>
                          <m:ctrlP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ctrlPr>
                        </m:naryPr>
                        <m:sub>
                          <m:r>
                            <m:rPr>
                              <m:brk m:alnAt="23"/>
                            </m:rP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𝑖</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=1</m:t>
                          </m:r>
                        </m:sub>
                        <m:sup>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𝑘</m:t>
                          </m:r>
                        </m:sup>
                        <m:e>
                          <m:f>
                            <m:fPr>
                              <m:ctrlP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ctrlPr>
                            </m:fPr>
                            <m:num>
                              <m:sSubSup>
                                <m:sSubSupPr>
                                  <m:ctrlP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ctrlPr>
                                </m:sSubSupPr>
                                <m:e>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𝑅</m:t>
                                  </m:r>
                                </m:e>
                                <m:sub>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𝑖</m:t>
                                  </m:r>
                                </m:sub>
                                <m:sup>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2</m:t>
                                  </m:r>
                                </m:sup>
                              </m:sSubSup>
                            </m:num>
                            <m:den>
                              <m:sSub>
                                <m:sSubPr>
                                  <m:ctrlP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ctrlPr>
                                </m:sSubPr>
                                <m:e>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𝑛</m:t>
                                  </m:r>
                                </m:e>
                                <m:sub>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𝑖</m:t>
                                  </m:r>
                                </m:sub>
                              </m:sSub>
                            </m:den>
                          </m:f>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−3(</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𝑁</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+1)</m:t>
                          </m:r>
                        </m:e>
                      </m:nary>
                    </m:oMath>
                  </m:oMathPara>
                </a14:m>
                <a:endParaRPr lang="en-US" sz="3400" dirty="0">
                  <a:latin typeface="Arial" panose="020B0604020202020204" pitchFamily="34" charset="0"/>
                  <a:cs typeface="Arial" panose="020B0604020202020204" pitchFamily="34" charset="0"/>
                </a:endParaRPr>
              </a:p>
            </p:txBody>
          </p:sp>
        </mc:Choice>
        <mc:Fallback>
          <p:sp>
            <p:nvSpPr>
              <p:cNvPr id="1047" name="TextBox 1046">
                <a:extLst>
                  <a:ext uri="{FF2B5EF4-FFF2-40B4-BE49-F238E27FC236}">
                    <a16:creationId xmlns:a16="http://schemas.microsoft.com/office/drawing/2014/main" id="{916C0D3D-F044-D54B-CD11-61C3CD3FD552}"/>
                  </a:ext>
                </a:extLst>
              </p:cNvPr>
              <p:cNvSpPr txBox="1">
                <a:spLocks noRot="1" noChangeAspect="1" noMove="1" noResize="1" noEditPoints="1" noAdjustHandles="1" noChangeArrowheads="1" noChangeShapeType="1" noTextEdit="1"/>
              </p:cNvSpPr>
              <p:nvPr/>
            </p:nvSpPr>
            <p:spPr>
              <a:xfrm>
                <a:off x="3978326" y="13627819"/>
                <a:ext cx="6929120" cy="1574085"/>
              </a:xfrm>
              <a:prstGeom prst="rect">
                <a:avLst/>
              </a:prstGeom>
              <a:blipFill>
                <a:blip r:embed="rId11"/>
                <a:stretch>
                  <a:fillRect t="-103200" b="-161600"/>
                </a:stretch>
              </a:blipFill>
            </p:spPr>
            <p:txBody>
              <a:bodyPr/>
              <a:lstStyle/>
              <a:p>
                <a:r>
                  <a:rPr lang="en-US">
                    <a:noFill/>
                  </a:rPr>
                  <a:t> </a:t>
                </a:r>
              </a:p>
            </p:txBody>
          </p:sp>
        </mc:Fallback>
      </mc:AlternateContent>
      <p:sp>
        <p:nvSpPr>
          <p:cNvPr id="1048" name="TextBox 1047">
            <a:extLst>
              <a:ext uri="{FF2B5EF4-FFF2-40B4-BE49-F238E27FC236}">
                <a16:creationId xmlns:a16="http://schemas.microsoft.com/office/drawing/2014/main" id="{66D4C57C-3F3F-4D4F-2B21-718482350D53}"/>
              </a:ext>
            </a:extLst>
          </p:cNvPr>
          <p:cNvSpPr txBox="1"/>
          <p:nvPr/>
        </p:nvSpPr>
        <p:spPr>
          <a:xfrm>
            <a:off x="2866390" y="28594705"/>
            <a:ext cx="10520186" cy="1015663"/>
          </a:xfrm>
          <a:prstGeom prst="rect">
            <a:avLst/>
          </a:prstGeom>
          <a:noFill/>
        </p:spPr>
        <p:txBody>
          <a:bodyPr wrap="square" rtlCol="0">
            <a:spAutoFit/>
          </a:bodyPr>
          <a:lstStyle/>
          <a:p>
            <a:r>
              <a:rPr lang="en-US" sz="3000" dirty="0">
                <a:latin typeface="Arial" panose="020B0604020202020204" pitchFamily="34" charset="0"/>
                <a:cs typeface="Arial" panose="020B0604020202020204" pitchFamily="34" charset="0"/>
              </a:rPr>
              <a:t>The full module and analysis can be found at the SCORE Network’s preprint module repository</a:t>
            </a:r>
          </a:p>
        </p:txBody>
      </p:sp>
      <p:pic>
        <p:nvPicPr>
          <p:cNvPr id="1049" name="Picture 6">
            <a:extLst>
              <a:ext uri="{FF2B5EF4-FFF2-40B4-BE49-F238E27FC236}">
                <a16:creationId xmlns:a16="http://schemas.microsoft.com/office/drawing/2014/main" id="{FDC52257-0C6F-D371-7EC5-A4EEFC9ED9A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02062" y="2412556"/>
            <a:ext cx="6083336" cy="990127"/>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6">
            <a:extLst>
              <a:ext uri="{FF2B5EF4-FFF2-40B4-BE49-F238E27FC236}">
                <a16:creationId xmlns:a16="http://schemas.microsoft.com/office/drawing/2014/main" id="{4C47E97F-2AF0-5FA6-3777-4728B932843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157790" y="2340548"/>
            <a:ext cx="6083336" cy="99012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graph of a number of red dots&#10;&#10;Description automatically generated">
            <a:extLst>
              <a:ext uri="{FF2B5EF4-FFF2-40B4-BE49-F238E27FC236}">
                <a16:creationId xmlns:a16="http://schemas.microsoft.com/office/drawing/2014/main" id="{11135F6A-C564-620D-B65C-EFA83CEADD5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0721743" y="18780435"/>
            <a:ext cx="8872093" cy="6452431"/>
          </a:xfrm>
          <a:prstGeom prst="rect">
            <a:avLst/>
          </a:prstGeom>
        </p:spPr>
      </p:pic>
      <p:pic>
        <p:nvPicPr>
          <p:cNvPr id="6" name="Picture 5">
            <a:extLst>
              <a:ext uri="{FF2B5EF4-FFF2-40B4-BE49-F238E27FC236}">
                <a16:creationId xmlns:a16="http://schemas.microsoft.com/office/drawing/2014/main" id="{AC245A83-E288-606F-15AD-8701C3B67F77}"/>
              </a:ext>
            </a:extLst>
          </p:cNvPr>
          <p:cNvPicPr>
            <a:picLocks noChangeAspect="1"/>
          </p:cNvPicPr>
          <p:nvPr/>
        </p:nvPicPr>
        <p:blipFill>
          <a:blip r:embed="rId14"/>
          <a:stretch>
            <a:fillRect/>
          </a:stretch>
        </p:blipFill>
        <p:spPr>
          <a:xfrm>
            <a:off x="38078085" y="12993294"/>
            <a:ext cx="1663198" cy="1663198"/>
          </a:xfrm>
          <a:prstGeom prst="rect">
            <a:avLst/>
          </a:prstGeom>
        </p:spPr>
      </p:pic>
      <p:sp>
        <p:nvSpPr>
          <p:cNvPr id="8" name="Text Box 10">
            <a:extLst>
              <a:ext uri="{FF2B5EF4-FFF2-40B4-BE49-F238E27FC236}">
                <a16:creationId xmlns:a16="http://schemas.microsoft.com/office/drawing/2014/main" id="{70CBFF6A-3B66-B32E-A16C-97189E16C3AD}"/>
              </a:ext>
            </a:extLst>
          </p:cNvPr>
          <p:cNvSpPr txBox="1">
            <a:spLocks noChangeArrowheads="1"/>
          </p:cNvSpPr>
          <p:nvPr/>
        </p:nvSpPr>
        <p:spPr bwMode="auto">
          <a:xfrm>
            <a:off x="37359229" y="14517383"/>
            <a:ext cx="3100909" cy="3860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b="1" dirty="0">
                <a:latin typeface="Arial" panose="020B0604020202020204" pitchFamily="34" charset="0"/>
                <a:cs typeface="Arial" panose="020B0604020202020204" pitchFamily="34" charset="0"/>
              </a:rPr>
              <a:t>QR Code for Module</a:t>
            </a:r>
            <a:endParaRPr lang="en-CA"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2109213"/>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24643</TotalTime>
  <Words>959</Words>
  <Application>Microsoft Macintosh PowerPoint</Application>
  <PresentationFormat>Custom</PresentationFormat>
  <Paragraphs>77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Cambria Math</vt:lpstr>
      <vt:lpstr>Office Theme</vt:lpstr>
      <vt:lpstr>PowerPoint Presentation</vt:lpstr>
    </vt:vector>
  </TitlesOfParts>
  <Manager/>
  <Company>TOSHIBA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Mindy Pitre</dc:creator>
  <cp:keywords/>
  <dc:description/>
  <cp:lastModifiedBy>Keelin Joyce</cp:lastModifiedBy>
  <cp:revision>124</cp:revision>
  <cp:lastPrinted>2024-04-18T13:55:17Z</cp:lastPrinted>
  <dcterms:created xsi:type="dcterms:W3CDTF">2012-11-30T16:49:47Z</dcterms:created>
  <dcterms:modified xsi:type="dcterms:W3CDTF">2026-04-14T14:54:23Z</dcterms:modified>
  <cp:category/>
</cp:coreProperties>
</file>